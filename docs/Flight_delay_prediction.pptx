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6"/>
  </p:notesMasterIdLst>
  <p:sldIdLst>
    <p:sldId id="256" r:id="rId2"/>
    <p:sldId id="267" r:id="rId3"/>
    <p:sldId id="280" r:id="rId4"/>
    <p:sldId id="271" r:id="rId5"/>
    <p:sldId id="272" r:id="rId6"/>
    <p:sldId id="278" r:id="rId7"/>
    <p:sldId id="279" r:id="rId8"/>
    <p:sldId id="284" r:id="rId9"/>
    <p:sldId id="288" r:id="rId10"/>
    <p:sldId id="289" r:id="rId11"/>
    <p:sldId id="285" r:id="rId12"/>
    <p:sldId id="290" r:id="rId13"/>
    <p:sldId id="292" r:id="rId14"/>
    <p:sldId id="291" r:id="rId15"/>
    <p:sldId id="293" r:id="rId16"/>
    <p:sldId id="294" r:id="rId17"/>
    <p:sldId id="283" r:id="rId18"/>
    <p:sldId id="281" r:id="rId19"/>
    <p:sldId id="295" r:id="rId20"/>
    <p:sldId id="302" r:id="rId21"/>
    <p:sldId id="301" r:id="rId22"/>
    <p:sldId id="300" r:id="rId23"/>
    <p:sldId id="270" r:id="rId24"/>
    <p:sldId id="3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422"/>
  </p:normalViewPr>
  <p:slideViewPr>
    <p:cSldViewPr snapToGrid="0">
      <p:cViewPr varScale="1">
        <p:scale>
          <a:sx n="121" d="100"/>
          <a:sy n="121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BC88E-2312-3542-AE88-A679EBC6C0C2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D5D18-AB62-4F4B-B3E6-08BE56F8E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9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D5D18-AB62-4F4B-B3E6-08BE56F8EF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7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D5D18-AB62-4F4B-B3E6-08BE56F8EF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54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D5D18-AB62-4F4B-B3E6-08BE56F8EF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00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D5D18-AB62-4F4B-B3E6-08BE56F8EF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5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D5D18-AB62-4F4B-B3E6-08BE56F8EF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45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D5D18-AB62-4F4B-B3E6-08BE56F8EF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26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07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1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9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3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7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9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8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5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574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12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7/2/25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4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7/2/25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8011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0105F5E-5B61-4F51-927C-5B28DB7DD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1">
            <a:extLst>
              <a:ext uri="{FF2B5EF4-FFF2-40B4-BE49-F238E27FC236}">
                <a16:creationId xmlns:a16="http://schemas.microsoft.com/office/drawing/2014/main" id="{5882C1C4-D961-459C-91C5-334ABD6E6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16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3">
            <a:extLst>
              <a:ext uri="{FF2B5EF4-FFF2-40B4-BE49-F238E27FC236}">
                <a16:creationId xmlns:a16="http://schemas.microsoft.com/office/drawing/2014/main" id="{A7B8B125-A98E-403C-9A7F-494FF789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0" y="0"/>
            <a:ext cx="11322200" cy="6858000"/>
          </a:xfrm>
          <a:custGeom>
            <a:avLst/>
            <a:gdLst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676142 w 11593823"/>
              <a:gd name="connsiteY2" fmla="*/ 0 h 6858000"/>
              <a:gd name="connsiteX3" fmla="*/ 4806770 w 11593823"/>
              <a:gd name="connsiteY3" fmla="*/ 0 h 6858000"/>
              <a:gd name="connsiteX4" fmla="*/ 4806770 w 11593823"/>
              <a:gd name="connsiteY4" fmla="*/ 2 h 6858000"/>
              <a:gd name="connsiteX5" fmla="*/ 9092864 w 11593823"/>
              <a:gd name="connsiteY5" fmla="*/ 2 h 6858000"/>
              <a:gd name="connsiteX6" fmla="*/ 9092866 w 11593823"/>
              <a:gd name="connsiteY6" fmla="*/ 0 h 6858000"/>
              <a:gd name="connsiteX7" fmla="*/ 11322200 w 11593823"/>
              <a:gd name="connsiteY7" fmla="*/ 0 h 6858000"/>
              <a:gd name="connsiteX8" fmla="*/ 11322198 w 11593823"/>
              <a:gd name="connsiteY8" fmla="*/ 2 h 6858000"/>
              <a:gd name="connsiteX9" fmla="*/ 11593823 w 11593823"/>
              <a:gd name="connsiteY9" fmla="*/ 2 h 6858000"/>
              <a:gd name="connsiteX10" fmla="*/ 11322197 w 11593823"/>
              <a:gd name="connsiteY10" fmla="*/ 4 h 6858000"/>
              <a:gd name="connsiteX11" fmla="*/ 5311608 w 11593823"/>
              <a:gd name="connsiteY11" fmla="*/ 6858000 h 6858000"/>
              <a:gd name="connsiteX12" fmla="*/ 5288856 w 11593823"/>
              <a:gd name="connsiteY12" fmla="*/ 6858000 h 6858000"/>
              <a:gd name="connsiteX13" fmla="*/ 4806770 w 11593823"/>
              <a:gd name="connsiteY13" fmla="*/ 6858000 h 6858000"/>
              <a:gd name="connsiteX14" fmla="*/ 4676142 w 11593823"/>
              <a:gd name="connsiteY14" fmla="*/ 6858000 h 6858000"/>
              <a:gd name="connsiteX15" fmla="*/ 3082273 w 11593823"/>
              <a:gd name="connsiteY15" fmla="*/ 6858000 h 6858000"/>
              <a:gd name="connsiteX16" fmla="*/ 2625273 w 11593823"/>
              <a:gd name="connsiteY16" fmla="*/ 6858000 h 6858000"/>
              <a:gd name="connsiteX17" fmla="*/ 2155010 w 11593823"/>
              <a:gd name="connsiteY17" fmla="*/ 6858000 h 6858000"/>
              <a:gd name="connsiteX18" fmla="*/ 0 w 11593823"/>
              <a:gd name="connsiteY18" fmla="*/ 685800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676142 w 11593823"/>
              <a:gd name="connsiteY2" fmla="*/ 0 h 6858000"/>
              <a:gd name="connsiteX3" fmla="*/ 4806770 w 11593823"/>
              <a:gd name="connsiteY3" fmla="*/ 0 h 6858000"/>
              <a:gd name="connsiteX4" fmla="*/ 4806770 w 11593823"/>
              <a:gd name="connsiteY4" fmla="*/ 2 h 6858000"/>
              <a:gd name="connsiteX5" fmla="*/ 9092864 w 11593823"/>
              <a:gd name="connsiteY5" fmla="*/ 2 h 6858000"/>
              <a:gd name="connsiteX6" fmla="*/ 11322200 w 11593823"/>
              <a:gd name="connsiteY6" fmla="*/ 0 h 6858000"/>
              <a:gd name="connsiteX7" fmla="*/ 11322198 w 11593823"/>
              <a:gd name="connsiteY7" fmla="*/ 2 h 6858000"/>
              <a:gd name="connsiteX8" fmla="*/ 11593823 w 11593823"/>
              <a:gd name="connsiteY8" fmla="*/ 2 h 6858000"/>
              <a:gd name="connsiteX9" fmla="*/ 11322197 w 11593823"/>
              <a:gd name="connsiteY9" fmla="*/ 4 h 6858000"/>
              <a:gd name="connsiteX10" fmla="*/ 5311608 w 11593823"/>
              <a:gd name="connsiteY10" fmla="*/ 6858000 h 6858000"/>
              <a:gd name="connsiteX11" fmla="*/ 5288856 w 11593823"/>
              <a:gd name="connsiteY11" fmla="*/ 6858000 h 6858000"/>
              <a:gd name="connsiteX12" fmla="*/ 4806770 w 11593823"/>
              <a:gd name="connsiteY12" fmla="*/ 6858000 h 6858000"/>
              <a:gd name="connsiteX13" fmla="*/ 4676142 w 11593823"/>
              <a:gd name="connsiteY13" fmla="*/ 6858000 h 6858000"/>
              <a:gd name="connsiteX14" fmla="*/ 3082273 w 11593823"/>
              <a:gd name="connsiteY14" fmla="*/ 6858000 h 6858000"/>
              <a:gd name="connsiteX15" fmla="*/ 2625273 w 11593823"/>
              <a:gd name="connsiteY15" fmla="*/ 6858000 h 6858000"/>
              <a:gd name="connsiteX16" fmla="*/ 2155010 w 11593823"/>
              <a:gd name="connsiteY16" fmla="*/ 6858000 h 6858000"/>
              <a:gd name="connsiteX17" fmla="*/ 0 w 11593823"/>
              <a:gd name="connsiteY17" fmla="*/ 6858000 h 6858000"/>
              <a:gd name="connsiteX18" fmla="*/ 0 w 11593823"/>
              <a:gd name="connsiteY18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676142 w 11593823"/>
              <a:gd name="connsiteY2" fmla="*/ 0 h 6858000"/>
              <a:gd name="connsiteX3" fmla="*/ 4806770 w 11593823"/>
              <a:gd name="connsiteY3" fmla="*/ 0 h 6858000"/>
              <a:gd name="connsiteX4" fmla="*/ 4806770 w 11593823"/>
              <a:gd name="connsiteY4" fmla="*/ 2 h 6858000"/>
              <a:gd name="connsiteX5" fmla="*/ 11322200 w 11593823"/>
              <a:gd name="connsiteY5" fmla="*/ 0 h 6858000"/>
              <a:gd name="connsiteX6" fmla="*/ 11322198 w 11593823"/>
              <a:gd name="connsiteY6" fmla="*/ 2 h 6858000"/>
              <a:gd name="connsiteX7" fmla="*/ 11593823 w 11593823"/>
              <a:gd name="connsiteY7" fmla="*/ 2 h 6858000"/>
              <a:gd name="connsiteX8" fmla="*/ 11322197 w 11593823"/>
              <a:gd name="connsiteY8" fmla="*/ 4 h 6858000"/>
              <a:gd name="connsiteX9" fmla="*/ 5311608 w 11593823"/>
              <a:gd name="connsiteY9" fmla="*/ 6858000 h 6858000"/>
              <a:gd name="connsiteX10" fmla="*/ 5288856 w 11593823"/>
              <a:gd name="connsiteY10" fmla="*/ 6858000 h 6858000"/>
              <a:gd name="connsiteX11" fmla="*/ 4806770 w 11593823"/>
              <a:gd name="connsiteY11" fmla="*/ 6858000 h 6858000"/>
              <a:gd name="connsiteX12" fmla="*/ 4676142 w 11593823"/>
              <a:gd name="connsiteY12" fmla="*/ 6858000 h 6858000"/>
              <a:gd name="connsiteX13" fmla="*/ 3082273 w 11593823"/>
              <a:gd name="connsiteY13" fmla="*/ 6858000 h 6858000"/>
              <a:gd name="connsiteX14" fmla="*/ 2625273 w 11593823"/>
              <a:gd name="connsiteY14" fmla="*/ 6858000 h 6858000"/>
              <a:gd name="connsiteX15" fmla="*/ 2155010 w 11593823"/>
              <a:gd name="connsiteY15" fmla="*/ 6858000 h 6858000"/>
              <a:gd name="connsiteX16" fmla="*/ 0 w 11593823"/>
              <a:gd name="connsiteY16" fmla="*/ 6858000 h 6858000"/>
              <a:gd name="connsiteX17" fmla="*/ 0 w 11593823"/>
              <a:gd name="connsiteY17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806770 w 11593823"/>
              <a:gd name="connsiteY2" fmla="*/ 0 h 6858000"/>
              <a:gd name="connsiteX3" fmla="*/ 4806770 w 11593823"/>
              <a:gd name="connsiteY3" fmla="*/ 2 h 6858000"/>
              <a:gd name="connsiteX4" fmla="*/ 11322200 w 11593823"/>
              <a:gd name="connsiteY4" fmla="*/ 0 h 6858000"/>
              <a:gd name="connsiteX5" fmla="*/ 11322198 w 11593823"/>
              <a:gd name="connsiteY5" fmla="*/ 2 h 6858000"/>
              <a:gd name="connsiteX6" fmla="*/ 11593823 w 11593823"/>
              <a:gd name="connsiteY6" fmla="*/ 2 h 6858000"/>
              <a:gd name="connsiteX7" fmla="*/ 11322197 w 11593823"/>
              <a:gd name="connsiteY7" fmla="*/ 4 h 6858000"/>
              <a:gd name="connsiteX8" fmla="*/ 5311608 w 11593823"/>
              <a:gd name="connsiteY8" fmla="*/ 6858000 h 6858000"/>
              <a:gd name="connsiteX9" fmla="*/ 5288856 w 11593823"/>
              <a:gd name="connsiteY9" fmla="*/ 6858000 h 6858000"/>
              <a:gd name="connsiteX10" fmla="*/ 4806770 w 11593823"/>
              <a:gd name="connsiteY10" fmla="*/ 6858000 h 6858000"/>
              <a:gd name="connsiteX11" fmla="*/ 4676142 w 11593823"/>
              <a:gd name="connsiteY11" fmla="*/ 6858000 h 6858000"/>
              <a:gd name="connsiteX12" fmla="*/ 3082273 w 11593823"/>
              <a:gd name="connsiteY12" fmla="*/ 6858000 h 6858000"/>
              <a:gd name="connsiteX13" fmla="*/ 2625273 w 11593823"/>
              <a:gd name="connsiteY13" fmla="*/ 6858000 h 6858000"/>
              <a:gd name="connsiteX14" fmla="*/ 2155010 w 11593823"/>
              <a:gd name="connsiteY14" fmla="*/ 6858000 h 6858000"/>
              <a:gd name="connsiteX15" fmla="*/ 0 w 11593823"/>
              <a:gd name="connsiteY15" fmla="*/ 6858000 h 6858000"/>
              <a:gd name="connsiteX16" fmla="*/ 0 w 11593823"/>
              <a:gd name="connsiteY16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806770 w 11593823"/>
              <a:gd name="connsiteY2" fmla="*/ 0 h 6858000"/>
              <a:gd name="connsiteX3" fmla="*/ 11322200 w 11593823"/>
              <a:gd name="connsiteY3" fmla="*/ 0 h 6858000"/>
              <a:gd name="connsiteX4" fmla="*/ 11322198 w 11593823"/>
              <a:gd name="connsiteY4" fmla="*/ 2 h 6858000"/>
              <a:gd name="connsiteX5" fmla="*/ 11593823 w 11593823"/>
              <a:gd name="connsiteY5" fmla="*/ 2 h 6858000"/>
              <a:gd name="connsiteX6" fmla="*/ 11322197 w 11593823"/>
              <a:gd name="connsiteY6" fmla="*/ 4 h 6858000"/>
              <a:gd name="connsiteX7" fmla="*/ 5311608 w 11593823"/>
              <a:gd name="connsiteY7" fmla="*/ 6858000 h 6858000"/>
              <a:gd name="connsiteX8" fmla="*/ 5288856 w 11593823"/>
              <a:gd name="connsiteY8" fmla="*/ 6858000 h 6858000"/>
              <a:gd name="connsiteX9" fmla="*/ 4806770 w 11593823"/>
              <a:gd name="connsiteY9" fmla="*/ 6858000 h 6858000"/>
              <a:gd name="connsiteX10" fmla="*/ 4676142 w 11593823"/>
              <a:gd name="connsiteY10" fmla="*/ 6858000 h 6858000"/>
              <a:gd name="connsiteX11" fmla="*/ 3082273 w 11593823"/>
              <a:gd name="connsiteY11" fmla="*/ 6858000 h 6858000"/>
              <a:gd name="connsiteX12" fmla="*/ 2625273 w 11593823"/>
              <a:gd name="connsiteY12" fmla="*/ 6858000 h 6858000"/>
              <a:gd name="connsiteX13" fmla="*/ 2155010 w 11593823"/>
              <a:gd name="connsiteY13" fmla="*/ 6858000 h 6858000"/>
              <a:gd name="connsiteX14" fmla="*/ 0 w 11593823"/>
              <a:gd name="connsiteY14" fmla="*/ 6858000 h 6858000"/>
              <a:gd name="connsiteX15" fmla="*/ 0 w 11593823"/>
              <a:gd name="connsiteY15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11322200 w 11593823"/>
              <a:gd name="connsiteY2" fmla="*/ 0 h 6858000"/>
              <a:gd name="connsiteX3" fmla="*/ 11322198 w 11593823"/>
              <a:gd name="connsiteY3" fmla="*/ 2 h 6858000"/>
              <a:gd name="connsiteX4" fmla="*/ 11593823 w 11593823"/>
              <a:gd name="connsiteY4" fmla="*/ 2 h 6858000"/>
              <a:gd name="connsiteX5" fmla="*/ 11322197 w 11593823"/>
              <a:gd name="connsiteY5" fmla="*/ 4 h 6858000"/>
              <a:gd name="connsiteX6" fmla="*/ 5311608 w 11593823"/>
              <a:gd name="connsiteY6" fmla="*/ 6858000 h 6858000"/>
              <a:gd name="connsiteX7" fmla="*/ 5288856 w 11593823"/>
              <a:gd name="connsiteY7" fmla="*/ 6858000 h 6858000"/>
              <a:gd name="connsiteX8" fmla="*/ 4806770 w 11593823"/>
              <a:gd name="connsiteY8" fmla="*/ 6858000 h 6858000"/>
              <a:gd name="connsiteX9" fmla="*/ 4676142 w 11593823"/>
              <a:gd name="connsiteY9" fmla="*/ 6858000 h 6858000"/>
              <a:gd name="connsiteX10" fmla="*/ 3082273 w 11593823"/>
              <a:gd name="connsiteY10" fmla="*/ 6858000 h 6858000"/>
              <a:gd name="connsiteX11" fmla="*/ 2625273 w 11593823"/>
              <a:gd name="connsiteY11" fmla="*/ 6858000 h 6858000"/>
              <a:gd name="connsiteX12" fmla="*/ 2155010 w 11593823"/>
              <a:gd name="connsiteY12" fmla="*/ 6858000 h 6858000"/>
              <a:gd name="connsiteX13" fmla="*/ 0 w 11593823"/>
              <a:gd name="connsiteY13" fmla="*/ 6858000 h 6858000"/>
              <a:gd name="connsiteX14" fmla="*/ 0 w 11593823"/>
              <a:gd name="connsiteY14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3082273 w 11593823"/>
              <a:gd name="connsiteY9" fmla="*/ 6858000 h 6858000"/>
              <a:gd name="connsiteX10" fmla="*/ 2625273 w 11593823"/>
              <a:gd name="connsiteY10" fmla="*/ 6858000 h 6858000"/>
              <a:gd name="connsiteX11" fmla="*/ 2155010 w 11593823"/>
              <a:gd name="connsiteY11" fmla="*/ 6858000 h 6858000"/>
              <a:gd name="connsiteX12" fmla="*/ 0 w 11593823"/>
              <a:gd name="connsiteY12" fmla="*/ 6858000 h 6858000"/>
              <a:gd name="connsiteX13" fmla="*/ 0 w 11593823"/>
              <a:gd name="connsiteY13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2625273 w 11593823"/>
              <a:gd name="connsiteY9" fmla="*/ 6858000 h 6858000"/>
              <a:gd name="connsiteX10" fmla="*/ 2155010 w 11593823"/>
              <a:gd name="connsiteY10" fmla="*/ 6858000 h 6858000"/>
              <a:gd name="connsiteX11" fmla="*/ 0 w 11593823"/>
              <a:gd name="connsiteY11" fmla="*/ 6858000 h 6858000"/>
              <a:gd name="connsiteX12" fmla="*/ 0 w 11593823"/>
              <a:gd name="connsiteY12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2155010 w 11593823"/>
              <a:gd name="connsiteY9" fmla="*/ 6858000 h 6858000"/>
              <a:gd name="connsiteX10" fmla="*/ 0 w 11593823"/>
              <a:gd name="connsiteY10" fmla="*/ 6858000 h 6858000"/>
              <a:gd name="connsiteX11" fmla="*/ 0 w 11593823"/>
              <a:gd name="connsiteY11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2155010 w 11593823"/>
              <a:gd name="connsiteY9" fmla="*/ 6858000 h 6858000"/>
              <a:gd name="connsiteX10" fmla="*/ 0 w 11593823"/>
              <a:gd name="connsiteY10" fmla="*/ 6858000 h 6858000"/>
              <a:gd name="connsiteX11" fmla="*/ 0 w 11593823"/>
              <a:gd name="connsiteY11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0 w 11593823"/>
              <a:gd name="connsiteY9" fmla="*/ 6858000 h 6858000"/>
              <a:gd name="connsiteX10" fmla="*/ 0 w 11593823"/>
              <a:gd name="connsiteY10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676142 w 11593823"/>
              <a:gd name="connsiteY7" fmla="*/ 6858000 h 6858000"/>
              <a:gd name="connsiteX8" fmla="*/ 0 w 11593823"/>
              <a:gd name="connsiteY8" fmla="*/ 6858000 h 6858000"/>
              <a:gd name="connsiteX9" fmla="*/ 0 w 11593823"/>
              <a:gd name="connsiteY9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0 w 11593823"/>
              <a:gd name="connsiteY7" fmla="*/ 6858000 h 6858000"/>
              <a:gd name="connsiteX8" fmla="*/ 0 w 11593823"/>
              <a:gd name="connsiteY8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0 w 11593823"/>
              <a:gd name="connsiteY6" fmla="*/ 6858000 h 6858000"/>
              <a:gd name="connsiteX7" fmla="*/ 0 w 11593823"/>
              <a:gd name="connsiteY7" fmla="*/ 0 h 6858000"/>
              <a:gd name="connsiteX0" fmla="*/ 0 w 11322200"/>
              <a:gd name="connsiteY0" fmla="*/ 0 h 6858000"/>
              <a:gd name="connsiteX1" fmla="*/ 11322200 w 11322200"/>
              <a:gd name="connsiteY1" fmla="*/ 0 h 6858000"/>
              <a:gd name="connsiteX2" fmla="*/ 11322198 w 11322200"/>
              <a:gd name="connsiteY2" fmla="*/ 2 h 6858000"/>
              <a:gd name="connsiteX3" fmla="*/ 11322197 w 11322200"/>
              <a:gd name="connsiteY3" fmla="*/ 4 h 6858000"/>
              <a:gd name="connsiteX4" fmla="*/ 5311608 w 11322200"/>
              <a:gd name="connsiteY4" fmla="*/ 6858000 h 6858000"/>
              <a:gd name="connsiteX5" fmla="*/ 0 w 11322200"/>
              <a:gd name="connsiteY5" fmla="*/ 6858000 h 6858000"/>
              <a:gd name="connsiteX6" fmla="*/ 0 w 113222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22200" h="6858000">
                <a:moveTo>
                  <a:pt x="0" y="0"/>
                </a:moveTo>
                <a:lnTo>
                  <a:pt x="11322200" y="0"/>
                </a:lnTo>
                <a:lnTo>
                  <a:pt x="11322198" y="2"/>
                </a:lnTo>
                <a:cubicBezTo>
                  <a:pt x="11322198" y="3"/>
                  <a:pt x="11322197" y="3"/>
                  <a:pt x="11322197" y="4"/>
                </a:cubicBezTo>
                <a:lnTo>
                  <a:pt x="531160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5831" r="17265" b="-1"/>
          <a:stretch/>
        </p:blipFill>
        <p:spPr>
          <a:xfrm>
            <a:off x="5318308" y="10"/>
            <a:ext cx="6873692" cy="685799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891" y="1061687"/>
            <a:ext cx="7323046" cy="2075214"/>
          </a:xfrm>
        </p:spPr>
        <p:txBody>
          <a:bodyPr anchor="t">
            <a:normAutofit fontScale="90000"/>
          </a:bodyPr>
          <a:lstStyle/>
          <a:p>
            <a:r>
              <a:rPr lang="en-US" sz="6600" dirty="0"/>
              <a:t>Flight Status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8357" y="3257070"/>
            <a:ext cx="5783943" cy="1124429"/>
          </a:xfrm>
        </p:spPr>
        <p:txBody>
          <a:bodyPr anchor="t">
            <a:normAutofit/>
          </a:bodyPr>
          <a:lstStyle/>
          <a:p>
            <a:r>
              <a:rPr lang="en-US" dirty="0"/>
              <a:t>Predicting if a flight will arrive at least 15 minutes later than scheduled.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B1C5DD-CB08-4407-9D12-CC2C42B04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606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20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20" y="287076"/>
            <a:ext cx="12191980" cy="6858001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977" y="355761"/>
            <a:ext cx="7271950" cy="90150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188" y="968938"/>
            <a:ext cx="5289697" cy="3795823"/>
          </a:xfrm>
        </p:spPr>
        <p:txBody>
          <a:bodyPr anchor="b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Overview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3728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E524F2-C7AF-4466-BA99-09C19DE0D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20" y="-3"/>
            <a:ext cx="12191979" cy="685800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04E317E-14BB-4200-84F3-2064B4C97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DF94A24-8152-43C5-86F3-5CC95D80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254001"/>
            <a:ext cx="4953000" cy="22478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736600"/>
            <a:ext cx="6172199" cy="50853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Goal: Predicting flight delay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Solution: 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Use ML classification methods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Independent variables –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Response variable: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 err="1">
                <a:solidFill>
                  <a:srgbClr val="FFFFFF"/>
                </a:solidFill>
              </a:rPr>
              <a:t>Arr_Delay_Minutes</a:t>
            </a:r>
            <a:r>
              <a:rPr lang="en-US" sz="2400" i="0" dirty="0">
                <a:solidFill>
                  <a:srgbClr val="FFFFFF"/>
                </a:solidFill>
              </a:rPr>
              <a:t>– regression problem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b="0" i="0" u="none" strike="noStrike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 marL="1257300" lvl="2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rgbClr val="FFFFFF"/>
                </a:solidFill>
              </a:rPr>
              <a:t>Arrival_Delay_At_least_15_Minutes – classification problem</a:t>
            </a:r>
          </a:p>
        </p:txBody>
      </p:sp>
    </p:spTree>
    <p:extLst>
      <p:ext uri="{BB962C8B-B14F-4D97-AF65-F5344CB8AC3E}">
        <p14:creationId xmlns:p14="http://schemas.microsoft.com/office/powerpoint/2010/main" val="41421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20" y="289995"/>
            <a:ext cx="12191980" cy="685800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12" y="194302"/>
            <a:ext cx="8804188" cy="13823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95" y="1285103"/>
            <a:ext cx="8077870" cy="4540164"/>
          </a:xfrm>
        </p:spPr>
        <p:txBody>
          <a:bodyPr anchor="b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Dataset acquisition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Delay problem – predicting if a plane will land with at least 15 minutes of delay.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Feature engineering – choosing the best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Choosing machine learning methods to be implemented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Choosing the best models</a:t>
            </a:r>
          </a:p>
          <a:p>
            <a:pPr>
              <a:lnSpc>
                <a:spcPct val="90000"/>
              </a:lnSpc>
            </a:pPr>
            <a:endParaRPr lang="en-US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3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-8293" y="0"/>
            <a:ext cx="12191980" cy="6858001"/>
          </a:xfrm>
          <a:prstGeom prst="rect">
            <a:avLst/>
          </a:prstGeom>
        </p:spPr>
      </p:pic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933" y="401345"/>
            <a:ext cx="6657108" cy="28324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Process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ABEED1-1AF1-97B3-0628-EA1E0FF50D36}"/>
              </a:ext>
            </a:extLst>
          </p:cNvPr>
          <p:cNvGrpSpPr/>
          <p:nvPr/>
        </p:nvGrpSpPr>
        <p:grpSpPr>
          <a:xfrm>
            <a:off x="394334" y="3004773"/>
            <a:ext cx="997370" cy="912847"/>
            <a:chOff x="0" y="1692038"/>
            <a:chExt cx="997370" cy="912847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A79612AB-F00E-94FD-D073-729A0D24ADDA}"/>
                </a:ext>
              </a:extLst>
            </p:cNvPr>
            <p:cNvSpPr/>
            <p:nvPr/>
          </p:nvSpPr>
          <p:spPr>
            <a:xfrm>
              <a:off x="0" y="1692038"/>
              <a:ext cx="997370" cy="912847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ounded Rectangle 4">
              <a:extLst>
                <a:ext uri="{FF2B5EF4-FFF2-40B4-BE49-F238E27FC236}">
                  <a16:creationId xmlns:a16="http://schemas.microsoft.com/office/drawing/2014/main" id="{059632F7-7B54-1F6D-E528-9F4958135E28}"/>
                </a:ext>
              </a:extLst>
            </p:cNvPr>
            <p:cNvSpPr txBox="1"/>
            <p:nvPr/>
          </p:nvSpPr>
          <p:spPr>
            <a:xfrm>
              <a:off x="21007" y="1713045"/>
              <a:ext cx="955356" cy="675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Getting the right dataset</a:t>
              </a:r>
            </a:p>
          </p:txBody>
        </p:sp>
      </p:grpSp>
      <p:sp>
        <p:nvSpPr>
          <p:cNvPr id="6" name="Shape 5">
            <a:extLst>
              <a:ext uri="{FF2B5EF4-FFF2-40B4-BE49-F238E27FC236}">
                <a16:creationId xmlns:a16="http://schemas.microsoft.com/office/drawing/2014/main" id="{C8EF5C72-098B-1926-4502-AA8497EBDD4A}"/>
              </a:ext>
            </a:extLst>
          </p:cNvPr>
          <p:cNvSpPr/>
          <p:nvPr/>
        </p:nvSpPr>
        <p:spPr>
          <a:xfrm rot="615314">
            <a:off x="1325473" y="2770140"/>
            <a:ext cx="1457401" cy="1457401"/>
          </a:xfrm>
          <a:prstGeom prst="leftCircularArrow">
            <a:avLst>
              <a:gd name="adj1" fmla="val 1575"/>
              <a:gd name="adj2" fmla="val 186914"/>
              <a:gd name="adj3" fmla="val 21480999"/>
              <a:gd name="adj4" fmla="val 6943064"/>
              <a:gd name="adj5" fmla="val 1838"/>
            </a:avLst>
          </a:prstGeom>
          <a:solidFill>
            <a:schemeClr val="bg2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2840EA-4704-EAFF-D6AF-222827CA245E}"/>
              </a:ext>
            </a:extLst>
          </p:cNvPr>
          <p:cNvGrpSpPr/>
          <p:nvPr/>
        </p:nvGrpSpPr>
        <p:grpSpPr>
          <a:xfrm>
            <a:off x="819032" y="3646968"/>
            <a:ext cx="1134225" cy="428953"/>
            <a:chOff x="134938" y="2542846"/>
            <a:chExt cx="1134225" cy="428953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9AF16808-0300-40BF-34B2-88F1B0A19B77}"/>
                </a:ext>
              </a:extLst>
            </p:cNvPr>
            <p:cNvSpPr/>
            <p:nvPr/>
          </p:nvSpPr>
          <p:spPr>
            <a:xfrm>
              <a:off x="134938" y="2542846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ounded Rectangle 7">
              <a:extLst>
                <a:ext uri="{FF2B5EF4-FFF2-40B4-BE49-F238E27FC236}">
                  <a16:creationId xmlns:a16="http://schemas.microsoft.com/office/drawing/2014/main" id="{C957631E-7B03-8B4D-62CD-B8D66425E6A2}"/>
                </a:ext>
              </a:extLst>
            </p:cNvPr>
            <p:cNvSpPr txBox="1"/>
            <p:nvPr/>
          </p:nvSpPr>
          <p:spPr>
            <a:xfrm>
              <a:off x="147502" y="2555410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Data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72D8856-E2D1-0DFE-1FE1-58AEDE58A6A8}"/>
              </a:ext>
            </a:extLst>
          </p:cNvPr>
          <p:cNvGrpSpPr/>
          <p:nvPr/>
        </p:nvGrpSpPr>
        <p:grpSpPr>
          <a:xfrm>
            <a:off x="2237525" y="3170384"/>
            <a:ext cx="900504" cy="1319029"/>
            <a:chOff x="1430336" y="1142998"/>
            <a:chExt cx="900504" cy="1319029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F8F881F5-66D7-5103-7B7B-6813B6529F3F}"/>
                </a:ext>
              </a:extLst>
            </p:cNvPr>
            <p:cNvSpPr/>
            <p:nvPr/>
          </p:nvSpPr>
          <p:spPr>
            <a:xfrm>
              <a:off x="1430336" y="1142998"/>
              <a:ext cx="900504" cy="1319029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ounded Rectangle 9">
              <a:extLst>
                <a:ext uri="{FF2B5EF4-FFF2-40B4-BE49-F238E27FC236}">
                  <a16:creationId xmlns:a16="http://schemas.microsoft.com/office/drawing/2014/main" id="{B1DCBA89-E571-5705-188B-2462500EB9E6}"/>
                </a:ext>
              </a:extLst>
            </p:cNvPr>
            <p:cNvSpPr txBox="1"/>
            <p:nvPr/>
          </p:nvSpPr>
          <p:spPr>
            <a:xfrm>
              <a:off x="1456711" y="1452022"/>
              <a:ext cx="847754" cy="9836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Removing irrelevant fields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Removing NULL values</a:t>
              </a:r>
            </a:p>
          </p:txBody>
        </p:sp>
      </p:grpSp>
      <p:sp>
        <p:nvSpPr>
          <p:cNvPr id="10" name="Circular Arrow 9">
            <a:extLst>
              <a:ext uri="{FF2B5EF4-FFF2-40B4-BE49-F238E27FC236}">
                <a16:creationId xmlns:a16="http://schemas.microsoft.com/office/drawing/2014/main" id="{2AC940E6-F547-1800-7022-D8D949570D51}"/>
              </a:ext>
            </a:extLst>
          </p:cNvPr>
          <p:cNvSpPr/>
          <p:nvPr/>
        </p:nvSpPr>
        <p:spPr>
          <a:xfrm>
            <a:off x="2294308" y="2863082"/>
            <a:ext cx="2053762" cy="2053762"/>
          </a:xfrm>
          <a:prstGeom prst="circularArrow">
            <a:avLst>
              <a:gd name="adj1" fmla="val 1118"/>
              <a:gd name="adj2" fmla="val 131283"/>
              <a:gd name="adj3" fmla="val 905400"/>
              <a:gd name="adj4" fmla="val 15387705"/>
              <a:gd name="adj5" fmla="val 1304"/>
            </a:avLst>
          </a:prstGeom>
          <a:solidFill>
            <a:schemeClr val="bg2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F7396C-8244-8FDA-8FE0-3F667D962390}"/>
              </a:ext>
            </a:extLst>
          </p:cNvPr>
          <p:cNvGrpSpPr/>
          <p:nvPr/>
        </p:nvGrpSpPr>
        <p:grpSpPr>
          <a:xfrm>
            <a:off x="1981025" y="2899310"/>
            <a:ext cx="1145548" cy="489294"/>
            <a:chOff x="1131881" y="1068931"/>
            <a:chExt cx="1145548" cy="489294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FD0506A7-37A4-0E5B-010B-A9523DDD25F9}"/>
                </a:ext>
              </a:extLst>
            </p:cNvPr>
            <p:cNvSpPr/>
            <p:nvPr/>
          </p:nvSpPr>
          <p:spPr>
            <a:xfrm>
              <a:off x="1131881" y="1068931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ounded Rectangle 12">
              <a:extLst>
                <a:ext uri="{FF2B5EF4-FFF2-40B4-BE49-F238E27FC236}">
                  <a16:creationId xmlns:a16="http://schemas.microsoft.com/office/drawing/2014/main" id="{93414E9B-0392-72C9-FC92-080183E31321}"/>
                </a:ext>
              </a:extLst>
            </p:cNvPr>
            <p:cNvSpPr txBox="1"/>
            <p:nvPr/>
          </p:nvSpPr>
          <p:spPr>
            <a:xfrm>
              <a:off x="1168332" y="1154400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Data Cleaning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B367DA-16F6-BC7C-9C0A-B798CE857905}"/>
              </a:ext>
            </a:extLst>
          </p:cNvPr>
          <p:cNvGrpSpPr/>
          <p:nvPr/>
        </p:nvGrpSpPr>
        <p:grpSpPr>
          <a:xfrm>
            <a:off x="3707401" y="3334590"/>
            <a:ext cx="884532" cy="897637"/>
            <a:chOff x="2531917" y="2361504"/>
            <a:chExt cx="884532" cy="897637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9C6F5226-A267-42DF-DC04-C647321169A2}"/>
                </a:ext>
              </a:extLst>
            </p:cNvPr>
            <p:cNvSpPr/>
            <p:nvPr/>
          </p:nvSpPr>
          <p:spPr>
            <a:xfrm>
              <a:off x="2531917" y="2361504"/>
              <a:ext cx="884532" cy="897637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ounded Rectangle 14">
              <a:extLst>
                <a:ext uri="{FF2B5EF4-FFF2-40B4-BE49-F238E27FC236}">
                  <a16:creationId xmlns:a16="http://schemas.microsoft.com/office/drawing/2014/main" id="{D6F64826-E444-2F24-9A3F-D7777B7F0782}"/>
                </a:ext>
              </a:extLst>
            </p:cNvPr>
            <p:cNvSpPr txBox="1"/>
            <p:nvPr/>
          </p:nvSpPr>
          <p:spPr>
            <a:xfrm>
              <a:off x="2552574" y="2382161"/>
              <a:ext cx="843218" cy="663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Choosing best features for the model</a:t>
              </a:r>
            </a:p>
          </p:txBody>
        </p:sp>
      </p:grpSp>
      <p:sp>
        <p:nvSpPr>
          <p:cNvPr id="16" name="Shape 15">
            <a:extLst>
              <a:ext uri="{FF2B5EF4-FFF2-40B4-BE49-F238E27FC236}">
                <a16:creationId xmlns:a16="http://schemas.microsoft.com/office/drawing/2014/main" id="{3754A18A-F009-F600-D726-994F26F337CA}"/>
              </a:ext>
            </a:extLst>
          </p:cNvPr>
          <p:cNvSpPr/>
          <p:nvPr/>
        </p:nvSpPr>
        <p:spPr>
          <a:xfrm>
            <a:off x="4340866" y="2910157"/>
            <a:ext cx="1779303" cy="1778774"/>
          </a:xfrm>
          <a:prstGeom prst="leftCircularArrow">
            <a:avLst>
              <a:gd name="adj1" fmla="val 1291"/>
              <a:gd name="adj2" fmla="val 152166"/>
              <a:gd name="adj3" fmla="val 20686319"/>
              <a:gd name="adj4" fmla="val 6183132"/>
              <a:gd name="adj5" fmla="val 1506"/>
            </a:avLst>
          </a:prstGeom>
          <a:solidFill>
            <a:schemeClr val="bg2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9F7101-C220-C501-D179-EEDEB35BDDD2}"/>
              </a:ext>
            </a:extLst>
          </p:cNvPr>
          <p:cNvGrpSpPr/>
          <p:nvPr/>
        </p:nvGrpSpPr>
        <p:grpSpPr>
          <a:xfrm>
            <a:off x="3898927" y="4198622"/>
            <a:ext cx="1134225" cy="428953"/>
            <a:chOff x="2718461" y="3215219"/>
            <a:chExt cx="1134225" cy="428953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D55BAF26-F6FD-CF88-853F-D957D2A8C734}"/>
                </a:ext>
              </a:extLst>
            </p:cNvPr>
            <p:cNvSpPr/>
            <p:nvPr/>
          </p:nvSpPr>
          <p:spPr>
            <a:xfrm>
              <a:off x="2718461" y="3215219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ounded Rectangle 17">
              <a:extLst>
                <a:ext uri="{FF2B5EF4-FFF2-40B4-BE49-F238E27FC236}">
                  <a16:creationId xmlns:a16="http://schemas.microsoft.com/office/drawing/2014/main" id="{15EBE412-2B15-BA36-2C7A-8C5CA6516335}"/>
                </a:ext>
              </a:extLst>
            </p:cNvPr>
            <p:cNvSpPr txBox="1"/>
            <p:nvPr/>
          </p:nvSpPr>
          <p:spPr>
            <a:xfrm>
              <a:off x="2731025" y="3227783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Feature Selection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1D5C7B-6C74-23AC-7F97-E419897689B9}"/>
              </a:ext>
            </a:extLst>
          </p:cNvPr>
          <p:cNvGrpSpPr/>
          <p:nvPr/>
        </p:nvGrpSpPr>
        <p:grpSpPr>
          <a:xfrm>
            <a:off x="8859822" y="3328263"/>
            <a:ext cx="1062486" cy="635759"/>
            <a:chOff x="3944942" y="1752602"/>
            <a:chExt cx="1062486" cy="635759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5B394283-FE94-80FF-8DDD-297B9806337B}"/>
                </a:ext>
              </a:extLst>
            </p:cNvPr>
            <p:cNvSpPr/>
            <p:nvPr/>
          </p:nvSpPr>
          <p:spPr>
            <a:xfrm>
              <a:off x="3944942" y="1752602"/>
              <a:ext cx="1062486" cy="635759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ounded Rectangle 19">
              <a:extLst>
                <a:ext uri="{FF2B5EF4-FFF2-40B4-BE49-F238E27FC236}">
                  <a16:creationId xmlns:a16="http://schemas.microsoft.com/office/drawing/2014/main" id="{044E4FB2-B406-1AE5-F617-693CDB321B09}"/>
                </a:ext>
              </a:extLst>
            </p:cNvPr>
            <p:cNvSpPr txBox="1"/>
            <p:nvPr/>
          </p:nvSpPr>
          <p:spPr>
            <a:xfrm>
              <a:off x="3959573" y="1903468"/>
              <a:ext cx="1033224" cy="4702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Depending on the model</a:t>
              </a:r>
            </a:p>
          </p:txBody>
        </p:sp>
      </p:grpSp>
      <p:sp>
        <p:nvSpPr>
          <p:cNvPr id="23" name="Circular Arrow 22">
            <a:extLst>
              <a:ext uri="{FF2B5EF4-FFF2-40B4-BE49-F238E27FC236}">
                <a16:creationId xmlns:a16="http://schemas.microsoft.com/office/drawing/2014/main" id="{857869B2-9EAE-33F9-FE93-D8D0F398628F}"/>
              </a:ext>
            </a:extLst>
          </p:cNvPr>
          <p:cNvSpPr/>
          <p:nvPr/>
        </p:nvSpPr>
        <p:spPr>
          <a:xfrm rot="20941794">
            <a:off x="6232995" y="2778236"/>
            <a:ext cx="1468097" cy="1468097"/>
          </a:xfrm>
          <a:prstGeom prst="circularArrow">
            <a:avLst>
              <a:gd name="adj1" fmla="val 1564"/>
              <a:gd name="adj2" fmla="val 185504"/>
              <a:gd name="adj3" fmla="val 20215124"/>
              <a:gd name="adj4" fmla="val 13151649"/>
              <a:gd name="adj5" fmla="val 1824"/>
            </a:avLst>
          </a:prstGeom>
          <a:solidFill>
            <a:schemeClr val="bg2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CF57505-8248-BB1C-A78A-BAFB2941D97E}"/>
              </a:ext>
            </a:extLst>
          </p:cNvPr>
          <p:cNvGrpSpPr/>
          <p:nvPr/>
        </p:nvGrpSpPr>
        <p:grpSpPr>
          <a:xfrm>
            <a:off x="8662161" y="3032243"/>
            <a:ext cx="1134225" cy="428953"/>
            <a:chOff x="3761317" y="1516572"/>
            <a:chExt cx="1134225" cy="428953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46718A4-BAE1-A023-0B4C-AEE042AD9843}"/>
                </a:ext>
              </a:extLst>
            </p:cNvPr>
            <p:cNvSpPr/>
            <p:nvPr/>
          </p:nvSpPr>
          <p:spPr>
            <a:xfrm>
              <a:off x="3761317" y="1516572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  <a:alpha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ounded Rectangle 22">
              <a:extLst>
                <a:ext uri="{FF2B5EF4-FFF2-40B4-BE49-F238E27FC236}">
                  <a16:creationId xmlns:a16="http://schemas.microsoft.com/office/drawing/2014/main" id="{12FFBFD8-0076-D5A4-A593-50186B968E87}"/>
                </a:ext>
              </a:extLst>
            </p:cNvPr>
            <p:cNvSpPr txBox="1"/>
            <p:nvPr/>
          </p:nvSpPr>
          <p:spPr>
            <a:xfrm>
              <a:off x="3773881" y="1529136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Hyperparameter Tuning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943F28-7009-4E82-EDC9-AE9B85EB1C7E}"/>
              </a:ext>
            </a:extLst>
          </p:cNvPr>
          <p:cNvGrpSpPr/>
          <p:nvPr/>
        </p:nvGrpSpPr>
        <p:grpSpPr>
          <a:xfrm>
            <a:off x="7228951" y="3028867"/>
            <a:ext cx="929396" cy="1354866"/>
            <a:chOff x="5163634" y="1517755"/>
            <a:chExt cx="929396" cy="1354866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F411B42-C08A-88F3-18AE-E5DBB54E2164}"/>
                </a:ext>
              </a:extLst>
            </p:cNvPr>
            <p:cNvSpPr/>
            <p:nvPr/>
          </p:nvSpPr>
          <p:spPr>
            <a:xfrm>
              <a:off x="5163634" y="1517755"/>
              <a:ext cx="929396" cy="1354866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ounded Rectangle 24">
              <a:extLst>
                <a:ext uri="{FF2B5EF4-FFF2-40B4-BE49-F238E27FC236}">
                  <a16:creationId xmlns:a16="http://schemas.microsoft.com/office/drawing/2014/main" id="{B314C416-F0EC-2008-A3C7-0EE56587B587}"/>
                </a:ext>
              </a:extLst>
            </p:cNvPr>
            <p:cNvSpPr txBox="1"/>
            <p:nvPr/>
          </p:nvSpPr>
          <p:spPr>
            <a:xfrm>
              <a:off x="5190855" y="1544976"/>
              <a:ext cx="874954" cy="10100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Confusion matrix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Accuracy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Precision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Recall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F1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dirty="0">
                  <a:latin typeface="Calibri" panose="020F0502020204030204" pitchFamily="34" charset="0"/>
                </a:rPr>
                <a:t>ROC/AUC</a:t>
              </a:r>
              <a:endParaRPr lang="en-US" sz="1000" kern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26" name="Shape 25">
            <a:extLst>
              <a:ext uri="{FF2B5EF4-FFF2-40B4-BE49-F238E27FC236}">
                <a16:creationId xmlns:a16="http://schemas.microsoft.com/office/drawing/2014/main" id="{AC1643BF-141A-8E5E-12FC-881DE97A7596}"/>
              </a:ext>
            </a:extLst>
          </p:cNvPr>
          <p:cNvSpPr/>
          <p:nvPr/>
        </p:nvSpPr>
        <p:spPr>
          <a:xfrm>
            <a:off x="8013522" y="3161095"/>
            <a:ext cx="1506824" cy="1354866"/>
          </a:xfrm>
          <a:prstGeom prst="leftCircularArrow">
            <a:avLst>
              <a:gd name="adj1" fmla="val 1524"/>
              <a:gd name="adj2" fmla="val 180572"/>
              <a:gd name="adj3" fmla="val 775522"/>
              <a:gd name="adj4" fmla="val 7843928"/>
              <a:gd name="adj5" fmla="val 1778"/>
            </a:avLst>
          </a:prstGeom>
          <a:solidFill>
            <a:schemeClr val="bg2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13F943-19EB-27A5-3AA0-83CA0692ED7A}"/>
              </a:ext>
            </a:extLst>
          </p:cNvPr>
          <p:cNvGrpSpPr/>
          <p:nvPr/>
        </p:nvGrpSpPr>
        <p:grpSpPr>
          <a:xfrm>
            <a:off x="7465752" y="4294132"/>
            <a:ext cx="1134225" cy="428953"/>
            <a:chOff x="4841613" y="2692794"/>
            <a:chExt cx="1134225" cy="428953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C0317065-EB08-6012-5D78-C9D9649D4114}"/>
                </a:ext>
              </a:extLst>
            </p:cNvPr>
            <p:cNvSpPr/>
            <p:nvPr/>
          </p:nvSpPr>
          <p:spPr>
            <a:xfrm>
              <a:off x="4841613" y="2692794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  <a:alpha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74AEBFEE-7622-C122-F4B9-9A0A35E8E558}"/>
                </a:ext>
              </a:extLst>
            </p:cNvPr>
            <p:cNvSpPr txBox="1"/>
            <p:nvPr/>
          </p:nvSpPr>
          <p:spPr>
            <a:xfrm>
              <a:off x="4854177" y="2705358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Testing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C405F4-09CD-B4AC-7B07-99E130535208}"/>
              </a:ext>
            </a:extLst>
          </p:cNvPr>
          <p:cNvGrpSpPr/>
          <p:nvPr/>
        </p:nvGrpSpPr>
        <p:grpSpPr>
          <a:xfrm>
            <a:off x="5581131" y="3252342"/>
            <a:ext cx="933415" cy="1095419"/>
            <a:chOff x="6307141" y="1676398"/>
            <a:chExt cx="933415" cy="1095419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059C1499-494C-EF4E-3D37-475B63373778}"/>
                </a:ext>
              </a:extLst>
            </p:cNvPr>
            <p:cNvSpPr/>
            <p:nvPr/>
          </p:nvSpPr>
          <p:spPr>
            <a:xfrm>
              <a:off x="6307141" y="1676398"/>
              <a:ext cx="933415" cy="1095419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ounded Rectangle 29">
              <a:extLst>
                <a:ext uri="{FF2B5EF4-FFF2-40B4-BE49-F238E27FC236}">
                  <a16:creationId xmlns:a16="http://schemas.microsoft.com/office/drawing/2014/main" id="{F7D531FB-4386-105D-FD1D-58F687AA47A7}"/>
                </a:ext>
              </a:extLst>
            </p:cNvPr>
            <p:cNvSpPr txBox="1"/>
            <p:nvPr/>
          </p:nvSpPr>
          <p:spPr>
            <a:xfrm>
              <a:off x="6332350" y="1936340"/>
              <a:ext cx="882997" cy="8102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Choosing model with best testing </a:t>
              </a:r>
              <a:r>
                <a:rPr lang="en-US" sz="1000" kern="1200" baseline="0" dirty="0">
                  <a:latin typeface="Calibri" panose="020F0502020204030204" pitchFamily="34" charset="0"/>
                </a:rPr>
                <a:t>results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8DB7AB-0E61-E122-D8C0-31D6061F7792}"/>
              </a:ext>
            </a:extLst>
          </p:cNvPr>
          <p:cNvGrpSpPr/>
          <p:nvPr/>
        </p:nvGrpSpPr>
        <p:grpSpPr>
          <a:xfrm>
            <a:off x="5175222" y="3067355"/>
            <a:ext cx="1134225" cy="428953"/>
            <a:chOff x="6421221" y="1586918"/>
            <a:chExt cx="1134225" cy="428953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86702604-E2AF-172C-BD79-2943D8CD3A52}"/>
                </a:ext>
              </a:extLst>
            </p:cNvPr>
            <p:cNvSpPr/>
            <p:nvPr/>
          </p:nvSpPr>
          <p:spPr>
            <a:xfrm>
              <a:off x="6421221" y="1586918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  <a:alpha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ounded Rectangle 31">
              <a:extLst>
                <a:ext uri="{FF2B5EF4-FFF2-40B4-BE49-F238E27FC236}">
                  <a16:creationId xmlns:a16="http://schemas.microsoft.com/office/drawing/2014/main" id="{C5926EE1-6C24-934E-B279-88B67C2D6E22}"/>
                </a:ext>
              </a:extLst>
            </p:cNvPr>
            <p:cNvSpPr txBox="1"/>
            <p:nvPr/>
          </p:nvSpPr>
          <p:spPr>
            <a:xfrm>
              <a:off x="6433785" y="1599482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Model Selection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EF5C02-891A-39F5-7232-32652FEC4E40}"/>
              </a:ext>
            </a:extLst>
          </p:cNvPr>
          <p:cNvGrpSpPr/>
          <p:nvPr/>
        </p:nvGrpSpPr>
        <p:grpSpPr>
          <a:xfrm>
            <a:off x="10617227" y="4351022"/>
            <a:ext cx="1134225" cy="428953"/>
            <a:chOff x="2718461" y="3215219"/>
            <a:chExt cx="1134225" cy="428953"/>
          </a:xfrm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09E6EE81-9AAB-A029-46CB-9A9B4BAD4DAD}"/>
                </a:ext>
              </a:extLst>
            </p:cNvPr>
            <p:cNvSpPr/>
            <p:nvPr/>
          </p:nvSpPr>
          <p:spPr>
            <a:xfrm>
              <a:off x="2718461" y="3215219"/>
              <a:ext cx="1134225" cy="428953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ounded Rectangle 17">
              <a:extLst>
                <a:ext uri="{FF2B5EF4-FFF2-40B4-BE49-F238E27FC236}">
                  <a16:creationId xmlns:a16="http://schemas.microsoft.com/office/drawing/2014/main" id="{4E40CAFB-B436-F688-49EA-42129E850F2A}"/>
                </a:ext>
              </a:extLst>
            </p:cNvPr>
            <p:cNvSpPr txBox="1"/>
            <p:nvPr/>
          </p:nvSpPr>
          <p:spPr>
            <a:xfrm>
              <a:off x="2731025" y="3227783"/>
              <a:ext cx="1109097" cy="4038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15240" rIns="2286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baseline="0" dirty="0">
                  <a:latin typeface="Calibri" panose="020F0502020204030204" pitchFamily="34" charset="0"/>
                </a:rPr>
                <a:t>Model deployment</a:t>
              </a:r>
            </a:p>
          </p:txBody>
        </p:sp>
      </p:grpSp>
      <p:sp>
        <p:nvSpPr>
          <p:cNvPr id="61" name="Circular Arrow 60">
            <a:extLst>
              <a:ext uri="{FF2B5EF4-FFF2-40B4-BE49-F238E27FC236}">
                <a16:creationId xmlns:a16="http://schemas.microsoft.com/office/drawing/2014/main" id="{0F8D369D-A25F-8271-6654-00F0D36071DC}"/>
              </a:ext>
            </a:extLst>
          </p:cNvPr>
          <p:cNvSpPr/>
          <p:nvPr/>
        </p:nvSpPr>
        <p:spPr>
          <a:xfrm>
            <a:off x="8733208" y="3015482"/>
            <a:ext cx="2053762" cy="2053762"/>
          </a:xfrm>
          <a:prstGeom prst="circularArrow">
            <a:avLst>
              <a:gd name="adj1" fmla="val 1118"/>
              <a:gd name="adj2" fmla="val 131283"/>
              <a:gd name="adj3" fmla="val 905400"/>
              <a:gd name="adj4" fmla="val 15387705"/>
              <a:gd name="adj5" fmla="val 1304"/>
            </a:avLst>
          </a:prstGeom>
          <a:solidFill>
            <a:schemeClr val="bg2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E302622-3C12-4326-7E62-CAB8959EBABE}"/>
              </a:ext>
            </a:extLst>
          </p:cNvPr>
          <p:cNvGrpSpPr/>
          <p:nvPr/>
        </p:nvGrpSpPr>
        <p:grpSpPr>
          <a:xfrm>
            <a:off x="10425700" y="3067355"/>
            <a:ext cx="947268" cy="1317272"/>
            <a:chOff x="2531916" y="1941869"/>
            <a:chExt cx="947268" cy="1317272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91955232-3835-4876-B788-548E6F9F5FD5}"/>
                </a:ext>
              </a:extLst>
            </p:cNvPr>
            <p:cNvSpPr/>
            <p:nvPr/>
          </p:nvSpPr>
          <p:spPr>
            <a:xfrm>
              <a:off x="2531916" y="1941869"/>
              <a:ext cx="947268" cy="1317272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alpha val="90000"/>
              </a:schemeClr>
            </a:solidFill>
            <a:ln>
              <a:solidFill>
                <a:srgbClr val="49C6D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ounded Rectangle 14">
              <a:extLst>
                <a:ext uri="{FF2B5EF4-FFF2-40B4-BE49-F238E27FC236}">
                  <a16:creationId xmlns:a16="http://schemas.microsoft.com/office/drawing/2014/main" id="{A0EAFDCC-8A03-8B3F-3A71-008574D0C34E}"/>
                </a:ext>
              </a:extLst>
            </p:cNvPr>
            <p:cNvSpPr txBox="1"/>
            <p:nvPr/>
          </p:nvSpPr>
          <p:spPr>
            <a:xfrm>
              <a:off x="2552573" y="2035609"/>
              <a:ext cx="895107" cy="10105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825" tIns="123825" rIns="123825" bIns="123825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>
                  <a:latin typeface="Calibri" panose="020F0502020204030204" pitchFamily="34" charset="0"/>
                </a:rPr>
                <a:t>Saving model as pickle file and deploying if using </a:t>
              </a:r>
              <a:r>
                <a:rPr lang="en-US" sz="1000" kern="1200" dirty="0" err="1">
                  <a:latin typeface="Calibri" panose="020F0502020204030204" pitchFamily="34" charset="0"/>
                </a:rPr>
                <a:t>Streamlit</a:t>
              </a:r>
              <a:endParaRPr lang="en-US" sz="1000" kern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97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12720" y="12697"/>
            <a:ext cx="12191980" cy="6858001"/>
          </a:xfrm>
          <a:prstGeom prst="rect">
            <a:avLst/>
          </a:prstGeom>
        </p:spPr>
      </p:pic>
      <p:sp>
        <p:nvSpPr>
          <p:cNvPr id="37" name="Freeform: Shape 23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25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383" y="266701"/>
            <a:ext cx="6657108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255" y="770671"/>
            <a:ext cx="7829645" cy="4969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FFFF"/>
                </a:solidFill>
              </a:rPr>
              <a:t>Original Data Set :</a:t>
            </a:r>
          </a:p>
          <a:p>
            <a:pPr marL="9144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6,777,978  rows and 43 columns (11 categorical and 32 continuous) </a:t>
            </a:r>
          </a:p>
          <a:p>
            <a:pPr marL="914400" lvl="1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15 min delay probability 20.2 %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After transformation (removing certain features and rows ) </a:t>
            </a:r>
          </a:p>
          <a:p>
            <a:pPr marL="914400" lvl="1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2,742,902 rows, 27 columns</a:t>
            </a:r>
          </a:p>
          <a:p>
            <a:pPr marL="914400" lvl="1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15 min delay probability 50 %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Columns with NULL values were removed.</a:t>
            </a:r>
          </a:p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98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1F4DC3-EDAB-401A-BD21-33D25AB5F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-1" y="10"/>
            <a:ext cx="12192002" cy="6857989"/>
          </a:xfrm>
          <a:prstGeom prst="rect">
            <a:avLst/>
          </a:prstGeom>
        </p:spPr>
      </p:pic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E9C7EB16-0EC8-4488-ACB2-C24CF90E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85325" cy="6858000"/>
          </a:xfrm>
          <a:custGeom>
            <a:avLst/>
            <a:gdLst>
              <a:gd name="connsiteX0" fmla="*/ 0 w 6885325"/>
              <a:gd name="connsiteY0" fmla="*/ 0 h 6858000"/>
              <a:gd name="connsiteX1" fmla="*/ 6885325 w 6885325"/>
              <a:gd name="connsiteY1" fmla="*/ 0 h 6858000"/>
              <a:gd name="connsiteX2" fmla="*/ 6885323 w 6885325"/>
              <a:gd name="connsiteY2" fmla="*/ 2 h 6858000"/>
              <a:gd name="connsiteX3" fmla="*/ 6885322 w 6885325"/>
              <a:gd name="connsiteY3" fmla="*/ 4 h 6858000"/>
              <a:gd name="connsiteX4" fmla="*/ 874733 w 6885325"/>
              <a:gd name="connsiteY4" fmla="*/ 6858000 h 6858000"/>
              <a:gd name="connsiteX5" fmla="*/ 0 w 688532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5325" h="6858000">
                <a:moveTo>
                  <a:pt x="0" y="0"/>
                </a:moveTo>
                <a:lnTo>
                  <a:pt x="6885325" y="0"/>
                </a:lnTo>
                <a:lnTo>
                  <a:pt x="6885323" y="2"/>
                </a:lnTo>
                <a:cubicBezTo>
                  <a:pt x="6885323" y="3"/>
                  <a:pt x="6885322" y="3"/>
                  <a:pt x="6885322" y="4"/>
                </a:cubicBezTo>
                <a:lnTo>
                  <a:pt x="8747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96873"/>
            <a:ext cx="10883900" cy="224789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FFFFFF"/>
                </a:solidFill>
              </a:rPr>
              <a:t>Data – correlations between features</a:t>
            </a: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C3C4CE1C-C768-4656-8941-CE322DBE7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1952" y="4746812"/>
            <a:ext cx="2147047" cy="1080368"/>
          </a:xfrm>
        </p:spPr>
        <p:txBody>
          <a:bodyPr anchor="b">
            <a:normAutofit/>
          </a:bodyPr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B885C6-EAF0-677D-A210-982F20D24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682" y="793111"/>
            <a:ext cx="8810793" cy="582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72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101620" y="708098"/>
            <a:ext cx="12191980" cy="685800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382" y="194302"/>
            <a:ext cx="10475917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PRELIMINARY Data Analysis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442909"/>
            <a:ext cx="4122137" cy="138235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831A5A3-ED1A-3AF6-14C4-67BF4082A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936701"/>
            <a:ext cx="8128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97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-1" y="10"/>
            <a:ext cx="12192002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00" y="330201"/>
            <a:ext cx="10782299" cy="28324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641317"/>
            <a:ext cx="3325513" cy="1018849"/>
          </a:xfrm>
        </p:spPr>
        <p:txBody>
          <a:bodyPr anchor="b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BE08280-5AA5-DEE2-A648-707870B6E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160242"/>
            <a:ext cx="9151937" cy="553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28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965196" y="925849"/>
            <a:ext cx="10160002" cy="571499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194298"/>
            <a:ext cx="10553699" cy="28324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442909"/>
            <a:ext cx="4122137" cy="1382358"/>
          </a:xfrm>
        </p:spPr>
        <p:txBody>
          <a:bodyPr anchor="b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1FC129E-7B05-4121-6A43-A3E329796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97" y="1032733"/>
            <a:ext cx="10160000" cy="544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71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19" y="-3"/>
            <a:ext cx="12786711" cy="7192538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1544347"/>
            <a:ext cx="5664199" cy="428092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4042432-12DD-B6FE-4B16-B2EB3C100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95" y="1209810"/>
            <a:ext cx="5678233" cy="442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BD681E6-5489-B81C-3624-CE75B2323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616" y="1209810"/>
            <a:ext cx="5880100" cy="442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64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25419" y="12697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1544347"/>
            <a:ext cx="5664199" cy="428092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E485A05-AB8C-13C2-DF55-9EBA39F1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799" y="1176544"/>
            <a:ext cx="6203950" cy="424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160080-F4E6-AD6E-BA08-BA32DA717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512906"/>
              </p:ext>
            </p:extLst>
          </p:nvPr>
        </p:nvGraphicFramePr>
        <p:xfrm>
          <a:off x="431800" y="1370392"/>
          <a:ext cx="5343525" cy="40482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8705">
                  <a:extLst>
                    <a:ext uri="{9D8B030D-6E8A-4147-A177-3AD203B41FA5}">
                      <a16:colId xmlns:a16="http://schemas.microsoft.com/office/drawing/2014/main" val="1346087578"/>
                    </a:ext>
                  </a:extLst>
                </a:gridCol>
                <a:gridCol w="1196950">
                  <a:extLst>
                    <a:ext uri="{9D8B030D-6E8A-4147-A177-3AD203B41FA5}">
                      <a16:colId xmlns:a16="http://schemas.microsoft.com/office/drawing/2014/main" val="3975237299"/>
                    </a:ext>
                  </a:extLst>
                </a:gridCol>
                <a:gridCol w="1538935">
                  <a:extLst>
                    <a:ext uri="{9D8B030D-6E8A-4147-A177-3AD203B41FA5}">
                      <a16:colId xmlns:a16="http://schemas.microsoft.com/office/drawing/2014/main" val="2526569714"/>
                    </a:ext>
                  </a:extLst>
                </a:gridCol>
                <a:gridCol w="1538935">
                  <a:extLst>
                    <a:ext uri="{9D8B030D-6E8A-4147-A177-3AD203B41FA5}">
                      <a16:colId xmlns:a16="http://schemas.microsoft.com/office/drawing/2014/main" val="2540504963"/>
                    </a:ext>
                  </a:extLst>
                </a:gridCol>
              </a:tblGrid>
              <a:tr h="529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highlight>
                            <a:srgbClr val="D9D9D9"/>
                          </a:highlight>
                        </a:rPr>
                        <a:t>Feature_class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highlight>
                            <a:srgbClr val="D9D9D9"/>
                          </a:highlight>
                        </a:rPr>
                        <a:t>Total_Flights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  <a:highlight>
                            <a:srgbClr val="D9D9D9"/>
                          </a:highlight>
                        </a:rPr>
                        <a:t>Delayed_Flights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highlight>
                            <a:srgbClr val="D9D9D9"/>
                          </a:highlight>
                        </a:rPr>
                        <a:t>Percentage_Delayed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299884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Sunday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993,917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225,513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22.69%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6798780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Friday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1,006,397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222,892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22.15%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7870633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Thursday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1,002,419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207,300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20.68%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9999981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Saturday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890,364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183,081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20.56%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8370625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Monday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996,731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201,586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20.22%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9244468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Tuesday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934,067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164,199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17.58%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8552411"/>
                  </a:ext>
                </a:extLst>
              </a:tr>
              <a:tr h="529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Wednesday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954,083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166,880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17.49%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4116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67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19" y="-3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1544347"/>
            <a:ext cx="5664199" cy="428092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AB0C78-91E1-A8BC-DED7-8712C9C6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048392"/>
              </p:ext>
            </p:extLst>
          </p:nvPr>
        </p:nvGraphicFramePr>
        <p:xfrm>
          <a:off x="292100" y="1739111"/>
          <a:ext cx="5803900" cy="4387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0039">
                  <a:extLst>
                    <a:ext uri="{9D8B030D-6E8A-4147-A177-3AD203B41FA5}">
                      <a16:colId xmlns:a16="http://schemas.microsoft.com/office/drawing/2014/main" val="1837211228"/>
                    </a:ext>
                  </a:extLst>
                </a:gridCol>
                <a:gridCol w="1122087">
                  <a:extLst>
                    <a:ext uri="{9D8B030D-6E8A-4147-A177-3AD203B41FA5}">
                      <a16:colId xmlns:a16="http://schemas.microsoft.com/office/drawing/2014/main" val="2500044251"/>
                    </a:ext>
                  </a:extLst>
                </a:gridCol>
                <a:gridCol w="1444527">
                  <a:extLst>
                    <a:ext uri="{9D8B030D-6E8A-4147-A177-3AD203B41FA5}">
                      <a16:colId xmlns:a16="http://schemas.microsoft.com/office/drawing/2014/main" val="807136537"/>
                    </a:ext>
                  </a:extLst>
                </a:gridCol>
                <a:gridCol w="1857247">
                  <a:extLst>
                    <a:ext uri="{9D8B030D-6E8A-4147-A177-3AD203B41FA5}">
                      <a16:colId xmlns:a16="http://schemas.microsoft.com/office/drawing/2014/main" val="1188506834"/>
                    </a:ext>
                  </a:extLst>
                </a:gridCol>
              </a:tblGrid>
              <a:tr h="925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highlight>
                            <a:srgbClr val="D9D9D9"/>
                          </a:highlight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212121"/>
                        </a:solidFill>
                        <a:effectLst/>
                        <a:highlight>
                          <a:srgbClr val="D9D9D9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  <a:highlight>
                            <a:srgbClr val="D9D9D9"/>
                          </a:highlight>
                        </a:rPr>
                        <a:t>Total_Flights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  <a:highlight>
                            <a:srgbClr val="D9D9D9"/>
                          </a:highlight>
                        </a:rPr>
                        <a:t>Delayed_Flights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  <a:highlight>
                            <a:srgbClr val="D9D9D9"/>
                          </a:highlight>
                        </a:rPr>
                        <a:t>Percentage_Delayed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9618989"/>
                  </a:ext>
                </a:extLst>
              </a:tr>
              <a:tr h="50105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Evening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1,085,963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311,197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28.66%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1246868"/>
                  </a:ext>
                </a:extLst>
              </a:tr>
              <a:tr h="50105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467,796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125,100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26.74%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6003371"/>
                  </a:ext>
                </a:extLst>
              </a:tr>
              <a:tr h="50105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Afternoon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1,190,516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307,259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25.81%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0323197"/>
                  </a:ext>
                </a:extLst>
              </a:tr>
              <a:tr h="925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Early afternoon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1,193,596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247,230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20.71%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9907582"/>
                  </a:ext>
                </a:extLst>
              </a:tr>
              <a:tr h="50105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Morning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1,675,136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256,402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>
                          <a:effectLst/>
                        </a:rPr>
                        <a:t>15.31%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0353780"/>
                  </a:ext>
                </a:extLst>
              </a:tr>
              <a:tr h="53236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Early morning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1,164,971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124,263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10.67%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3354717"/>
                  </a:ext>
                </a:extLst>
              </a:tr>
            </a:tbl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DA25F766-CF58-AE6C-2824-A69D15C36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199" y="1739111"/>
            <a:ext cx="5664199" cy="441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57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19" y="-3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1544347"/>
            <a:ext cx="5664199" cy="428092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0BA2C8C-1A67-5C0B-B33F-B6B8C176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31990"/>
            <a:ext cx="6261100" cy="480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01051-DF8E-3E29-7970-D07926C76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91933"/>
              </p:ext>
            </p:extLst>
          </p:nvPr>
        </p:nvGraphicFramePr>
        <p:xfrm>
          <a:off x="476250" y="1333369"/>
          <a:ext cx="5429250" cy="47028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4598">
                  <a:extLst>
                    <a:ext uri="{9D8B030D-6E8A-4147-A177-3AD203B41FA5}">
                      <a16:colId xmlns:a16="http://schemas.microsoft.com/office/drawing/2014/main" val="124904376"/>
                    </a:ext>
                  </a:extLst>
                </a:gridCol>
                <a:gridCol w="1105284">
                  <a:extLst>
                    <a:ext uri="{9D8B030D-6E8A-4147-A177-3AD203B41FA5}">
                      <a16:colId xmlns:a16="http://schemas.microsoft.com/office/drawing/2014/main" val="1995764104"/>
                    </a:ext>
                  </a:extLst>
                </a:gridCol>
                <a:gridCol w="1360348">
                  <a:extLst>
                    <a:ext uri="{9D8B030D-6E8A-4147-A177-3AD203B41FA5}">
                      <a16:colId xmlns:a16="http://schemas.microsoft.com/office/drawing/2014/main" val="739592320"/>
                    </a:ext>
                  </a:extLst>
                </a:gridCol>
                <a:gridCol w="1749020">
                  <a:extLst>
                    <a:ext uri="{9D8B030D-6E8A-4147-A177-3AD203B41FA5}">
                      <a16:colId xmlns:a16="http://schemas.microsoft.com/office/drawing/2014/main" val="4012879475"/>
                    </a:ext>
                  </a:extLst>
                </a:gridCol>
              </a:tblGrid>
              <a:tr h="67281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  <a:highlight>
                            <a:srgbClr val="D9D9D9"/>
                          </a:highlight>
                          <a:cs typeface="Al Bayan Plain" pitchFamily="2" charset="-78"/>
                        </a:rPr>
                        <a:t>Feature_class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  <a:highlight>
                            <a:srgbClr val="D9D9D9"/>
                          </a:highlight>
                          <a:cs typeface="Al Bayan Plain" pitchFamily="2" charset="-78"/>
                        </a:rPr>
                        <a:t>Total_Flights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highlight>
                            <a:srgbClr val="D9D9D9"/>
                          </a:highlight>
                          <a:cs typeface="Al Bayan Plain" pitchFamily="2" charset="-78"/>
                        </a:rPr>
                        <a:t>Delayed_Flights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highlight>
                            <a:srgbClr val="D9D9D9"/>
                          </a:highlight>
                          <a:cs typeface="Al Bayan Plain" pitchFamily="2" charset="-78"/>
                        </a:rPr>
                        <a:t>Percentage_Delayed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D9D9D9"/>
                        </a:highlight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7921596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cs typeface="Al Bayan Plain" pitchFamily="2" charset="-78"/>
                        </a:rPr>
                        <a:t>790,573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185,827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23.51%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6113561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cs typeface="Al Bayan Plain" pitchFamily="2" charset="-78"/>
                        </a:rPr>
                        <a:t>302,250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67,567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>
                          <a:effectLst/>
                          <a:cs typeface="AL BAYAN PLAIN" pitchFamily="2" charset="-78"/>
                        </a:rPr>
                        <a:t>22.35%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9153513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cs typeface="Al Bayan Plain" pitchFamily="2" charset="-78"/>
                        </a:rPr>
                        <a:t>1,125,895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cs typeface="Al Bayan Plain" pitchFamily="2" charset="-78"/>
                        </a:rPr>
                        <a:t>245,562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21.81%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86548343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111,202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cs typeface="Al Bayan Plain" pitchFamily="2" charset="-78"/>
                        </a:rPr>
                        <a:t>23,991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>
                          <a:effectLst/>
                          <a:cs typeface="AL BAYAN PLAIN" pitchFamily="2" charset="-78"/>
                        </a:rPr>
                        <a:t>21.57%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0518444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140,112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  <a:cs typeface="Al Bayan Plain" pitchFamily="2" charset="-78"/>
                        </a:rPr>
                        <a:t>30,029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21.43%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1043261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148,064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31,107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21.01%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7499009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173,193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36,356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20.99%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448044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314,425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64,376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20.47%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774692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1,357,844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267,365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19.69%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2951977"/>
                  </a:ext>
                </a:extLst>
              </a:tr>
              <a:tr h="3642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1,537,278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281,795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18.33%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2236269"/>
                  </a:ext>
                </a:extLst>
              </a:tr>
              <a:tr h="387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777,142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  <a:cs typeface="Al Bayan Plain" pitchFamily="2" charset="-78"/>
                        </a:rPr>
                        <a:t>137,476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  <a:cs typeface="AL BAYAN PLAIN" pitchFamily="2" charset="-78"/>
                        </a:rPr>
                        <a:t>17.69%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cs typeface="AL BAYAN PLAIN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721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0" y="0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23899" y="2367457"/>
            <a:ext cx="4424559" cy="36727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213448F-D1DE-607B-4565-BFC871382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610504"/>
            <a:ext cx="6263926" cy="487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F1C494BC-7152-2AB2-1BA0-1D34943CD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931" y="1610504"/>
            <a:ext cx="5347069" cy="487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53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5" b="8655"/>
          <a:stretch/>
        </p:blipFill>
        <p:spPr>
          <a:xfrm>
            <a:off x="0" y="0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23899" y="2367457"/>
            <a:ext cx="4424559" cy="36727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DBC5B4E-5377-F2B2-3F0C-765D95CB7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06" y="817763"/>
            <a:ext cx="9170988" cy="606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87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DE524F2-C7AF-4466-BA99-09C19DE0D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0" y="-1"/>
            <a:ext cx="12191980" cy="6858001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04E317E-14BB-4200-84F3-2064B4C97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DF94A24-8152-43C5-86F3-5CC95D80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" y="420396"/>
            <a:ext cx="4953000" cy="2247899"/>
          </a:xfrm>
        </p:spPr>
        <p:txBody>
          <a:bodyPr anchor="t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30" y="1054098"/>
            <a:ext cx="6740972" cy="5803900"/>
          </a:xfrm>
        </p:spPr>
        <p:txBody>
          <a:bodyPr anchor="b">
            <a:normAutofit lnSpcReduction="10000"/>
          </a:bodyPr>
          <a:lstStyle/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Preliminary data analysis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Explanatory Data Analysis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Feature engineering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Fitting model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Choosing the best model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Hyper parameters tuning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Testing Model</a:t>
            </a: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i="0" dirty="0">
              <a:solidFill>
                <a:srgbClr val="FFFFFF"/>
              </a:solidFill>
            </a:endParaRPr>
          </a:p>
          <a:p>
            <a:pPr marL="628650" lvl="1" indent="-1714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FFFFFF"/>
                </a:solidFill>
              </a:rPr>
              <a:t>Model Deployment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82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E524F2-C7AF-4466-BA99-09C19DE0D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12720" y="-3"/>
            <a:ext cx="12191979" cy="6858004"/>
          </a:xfrm>
          <a:prstGeom prst="rect">
            <a:avLst/>
          </a:prstGeom>
        </p:spPr>
      </p:pic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904E317E-14BB-4200-84F3-2064B4C97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1DF94A24-8152-43C5-86F3-5CC95D80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653061"/>
            <a:ext cx="4953000" cy="891286"/>
          </a:xfrm>
        </p:spPr>
        <p:txBody>
          <a:bodyPr anchor="t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15536"/>
            <a:ext cx="4676438" cy="4132860"/>
          </a:xfrm>
        </p:spPr>
        <p:txBody>
          <a:bodyPr anchor="b">
            <a:normAutofit fontScale="25000" lnSpcReduction="20000"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b="0" i="0" u="none" strike="noStrike" dirty="0">
                <a:effectLst/>
                <a:latin typeface="+mj-lt"/>
              </a:rPr>
              <a:t>Logistic Regression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600" b="0" i="0" u="none" strike="noStrike" dirty="0">
              <a:effectLst/>
              <a:latin typeface="+mj-lt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latin typeface="+mj-lt"/>
              </a:rPr>
              <a:t>Decision Trees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600" dirty="0">
              <a:latin typeface="+mj-lt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b="0" i="0" u="none" strike="noStrike" dirty="0">
                <a:effectLst/>
                <a:latin typeface="+mj-lt"/>
              </a:rPr>
              <a:t>Random Forest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600" b="0" i="0" u="none" strike="noStrike" dirty="0">
              <a:effectLst/>
              <a:latin typeface="+mj-lt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dirty="0">
                <a:latin typeface="+mj-lt"/>
              </a:rPr>
              <a:t>Gradient Boosting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600" dirty="0">
              <a:latin typeface="+mj-lt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b="0" i="0" u="none" strike="noStrike" dirty="0">
                <a:effectLst/>
                <a:latin typeface="+mj-lt"/>
              </a:rPr>
              <a:t>Suppo</a:t>
            </a:r>
            <a:r>
              <a:rPr lang="en-US" sz="9600" dirty="0">
                <a:latin typeface="+mj-lt"/>
              </a:rPr>
              <a:t>rt Vector Machine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600" dirty="0">
              <a:latin typeface="+mj-lt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b="0" i="0" u="none" strike="noStrike" dirty="0">
                <a:effectLst/>
                <a:latin typeface="+mj-lt"/>
              </a:rPr>
              <a:t>Naïve Bayes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600" b="0" i="0" u="none" strike="noStrike" dirty="0">
              <a:effectLst/>
              <a:latin typeface="+mj-lt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9600" b="0" i="0" u="none" strike="noStrike" dirty="0">
                <a:effectLst/>
                <a:latin typeface="+mj-lt"/>
              </a:rPr>
              <a:t>K Nearest Neighbor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b="0" i="0" u="none" strike="noStrike" dirty="0">
              <a:effectLst/>
              <a:latin typeface="+mj-lt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FFFFFF"/>
              </a:solidFill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sz="500" b="0" i="0" u="none" strike="noStrike" dirty="0">
              <a:solidFill>
                <a:srgbClr val="FFFFFF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sz="500" dirty="0">
              <a:solidFill>
                <a:srgbClr val="FFFFFF"/>
              </a:solidFill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br>
              <a:rPr lang="en-US" sz="500" b="0" i="0" u="none" strike="noStrike" dirty="0">
                <a:solidFill>
                  <a:srgbClr val="FFFFFF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</a:br>
            <a:endParaRPr lang="en-US" sz="500" b="0" i="0" u="none" strike="noStrike" dirty="0">
              <a:solidFill>
                <a:srgbClr val="FFFFFF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br>
              <a:rPr lang="en-US" sz="500" dirty="0">
                <a:solidFill>
                  <a:srgbClr val="FFFFFF"/>
                </a:solidFill>
              </a:rPr>
            </a:br>
            <a:endParaRPr lang="en-US" sz="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0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0" y="0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23899" y="2367457"/>
            <a:ext cx="4424559" cy="36727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CB0368-7DAD-7505-B4D0-D1CD06DC6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067311"/>
              </p:ext>
            </p:extLst>
          </p:nvPr>
        </p:nvGraphicFramePr>
        <p:xfrm>
          <a:off x="2235200" y="1333500"/>
          <a:ext cx="7721600" cy="5194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7256">
                  <a:extLst>
                    <a:ext uri="{9D8B030D-6E8A-4147-A177-3AD203B41FA5}">
                      <a16:colId xmlns:a16="http://schemas.microsoft.com/office/drawing/2014/main" val="2332559883"/>
                    </a:ext>
                  </a:extLst>
                </a:gridCol>
                <a:gridCol w="2952172">
                  <a:extLst>
                    <a:ext uri="{9D8B030D-6E8A-4147-A177-3AD203B41FA5}">
                      <a16:colId xmlns:a16="http://schemas.microsoft.com/office/drawing/2014/main" val="2859235405"/>
                    </a:ext>
                  </a:extLst>
                </a:gridCol>
                <a:gridCol w="2952172">
                  <a:extLst>
                    <a:ext uri="{9D8B030D-6E8A-4147-A177-3AD203B41FA5}">
                      <a16:colId xmlns:a16="http://schemas.microsoft.com/office/drawing/2014/main" val="1352862725"/>
                    </a:ext>
                  </a:extLst>
                </a:gridCol>
              </a:tblGrid>
              <a:tr h="40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u="none" strike="noStrike">
                          <a:effectLst/>
                          <a:highlight>
                            <a:srgbClr val="FFFFFF"/>
                          </a:highlight>
                        </a:rPr>
                        <a:t>Model</a:t>
                      </a:r>
                      <a:endParaRPr lang="en-US" sz="900" b="1" i="0" u="none" strike="noStrike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u="none" strike="noStrike">
                          <a:effectLst/>
                          <a:highlight>
                            <a:srgbClr val="FFFFFF"/>
                          </a:highlight>
                        </a:rPr>
                        <a:t>Measure</a:t>
                      </a:r>
                      <a:endParaRPr lang="en-US" sz="900" b="1" i="0" u="none" strike="noStrike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u="none" strike="noStrike" dirty="0" err="1">
                          <a:effectLst/>
                          <a:highlight>
                            <a:srgbClr val="FFFFFF"/>
                          </a:highlight>
                        </a:rPr>
                        <a:t>Downsampled</a:t>
                      </a:r>
                      <a:r>
                        <a:rPr lang="en-US" sz="900" u="none" strike="noStrike" dirty="0">
                          <a:effectLst/>
                          <a:highlight>
                            <a:srgbClr val="FFFFFF"/>
                          </a:highlight>
                        </a:rPr>
                        <a:t> l Dataset</a:t>
                      </a:r>
                      <a:endParaRPr lang="en-US" sz="900" b="1" i="0" u="none" strike="noStrike" dirty="0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778606751"/>
                  </a:ext>
                </a:extLst>
              </a:tr>
              <a:tr h="189083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  <a:highlight>
                            <a:srgbClr val="F2F2F2"/>
                          </a:highlight>
                        </a:rPr>
                        <a:t>Logistic Regression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Accuracy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60.01%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967442552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Precision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59.34%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921583892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Recall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63.93%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163740627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F1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61.55%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120241863"/>
                  </a:ext>
                </a:extLst>
              </a:tr>
              <a:tr h="200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ROC AUC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66.55%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2712787879"/>
                  </a:ext>
                </a:extLst>
              </a:tr>
              <a:tr h="189083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  <a:highlight>
                            <a:srgbClr val="F2F2F2"/>
                          </a:highlight>
                        </a:rPr>
                        <a:t>Decision Tree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Accuracy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59.07%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474666358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Precision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59.96%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952968432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Recall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54.92%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231618112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F1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57.33%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155581669"/>
                  </a:ext>
                </a:extLst>
              </a:tr>
              <a:tr h="200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  <a:highlight>
                            <a:srgbClr val="F2F2F2"/>
                          </a:highlight>
                        </a:rPr>
                        <a:t>ROC AUC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59.08%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527697873"/>
                  </a:ext>
                </a:extLst>
              </a:tr>
              <a:tr h="189083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  <a:highlight>
                            <a:srgbClr val="F2F2F2"/>
                          </a:highlight>
                        </a:rPr>
                        <a:t>Random Forest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Accuracy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59.18%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641198409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Precision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59.17%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963647877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Recall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59.57%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2024665168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F1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59.37%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599832131"/>
                  </a:ext>
                </a:extLst>
              </a:tr>
              <a:tr h="200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ROC AUC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5918.00%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2392122973"/>
                  </a:ext>
                </a:extLst>
              </a:tr>
              <a:tr h="189083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Gradient Boosting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Accuracy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1" u="none" strike="noStrike">
                          <a:effectLst/>
                          <a:highlight>
                            <a:srgbClr val="F2F2F2"/>
                          </a:highlight>
                        </a:rPr>
                        <a:t>61.22%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2111348062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Precision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1" u="none" strike="noStrike">
                          <a:effectLst/>
                          <a:highlight>
                            <a:srgbClr val="F2F2F2"/>
                          </a:highlight>
                        </a:rPr>
                        <a:t>61.18%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18379357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Recall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1" u="none" strike="noStrike">
                          <a:effectLst/>
                          <a:highlight>
                            <a:srgbClr val="F2F2F2"/>
                          </a:highlight>
                        </a:rPr>
                        <a:t>61.67%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2785735305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F1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61.42%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233492905"/>
                  </a:ext>
                </a:extLst>
              </a:tr>
              <a:tr h="200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b="1" u="none" strike="noStrike">
                          <a:effectLst/>
                          <a:highlight>
                            <a:srgbClr val="F2F2F2"/>
                          </a:highlight>
                        </a:rPr>
                        <a:t>ROC AUC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b="1" u="none" strike="noStrike" dirty="0">
                          <a:effectLst/>
                          <a:highlight>
                            <a:srgbClr val="F2F2F2"/>
                          </a:highlight>
                        </a:rPr>
                        <a:t>61.22%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219543157"/>
                  </a:ext>
                </a:extLst>
              </a:tr>
              <a:tr h="189083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  <a:highlight>
                            <a:srgbClr val="F2F2F2"/>
                          </a:highlight>
                        </a:rPr>
                        <a:t>Naïve Guass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Accuracy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  <a:highlight>
                            <a:srgbClr val="F2F2F2"/>
                          </a:highlight>
                        </a:rPr>
                        <a:t>60.20%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2860489104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Precision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60.21%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386895441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Recall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60.43%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853510527"/>
                  </a:ext>
                </a:extLst>
              </a:tr>
              <a:tr h="1890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F1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60.32%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781276778"/>
                  </a:ext>
                </a:extLst>
              </a:tr>
              <a:tr h="200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  <a:highlight>
                            <a:srgbClr val="F2F2F2"/>
                          </a:highlight>
                        </a:rPr>
                        <a:t>ROC AUC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700" u="none" strike="noStrike" dirty="0">
                          <a:effectLst/>
                          <a:highlight>
                            <a:srgbClr val="F2F2F2"/>
                          </a:highlight>
                        </a:rPr>
                        <a:t>60.20%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089" marR="6089" marT="6089" marB="0" anchor="ctr"/>
                </a:tc>
                <a:extLst>
                  <a:ext uri="{0D108BD9-81ED-4DB2-BD59-A6C34878D82A}">
                    <a16:rowId xmlns:a16="http://schemas.microsoft.com/office/drawing/2014/main" val="3063354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96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5" b="8655"/>
          <a:stretch/>
        </p:blipFill>
        <p:spPr>
          <a:xfrm>
            <a:off x="12700" y="12700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23899" y="2367457"/>
            <a:ext cx="4424559" cy="36727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E5FAB6-8F0F-8AC3-8ECB-FB8C31265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5697"/>
              </p:ext>
            </p:extLst>
          </p:nvPr>
        </p:nvGraphicFramePr>
        <p:xfrm>
          <a:off x="3251200" y="1756063"/>
          <a:ext cx="5041900" cy="34437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8406">
                  <a:extLst>
                    <a:ext uri="{9D8B030D-6E8A-4147-A177-3AD203B41FA5}">
                      <a16:colId xmlns:a16="http://schemas.microsoft.com/office/drawing/2014/main" val="1359163997"/>
                    </a:ext>
                  </a:extLst>
                </a:gridCol>
                <a:gridCol w="1394498">
                  <a:extLst>
                    <a:ext uri="{9D8B030D-6E8A-4147-A177-3AD203B41FA5}">
                      <a16:colId xmlns:a16="http://schemas.microsoft.com/office/drawing/2014/main" val="3754390539"/>
                    </a:ext>
                  </a:extLst>
                </a:gridCol>
                <a:gridCol w="1394498">
                  <a:extLst>
                    <a:ext uri="{9D8B030D-6E8A-4147-A177-3AD203B41FA5}">
                      <a16:colId xmlns:a16="http://schemas.microsoft.com/office/drawing/2014/main" val="1155183300"/>
                    </a:ext>
                  </a:extLst>
                </a:gridCol>
                <a:gridCol w="1394498">
                  <a:extLst>
                    <a:ext uri="{9D8B030D-6E8A-4147-A177-3AD203B41FA5}">
                      <a16:colId xmlns:a16="http://schemas.microsoft.com/office/drawing/2014/main" val="3713899455"/>
                    </a:ext>
                  </a:extLst>
                </a:gridCol>
              </a:tblGrid>
              <a:tr h="10255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highlight>
                            <a:srgbClr val="FFFFFF"/>
                          </a:highlight>
                        </a:rPr>
                        <a:t>Model</a:t>
                      </a:r>
                      <a:endParaRPr lang="en-US" sz="1400" b="1" i="0" u="none" strike="noStrike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highlight>
                            <a:srgbClr val="FFFFFF"/>
                          </a:highlight>
                        </a:rPr>
                        <a:t>Measure</a:t>
                      </a:r>
                      <a:endParaRPr lang="en-US" sz="1400" b="1" i="0" u="none" strike="noStrike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highlight>
                            <a:srgbClr val="FFFFFF"/>
                          </a:highlight>
                        </a:rPr>
                        <a:t>Full Dataset</a:t>
                      </a:r>
                      <a:endParaRPr lang="en-US" sz="1400" b="1" i="0" u="none" strike="noStrike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  <a:highlight>
                            <a:srgbClr val="FFFFFF"/>
                          </a:highlight>
                        </a:rPr>
                        <a:t>Downsampled l Dataset</a:t>
                      </a:r>
                      <a:endParaRPr lang="en-US" sz="1400" b="1" i="0" u="none" strike="noStrike">
                        <a:solidFill>
                          <a:srgbClr val="0E2841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5152921"/>
                  </a:ext>
                </a:extLst>
              </a:tr>
              <a:tr h="477683"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1200" u="none" strike="noStrike">
                          <a:effectLst/>
                          <a:highlight>
                            <a:srgbClr val="F2F2F2"/>
                          </a:highlight>
                        </a:rPr>
                        <a:t>Logistic Regression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Accuracy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79.74%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60.01%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3152547"/>
                  </a:ext>
                </a:extLst>
              </a:tr>
              <a:tr h="47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Precision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57.03%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59.34%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9357630"/>
                  </a:ext>
                </a:extLst>
              </a:tr>
              <a:tr h="47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Recall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 dirty="0">
                          <a:effectLst/>
                          <a:highlight>
                            <a:srgbClr val="F2F2F2"/>
                          </a:highlight>
                        </a:rPr>
                        <a:t>0.16%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63.93%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0392168"/>
                  </a:ext>
                </a:extLst>
              </a:tr>
              <a:tr h="47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F1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0.33%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61.55%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1951298"/>
                  </a:ext>
                </a:extLst>
              </a:tr>
              <a:tr h="5075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  <a:highlight>
                            <a:srgbClr val="F2F2F2"/>
                          </a:highlight>
                        </a:rPr>
                        <a:t>ROC AUC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 dirty="0">
                          <a:effectLst/>
                          <a:highlight>
                            <a:srgbClr val="F2F2F2"/>
                          </a:highlight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 dirty="0">
                          <a:effectLst/>
                          <a:highlight>
                            <a:srgbClr val="F2F2F2"/>
                          </a:highlight>
                        </a:rPr>
                        <a:t>66.55%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2F2F2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9051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50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5" b="8655"/>
          <a:stretch/>
        </p:blipFill>
        <p:spPr>
          <a:xfrm>
            <a:off x="0" y="0"/>
            <a:ext cx="12786711" cy="7192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94302"/>
            <a:ext cx="10109200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Confusion MATRIX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23899" y="2367457"/>
            <a:ext cx="4424559" cy="36727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endParaRPr lang="en-US" sz="600" dirty="0">
              <a:solidFill>
                <a:srgbClr val="FFFFFF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8FE426-6E96-6CD2-0160-D50B85927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13832"/>
              </p:ext>
            </p:extLst>
          </p:nvPr>
        </p:nvGraphicFramePr>
        <p:xfrm>
          <a:off x="1122558" y="2490758"/>
          <a:ext cx="3614540" cy="2246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3635">
                  <a:extLst>
                    <a:ext uri="{9D8B030D-6E8A-4147-A177-3AD203B41FA5}">
                      <a16:colId xmlns:a16="http://schemas.microsoft.com/office/drawing/2014/main" val="4097133367"/>
                    </a:ext>
                  </a:extLst>
                </a:gridCol>
                <a:gridCol w="903635">
                  <a:extLst>
                    <a:ext uri="{9D8B030D-6E8A-4147-A177-3AD203B41FA5}">
                      <a16:colId xmlns:a16="http://schemas.microsoft.com/office/drawing/2014/main" val="1446617375"/>
                    </a:ext>
                  </a:extLst>
                </a:gridCol>
                <a:gridCol w="903635">
                  <a:extLst>
                    <a:ext uri="{9D8B030D-6E8A-4147-A177-3AD203B41FA5}">
                      <a16:colId xmlns:a16="http://schemas.microsoft.com/office/drawing/2014/main" val="3585779605"/>
                    </a:ext>
                  </a:extLst>
                </a:gridCol>
                <a:gridCol w="903635">
                  <a:extLst>
                    <a:ext uri="{9D8B030D-6E8A-4147-A177-3AD203B41FA5}">
                      <a16:colId xmlns:a16="http://schemas.microsoft.com/office/drawing/2014/main" val="290903574"/>
                    </a:ext>
                  </a:extLst>
                </a:gridCol>
              </a:tblGrid>
              <a:tr h="312535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Original Data 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84497"/>
                  </a:ext>
                </a:extLst>
              </a:tr>
              <a:tr h="31253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2346359"/>
                  </a:ext>
                </a:extLst>
              </a:tr>
              <a:tr h="332068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848674"/>
                  </a:ext>
                </a:extLst>
              </a:tr>
              <a:tr h="33206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Predicted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4482288"/>
                  </a:ext>
                </a:extLst>
              </a:tr>
              <a:tr h="31253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2,161,242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2,161,944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1042972"/>
                  </a:ext>
                </a:extLst>
              </a:tr>
              <a:tr h="332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54,316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55,248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5966875"/>
                  </a:ext>
                </a:extLst>
              </a:tr>
              <a:tr h="3125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2,215,558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1,634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2,217,192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56377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51106E-68C8-CF56-C5E3-65898EAA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225673"/>
              </p:ext>
            </p:extLst>
          </p:nvPr>
        </p:nvGraphicFramePr>
        <p:xfrm>
          <a:off x="5575300" y="2490758"/>
          <a:ext cx="3746500" cy="2246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3903126929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11250979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397764526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150479820"/>
                    </a:ext>
                  </a:extLst>
                </a:gridCol>
              </a:tblGrid>
              <a:tr h="312535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Downsampled Data 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884632"/>
                  </a:ext>
                </a:extLst>
              </a:tr>
              <a:tr h="31253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0309591"/>
                  </a:ext>
                </a:extLst>
              </a:tr>
              <a:tr h="332068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024930"/>
                  </a:ext>
                </a:extLst>
              </a:tr>
              <a:tr h="33206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Predicted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475469"/>
                  </a:ext>
                </a:extLst>
              </a:tr>
              <a:tr h="31253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164,313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108,667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272,980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2471293"/>
                  </a:ext>
                </a:extLst>
              </a:tr>
              <a:tr h="33206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109,645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165,956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275,601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0150271"/>
                  </a:ext>
                </a:extLst>
              </a:tr>
              <a:tr h="3125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273,958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274,623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548,581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898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6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04237-153A-4A4F-A7E9-6926B66F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75" b="8655"/>
          <a:stretch/>
        </p:blipFill>
        <p:spPr>
          <a:xfrm>
            <a:off x="20" y="-3"/>
            <a:ext cx="12191980" cy="685800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19975AA-D532-4570-9193-6482D3F22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35450" y="-2235450"/>
            <a:ext cx="6858000" cy="11328901"/>
          </a:xfrm>
          <a:custGeom>
            <a:avLst/>
            <a:gdLst>
              <a:gd name="connsiteX0" fmla="*/ 0 w 6858000"/>
              <a:gd name="connsiteY0" fmla="*/ 2229335 h 11328901"/>
              <a:gd name="connsiteX1" fmla="*/ 0 w 6858000"/>
              <a:gd name="connsiteY1" fmla="*/ 0 h 11328901"/>
              <a:gd name="connsiteX2" fmla="*/ 6858000 w 6858000"/>
              <a:gd name="connsiteY2" fmla="*/ 6010593 h 11328901"/>
              <a:gd name="connsiteX3" fmla="*/ 6858000 w 6858000"/>
              <a:gd name="connsiteY3" fmla="*/ 6052915 h 11328901"/>
              <a:gd name="connsiteX4" fmla="*/ 6858000 w 6858000"/>
              <a:gd name="connsiteY4" fmla="*/ 6052915 h 11328901"/>
              <a:gd name="connsiteX5" fmla="*/ 6858000 w 6858000"/>
              <a:gd name="connsiteY5" fmla="*/ 9053844 h 11328901"/>
              <a:gd name="connsiteX6" fmla="*/ 6858000 w 6858000"/>
              <a:gd name="connsiteY6" fmla="*/ 11328901 h 11328901"/>
              <a:gd name="connsiteX7" fmla="*/ 1 w 6858000"/>
              <a:gd name="connsiteY7" fmla="*/ 11328901 h 11328901"/>
              <a:gd name="connsiteX8" fmla="*/ 1 w 6858000"/>
              <a:gd name="connsiteY8" fmla="*/ 9359065 h 11328901"/>
              <a:gd name="connsiteX9" fmla="*/ 0 w 6858000"/>
              <a:gd name="connsiteY9" fmla="*/ 9359065 h 11328901"/>
              <a:gd name="connsiteX10" fmla="*/ 0 w 6858000"/>
              <a:gd name="connsiteY10" fmla="*/ 6535740 h 11328901"/>
              <a:gd name="connsiteX11" fmla="*/ 1 w 6858000"/>
              <a:gd name="connsiteY11" fmla="*/ 6535740 h 11328901"/>
              <a:gd name="connsiteX12" fmla="*/ 1 w 6858000"/>
              <a:gd name="connsiteY12" fmla="*/ 2229336 h 11328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1328901">
                <a:moveTo>
                  <a:pt x="0" y="2229335"/>
                </a:moveTo>
                <a:lnTo>
                  <a:pt x="0" y="0"/>
                </a:lnTo>
                <a:lnTo>
                  <a:pt x="6858000" y="6010593"/>
                </a:lnTo>
                <a:lnTo>
                  <a:pt x="6858000" y="6052915"/>
                </a:lnTo>
                <a:lnTo>
                  <a:pt x="6858000" y="6052915"/>
                </a:lnTo>
                <a:lnTo>
                  <a:pt x="6858000" y="9053844"/>
                </a:lnTo>
                <a:lnTo>
                  <a:pt x="6858000" y="11328901"/>
                </a:lnTo>
                <a:lnTo>
                  <a:pt x="1" y="11328901"/>
                </a:lnTo>
                <a:lnTo>
                  <a:pt x="1" y="9359065"/>
                </a:lnTo>
                <a:lnTo>
                  <a:pt x="0" y="9359065"/>
                </a:lnTo>
                <a:lnTo>
                  <a:pt x="0" y="6535740"/>
                </a:lnTo>
                <a:lnTo>
                  <a:pt x="1" y="6535740"/>
                </a:lnTo>
                <a:lnTo>
                  <a:pt x="1" y="2229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CA8974-7BA7-4828-89E2-6DAD7353B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383" y="279401"/>
            <a:ext cx="6657108" cy="28324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STEPS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965200"/>
            <a:ext cx="6794499" cy="48600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Feature engineering and hyperparameters tuning in more details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Creating more meaningful variables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Exploring different feature combinations and data subset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11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5" b="8655"/>
          <a:stretch/>
        </p:blipFill>
        <p:spPr>
          <a:xfrm>
            <a:off x="20" y="287076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336153"/>
            <a:ext cx="6864177" cy="5626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</a:rPr>
              <a:t>MODEL 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058" y="1032733"/>
            <a:ext cx="5289697" cy="3795823"/>
          </a:xfrm>
        </p:spPr>
        <p:txBody>
          <a:bodyPr anchor="b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A285D-186F-4B35-9DB5-4E5C8AE64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843" y="898793"/>
            <a:ext cx="6692357" cy="58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4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EA7A5B5D-145F-4D2F-580B-E773D32B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5" b="8655"/>
          <a:stretch/>
        </p:blipFill>
        <p:spPr>
          <a:xfrm>
            <a:off x="20" y="287076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0A2D38-3635-1B5A-8B39-C5CFBA4C9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336153"/>
            <a:ext cx="6864177" cy="5626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</a:rPr>
              <a:t>MODEL 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A8EA1-F9D4-56D1-395F-988346935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058" y="1032733"/>
            <a:ext cx="5289697" cy="3795823"/>
          </a:xfrm>
        </p:spPr>
        <p:txBody>
          <a:bodyPr anchor="b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F35E5E-5480-83F9-9CEF-EBA068AF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763" y="947870"/>
            <a:ext cx="5226130" cy="585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1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gattaVTI">
  <a:themeElements>
    <a:clrScheme name="AnalogousFromLightSeedLeftStep">
      <a:dk1>
        <a:srgbClr val="000000"/>
      </a:dk1>
      <a:lt1>
        <a:srgbClr val="FFFFFF"/>
      </a:lt1>
      <a:dk2>
        <a:srgbClr val="243241"/>
      </a:dk2>
      <a:lt2>
        <a:srgbClr val="E2E5E8"/>
      </a:lt2>
      <a:accent1>
        <a:srgbClr val="BA9C80"/>
      </a:accent1>
      <a:accent2>
        <a:srgbClr val="BA827F"/>
      </a:accent2>
      <a:accent3>
        <a:srgbClr val="C594A6"/>
      </a:accent3>
      <a:accent4>
        <a:srgbClr val="BA7FAD"/>
      </a:accent4>
      <a:accent5>
        <a:srgbClr val="BC94C5"/>
      </a:accent5>
      <a:accent6>
        <a:srgbClr val="967FBA"/>
      </a:accent6>
      <a:hlink>
        <a:srgbClr val="5E85A8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8197</TotalTime>
  <Words>649</Words>
  <Application>Microsoft Macintosh PowerPoint</Application>
  <PresentationFormat>Widescreen</PresentationFormat>
  <Paragraphs>337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Al Bayan Plain</vt:lpstr>
      <vt:lpstr>Al Bayan Plain</vt:lpstr>
      <vt:lpstr>Aptos</vt:lpstr>
      <vt:lpstr>Aptos Narrow</vt:lpstr>
      <vt:lpstr>Arial</vt:lpstr>
      <vt:lpstr>Calibri</vt:lpstr>
      <vt:lpstr>Courier New</vt:lpstr>
      <vt:lpstr>Walbaum Display</vt:lpstr>
      <vt:lpstr>RegattaVTI</vt:lpstr>
      <vt:lpstr>Flight Status Predictor</vt:lpstr>
      <vt:lpstr>Table of contents</vt:lpstr>
      <vt:lpstr>PROBLEM</vt:lpstr>
      <vt:lpstr>Overview</vt:lpstr>
      <vt:lpstr>Process</vt:lpstr>
      <vt:lpstr>data</vt:lpstr>
      <vt:lpstr>Data – correlations between features</vt:lpstr>
      <vt:lpstr>PRELIMINARY Data Analysis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METHODOLOGY</vt:lpstr>
      <vt:lpstr>METHODOLOGY</vt:lpstr>
      <vt:lpstr>MODEL COMPARISON</vt:lpstr>
      <vt:lpstr>MODEL COMPARISON</vt:lpstr>
      <vt:lpstr>Confusion MATRIX</vt:lpstr>
      <vt:lpstr>NEXT STEPS </vt:lpstr>
      <vt:lpstr>MODEL DEPLOYMENT</vt:lpstr>
      <vt:lpstr>MODEL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Wheeler</dc:creator>
  <cp:lastModifiedBy>Marta Wheeler</cp:lastModifiedBy>
  <cp:revision>26</cp:revision>
  <dcterms:created xsi:type="dcterms:W3CDTF">2024-08-03T00:51:50Z</dcterms:created>
  <dcterms:modified xsi:type="dcterms:W3CDTF">2025-07-02T16:23:01Z</dcterms:modified>
</cp:coreProperties>
</file>