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sldIdLst>
    <p:sldId id="2561" r:id="rId2"/>
    <p:sldId id="2585" r:id="rId3"/>
    <p:sldId id="2586" r:id="rId4"/>
    <p:sldId id="2588" r:id="rId5"/>
    <p:sldId id="2590" r:id="rId6"/>
    <p:sldId id="2591" r:id="rId7"/>
    <p:sldId id="2592" r:id="rId8"/>
    <p:sldId id="2594" r:id="rId9"/>
    <p:sldId id="2587" r:id="rId10"/>
    <p:sldId id="2595" r:id="rId11"/>
    <p:sldId id="2600" r:id="rId12"/>
    <p:sldId id="2596" r:id="rId13"/>
    <p:sldId id="2609" r:id="rId14"/>
    <p:sldId id="2611" r:id="rId15"/>
    <p:sldId id="2597" r:id="rId16"/>
    <p:sldId id="2601" r:id="rId17"/>
    <p:sldId id="2602" r:id="rId18"/>
    <p:sldId id="2607" r:id="rId19"/>
    <p:sldId id="2608" r:id="rId20"/>
    <p:sldId id="2604" r:id="rId21"/>
    <p:sldId id="2605" r:id="rId22"/>
    <p:sldId id="2606" r:id="rId23"/>
    <p:sldId id="2612" r:id="rId24"/>
    <p:sldId id="2617" r:id="rId25"/>
    <p:sldId id="2616" r:id="rId26"/>
    <p:sldId id="2627" r:id="rId27"/>
    <p:sldId id="2628" r:id="rId28"/>
    <p:sldId id="2632" r:id="rId29"/>
    <p:sldId id="2629" r:id="rId30"/>
    <p:sldId id="2618" r:id="rId31"/>
    <p:sldId id="2619" r:id="rId32"/>
    <p:sldId id="2620" r:id="rId33"/>
    <p:sldId id="2621" r:id="rId34"/>
    <p:sldId id="2622" r:id="rId35"/>
    <p:sldId id="2634" r:id="rId36"/>
    <p:sldId id="2624" r:id="rId37"/>
    <p:sldId id="2635" r:id="rId38"/>
    <p:sldId id="2614" r:id="rId39"/>
    <p:sldId id="2615" r:id="rId40"/>
    <p:sldId id="262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Personal Finance: Visualizing Your Money Through Numbers and Charts" id="{022BD94D-A766-452C-B003-7450A5938E90}">
          <p14:sldIdLst>
            <p14:sldId id="2561"/>
            <p14:sldId id="2585"/>
            <p14:sldId id="2586"/>
            <p14:sldId id="2588"/>
            <p14:sldId id="2590"/>
            <p14:sldId id="2591"/>
            <p14:sldId id="2592"/>
            <p14:sldId id="2594"/>
            <p14:sldId id="2587"/>
            <p14:sldId id="2595"/>
            <p14:sldId id="2600"/>
            <p14:sldId id="2596"/>
            <p14:sldId id="2609"/>
            <p14:sldId id="2611"/>
            <p14:sldId id="2597"/>
            <p14:sldId id="2601"/>
            <p14:sldId id="2602"/>
            <p14:sldId id="2607"/>
            <p14:sldId id="2608"/>
            <p14:sldId id="2604"/>
            <p14:sldId id="2605"/>
            <p14:sldId id="2606"/>
            <p14:sldId id="2612"/>
            <p14:sldId id="2617"/>
            <p14:sldId id="2616"/>
            <p14:sldId id="2627"/>
            <p14:sldId id="2628"/>
            <p14:sldId id="2632"/>
            <p14:sldId id="2629"/>
            <p14:sldId id="2618"/>
            <p14:sldId id="2619"/>
            <p14:sldId id="2620"/>
            <p14:sldId id="2621"/>
            <p14:sldId id="2622"/>
            <p14:sldId id="2634"/>
            <p14:sldId id="2624"/>
            <p14:sldId id="2635"/>
            <p14:sldId id="2614"/>
            <p14:sldId id="2615"/>
            <p14:sldId id="26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86"/>
    <p:restoredTop sz="94696"/>
  </p:normalViewPr>
  <p:slideViewPr>
    <p:cSldViewPr snapToGrid="0">
      <p:cViewPr varScale="1">
        <p:scale>
          <a:sx n="128" d="100"/>
          <a:sy n="128" d="100"/>
        </p:scale>
        <p:origin x="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2E6915-BA64-4D33-8096-98016BF09E4C}"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B70DF8FD-F531-4605-82F8-033D8160A0DD}">
      <dgm:prSet phldrT="[Text]" custT="1"/>
      <dgm:spPr>
        <a:solidFill>
          <a:schemeClr val="bg2">
            <a:lumMod val="75000"/>
          </a:schemeClr>
        </a:solidFill>
      </dgm:spPr>
      <dgm:t>
        <a:bodyPr/>
        <a:lstStyle/>
        <a:p>
          <a:r>
            <a:rPr lang="en-US" sz="1200" baseline="0" dirty="0">
              <a:solidFill>
                <a:schemeClr val="bg1"/>
              </a:solidFill>
              <a:latin typeface="Calibri" panose="020F0502020204030204" pitchFamily="34" charset="0"/>
            </a:rPr>
            <a:t>Data</a:t>
          </a:r>
        </a:p>
      </dgm:t>
    </dgm:pt>
    <dgm:pt modelId="{D3C0ABF1-5530-466D-BFBD-B0C330FCE35E}" type="parTrans" cxnId="{8CC4A422-9251-431B-AB63-AF4431D701ED}">
      <dgm:prSet/>
      <dgm:spPr/>
      <dgm:t>
        <a:bodyPr/>
        <a:lstStyle/>
        <a:p>
          <a:endParaRPr lang="en-US"/>
        </a:p>
      </dgm:t>
    </dgm:pt>
    <dgm:pt modelId="{B3146C61-0FC7-43CE-B35D-8050ED5F287E}" type="sibTrans" cxnId="{8CC4A422-9251-431B-AB63-AF4431D701ED}">
      <dgm:prSet/>
      <dgm:spPr>
        <a:solidFill>
          <a:schemeClr val="bg2">
            <a:lumMod val="75000"/>
          </a:schemeClr>
        </a:solidFill>
      </dgm:spPr>
      <dgm:t>
        <a:bodyPr/>
        <a:lstStyle/>
        <a:p>
          <a:endParaRPr lang="en-US">
            <a:solidFill>
              <a:schemeClr val="bg1"/>
            </a:solidFill>
          </a:endParaRPr>
        </a:p>
      </dgm:t>
    </dgm:pt>
    <dgm:pt modelId="{FD9FA501-BC78-4A42-8FDC-C2C0353A20EB}">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Acquiring sensible dataset</a:t>
          </a:r>
        </a:p>
      </dgm:t>
    </dgm:pt>
    <dgm:pt modelId="{4F8F6A16-FB9C-4BA0-B4B6-81D86C0386E8}" type="parTrans" cxnId="{E909A89F-E327-44F2-9DFD-F376FC980396}">
      <dgm:prSet/>
      <dgm:spPr/>
      <dgm:t>
        <a:bodyPr/>
        <a:lstStyle/>
        <a:p>
          <a:endParaRPr lang="en-US"/>
        </a:p>
      </dgm:t>
    </dgm:pt>
    <dgm:pt modelId="{D8B69EB0-5EC8-42FE-9999-49F8E5CE0E15}" type="sibTrans" cxnId="{E909A89F-E327-44F2-9DFD-F376FC980396}">
      <dgm:prSet/>
      <dgm:spPr/>
      <dgm:t>
        <a:bodyPr/>
        <a:lstStyle/>
        <a:p>
          <a:endParaRPr lang="en-US"/>
        </a:p>
      </dgm:t>
    </dgm:pt>
    <dgm:pt modelId="{BFC20D47-2E00-4A88-B1DC-4DD876C36120}">
      <dgm:prSet phldrT="[Text]" custT="1"/>
      <dgm:spPr>
        <a:solidFill>
          <a:schemeClr val="bg2">
            <a:lumMod val="75000"/>
          </a:schemeClr>
        </a:solidFill>
      </dgm:spPr>
      <dgm:t>
        <a:bodyPr/>
        <a:lstStyle/>
        <a:p>
          <a:r>
            <a:rPr lang="en-US" sz="1200" baseline="0" dirty="0">
              <a:solidFill>
                <a:schemeClr val="bg1"/>
              </a:solidFill>
              <a:latin typeface="Calibri" panose="020F0502020204030204" pitchFamily="34" charset="0"/>
            </a:rPr>
            <a:t>Data Cleaning</a:t>
          </a:r>
        </a:p>
      </dgm:t>
    </dgm:pt>
    <dgm:pt modelId="{0A32ACBA-73D0-4041-8EF5-0C926814A363}" type="parTrans" cxnId="{37D8A7C2-EAA2-4E0B-8E92-F08BF2662244}">
      <dgm:prSet/>
      <dgm:spPr/>
      <dgm:t>
        <a:bodyPr/>
        <a:lstStyle/>
        <a:p>
          <a:endParaRPr lang="en-US"/>
        </a:p>
      </dgm:t>
    </dgm:pt>
    <dgm:pt modelId="{5D46312C-1D2F-4BF8-B058-88FD24D42F3A}" type="sibTrans" cxnId="{37D8A7C2-EAA2-4E0B-8E92-F08BF2662244}">
      <dgm:prSet/>
      <dgm:spPr>
        <a:solidFill>
          <a:schemeClr val="bg2">
            <a:lumMod val="75000"/>
          </a:schemeClr>
        </a:solidFill>
      </dgm:spPr>
      <dgm:t>
        <a:bodyPr/>
        <a:lstStyle/>
        <a:p>
          <a:endParaRPr lang="en-US">
            <a:solidFill>
              <a:schemeClr val="bg1"/>
            </a:solidFill>
          </a:endParaRPr>
        </a:p>
      </dgm:t>
    </dgm:pt>
    <dgm:pt modelId="{95FE68B3-6C65-457D-B09B-FA948F6B16DA}">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Removing irrelevant fields</a:t>
          </a:r>
        </a:p>
      </dgm:t>
    </dgm:pt>
    <dgm:pt modelId="{78CD3F98-1FF9-43A0-8F82-314CBE2C223E}" type="parTrans" cxnId="{CE09495F-CE2B-43EC-A768-BF77CD39682E}">
      <dgm:prSet/>
      <dgm:spPr/>
      <dgm:t>
        <a:bodyPr/>
        <a:lstStyle/>
        <a:p>
          <a:endParaRPr lang="en-US"/>
        </a:p>
      </dgm:t>
    </dgm:pt>
    <dgm:pt modelId="{BC82534E-B214-4210-9CAD-C19E50FCA23C}" type="sibTrans" cxnId="{CE09495F-CE2B-43EC-A768-BF77CD39682E}">
      <dgm:prSet/>
      <dgm:spPr/>
      <dgm:t>
        <a:bodyPr/>
        <a:lstStyle/>
        <a:p>
          <a:endParaRPr lang="en-US"/>
        </a:p>
      </dgm:t>
    </dgm:pt>
    <dgm:pt modelId="{DC4ECD40-BC4D-4A16-80C6-3CE684DAD85B}">
      <dgm:prSet phldrT="[Text]" custT="1"/>
      <dgm:spPr>
        <a:solidFill>
          <a:schemeClr val="bg2">
            <a:lumMod val="75000"/>
          </a:schemeClr>
        </a:solidFill>
      </dgm:spPr>
      <dgm:t>
        <a:bodyPr/>
        <a:lstStyle/>
        <a:p>
          <a:r>
            <a:rPr lang="en-US" sz="1200" baseline="0" dirty="0">
              <a:solidFill>
                <a:schemeClr val="bg1"/>
              </a:solidFill>
              <a:latin typeface="Calibri" panose="020F0502020204030204" pitchFamily="34" charset="0"/>
            </a:rPr>
            <a:t>Feature Selection</a:t>
          </a:r>
        </a:p>
      </dgm:t>
    </dgm:pt>
    <dgm:pt modelId="{E548D34F-D7A9-4842-99EA-EDB5811F8BDD}" type="parTrans" cxnId="{25CA0401-35AA-4140-A767-244D26B194F9}">
      <dgm:prSet/>
      <dgm:spPr/>
      <dgm:t>
        <a:bodyPr/>
        <a:lstStyle/>
        <a:p>
          <a:endParaRPr lang="en-US"/>
        </a:p>
      </dgm:t>
    </dgm:pt>
    <dgm:pt modelId="{E4B86704-EC5C-4E76-B8B4-9EB9D8594B90}" type="sibTrans" cxnId="{25CA0401-35AA-4140-A767-244D26B194F9}">
      <dgm:prSet/>
      <dgm:spPr>
        <a:solidFill>
          <a:schemeClr val="bg2">
            <a:lumMod val="75000"/>
          </a:schemeClr>
        </a:solidFill>
      </dgm:spPr>
      <dgm:t>
        <a:bodyPr/>
        <a:lstStyle/>
        <a:p>
          <a:endParaRPr lang="en-US">
            <a:solidFill>
              <a:schemeClr val="bg1"/>
            </a:solidFill>
          </a:endParaRPr>
        </a:p>
      </dgm:t>
    </dgm:pt>
    <dgm:pt modelId="{81D9A94D-9103-4CC7-B976-A43680099733}">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Choosing best features for the model</a:t>
          </a:r>
        </a:p>
      </dgm:t>
    </dgm:pt>
    <dgm:pt modelId="{90AB9648-232E-4078-A5EA-C183843F4DAE}" type="parTrans" cxnId="{AAF6DE8D-BBE1-44B9-B638-E72AD8E8EF9D}">
      <dgm:prSet/>
      <dgm:spPr/>
      <dgm:t>
        <a:bodyPr/>
        <a:lstStyle/>
        <a:p>
          <a:endParaRPr lang="en-US"/>
        </a:p>
      </dgm:t>
    </dgm:pt>
    <dgm:pt modelId="{3FCB6015-8A26-4617-91E5-AFEA3C3856BF}" type="sibTrans" cxnId="{AAF6DE8D-BBE1-44B9-B638-E72AD8E8EF9D}">
      <dgm:prSet/>
      <dgm:spPr/>
      <dgm:t>
        <a:bodyPr/>
        <a:lstStyle/>
        <a:p>
          <a:endParaRPr lang="en-US"/>
        </a:p>
      </dgm:t>
    </dgm:pt>
    <dgm:pt modelId="{CB0403CA-86CA-4285-9A5D-0E06BC834777}">
      <dgm:prSet phldrT="[Text]" custT="1"/>
      <dgm:spPr>
        <a:solidFill>
          <a:schemeClr val="bg2">
            <a:lumMod val="75000"/>
            <a:alpha val="90000"/>
          </a:schemeClr>
        </a:solidFill>
        <a:ln>
          <a:solidFill>
            <a:schemeClr val="tx1"/>
          </a:solidFill>
        </a:ln>
      </dgm:spPr>
      <dgm:t>
        <a:bodyPr/>
        <a:lstStyle/>
        <a:p>
          <a:r>
            <a:rPr lang="en-US" sz="1200" baseline="0" dirty="0">
              <a:solidFill>
                <a:schemeClr val="bg1"/>
              </a:solidFill>
              <a:latin typeface="Calibri" panose="020F0502020204030204" pitchFamily="34" charset="0"/>
            </a:rPr>
            <a:t>Hyperparameter Tuning</a:t>
          </a:r>
        </a:p>
      </dgm:t>
    </dgm:pt>
    <dgm:pt modelId="{A4B8576A-1E67-4D9D-BC33-E05258689E8F}" type="parTrans" cxnId="{4E8C08C3-08E5-4B85-9B37-98F7A1618434}">
      <dgm:prSet/>
      <dgm:spPr/>
      <dgm:t>
        <a:bodyPr/>
        <a:lstStyle/>
        <a:p>
          <a:endParaRPr lang="en-US"/>
        </a:p>
      </dgm:t>
    </dgm:pt>
    <dgm:pt modelId="{DA6AB490-C29C-4F64-B8C8-582927B51B18}" type="sibTrans" cxnId="{4E8C08C3-08E5-4B85-9B37-98F7A1618434}">
      <dgm:prSet/>
      <dgm:spPr>
        <a:solidFill>
          <a:schemeClr val="bg2">
            <a:lumMod val="75000"/>
          </a:schemeClr>
        </a:solidFill>
      </dgm:spPr>
      <dgm:t>
        <a:bodyPr/>
        <a:lstStyle/>
        <a:p>
          <a:endParaRPr lang="en-US">
            <a:solidFill>
              <a:schemeClr val="bg1"/>
            </a:solidFill>
          </a:endParaRPr>
        </a:p>
      </dgm:t>
    </dgm:pt>
    <dgm:pt modelId="{C7DC98C6-0F05-4169-9A65-550B3CCE1284}">
      <dgm:prSet phldrT="[Text]" custT="1"/>
      <dgm:spPr>
        <a:solidFill>
          <a:schemeClr val="bg2">
            <a:lumMod val="75000"/>
            <a:alpha val="90000"/>
          </a:schemeClr>
        </a:solidFill>
        <a:ln>
          <a:solidFill>
            <a:schemeClr val="tx1"/>
          </a:solidFill>
        </a:ln>
      </dgm:spPr>
      <dgm:t>
        <a:bodyPr/>
        <a:lstStyle/>
        <a:p>
          <a:r>
            <a:rPr lang="en-US" sz="1200" baseline="0" dirty="0">
              <a:solidFill>
                <a:schemeClr val="bg1"/>
              </a:solidFill>
              <a:latin typeface="Calibri" panose="020F0502020204030204" pitchFamily="34" charset="0"/>
            </a:rPr>
            <a:t>Testing</a:t>
          </a:r>
        </a:p>
      </dgm:t>
    </dgm:pt>
    <dgm:pt modelId="{8295682B-DAE9-4D5F-958A-DC2E8D8BE36C}" type="parTrans" cxnId="{E421E6EE-3992-4868-8E45-58066F572CE2}">
      <dgm:prSet/>
      <dgm:spPr/>
      <dgm:t>
        <a:bodyPr/>
        <a:lstStyle/>
        <a:p>
          <a:endParaRPr lang="en-US"/>
        </a:p>
      </dgm:t>
    </dgm:pt>
    <dgm:pt modelId="{783B4672-F556-4E1E-8A63-39D24315AFB9}" type="sibTrans" cxnId="{E421E6EE-3992-4868-8E45-58066F572CE2}">
      <dgm:prSet/>
      <dgm:spPr>
        <a:solidFill>
          <a:schemeClr val="bg2">
            <a:lumMod val="75000"/>
          </a:schemeClr>
        </a:solidFill>
      </dgm:spPr>
      <dgm:t>
        <a:bodyPr/>
        <a:lstStyle/>
        <a:p>
          <a:endParaRPr lang="en-US">
            <a:solidFill>
              <a:schemeClr val="bg1"/>
            </a:solidFill>
          </a:endParaRPr>
        </a:p>
      </dgm:t>
    </dgm:pt>
    <dgm:pt modelId="{F69D2EF2-E11C-4889-B866-B567167CEC5D}">
      <dgm:prSet phldrT="[Text]" custT="1"/>
      <dgm:spPr>
        <a:solidFill>
          <a:schemeClr val="bg2">
            <a:lumMod val="75000"/>
            <a:alpha val="90000"/>
          </a:schemeClr>
        </a:solidFill>
        <a:ln>
          <a:solidFill>
            <a:schemeClr val="tx1"/>
          </a:solidFill>
        </a:ln>
      </dgm:spPr>
      <dgm:t>
        <a:bodyPr/>
        <a:lstStyle/>
        <a:p>
          <a:r>
            <a:rPr lang="en-US" sz="1200" baseline="0" dirty="0">
              <a:solidFill>
                <a:schemeClr val="bg1"/>
              </a:solidFill>
              <a:latin typeface="Calibri" panose="020F0502020204030204" pitchFamily="34" charset="0"/>
            </a:rPr>
            <a:t>Model Selection</a:t>
          </a:r>
        </a:p>
      </dgm:t>
    </dgm:pt>
    <dgm:pt modelId="{86A2399C-B8CB-4154-8882-3E9BBB3C3E52}" type="parTrans" cxnId="{EBF12F44-2DB2-431C-933A-1FD36C3508F8}">
      <dgm:prSet/>
      <dgm:spPr/>
      <dgm:t>
        <a:bodyPr/>
        <a:lstStyle/>
        <a:p>
          <a:endParaRPr lang="en-US"/>
        </a:p>
      </dgm:t>
    </dgm:pt>
    <dgm:pt modelId="{968096ED-B827-4729-A75E-49477F4D4FC4}" type="sibTrans" cxnId="{EBF12F44-2DB2-431C-933A-1FD36C3508F8}">
      <dgm:prSet/>
      <dgm:spPr/>
      <dgm:t>
        <a:bodyPr/>
        <a:lstStyle/>
        <a:p>
          <a:endParaRPr lang="en-US"/>
        </a:p>
      </dgm:t>
    </dgm:pt>
    <dgm:pt modelId="{CF7338DD-0BEA-48FE-9701-CFEE8FF01CD8}">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Removing NULL values</a:t>
          </a:r>
        </a:p>
      </dgm:t>
    </dgm:pt>
    <dgm:pt modelId="{5E09C4E1-0904-4455-9896-A672BCC77487}" type="parTrans" cxnId="{2803BDB6-FE58-4114-8893-5EBEA3C5CC3D}">
      <dgm:prSet/>
      <dgm:spPr/>
      <dgm:t>
        <a:bodyPr/>
        <a:lstStyle/>
        <a:p>
          <a:endParaRPr lang="en-US"/>
        </a:p>
      </dgm:t>
    </dgm:pt>
    <dgm:pt modelId="{CDE84DD5-A50F-475B-882A-586A1628D792}" type="sibTrans" cxnId="{2803BDB6-FE58-4114-8893-5EBEA3C5CC3D}">
      <dgm:prSet/>
      <dgm:spPr/>
      <dgm:t>
        <a:bodyPr/>
        <a:lstStyle/>
        <a:p>
          <a:endParaRPr lang="en-US"/>
        </a:p>
      </dgm:t>
    </dgm:pt>
    <dgm:pt modelId="{061E299F-DC25-4BD5-8A1A-0599F603380F}">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Depending on the model</a:t>
          </a:r>
        </a:p>
      </dgm:t>
    </dgm:pt>
    <dgm:pt modelId="{9C7F123F-925E-42D9-BFB6-61553E5D8040}" type="parTrans" cxnId="{25E377F8-872B-47AD-B3E0-035D030FCC15}">
      <dgm:prSet/>
      <dgm:spPr/>
      <dgm:t>
        <a:bodyPr/>
        <a:lstStyle/>
        <a:p>
          <a:endParaRPr lang="en-US"/>
        </a:p>
      </dgm:t>
    </dgm:pt>
    <dgm:pt modelId="{18C9A68B-16C8-49B8-9141-3BDF20446015}" type="sibTrans" cxnId="{25E377F8-872B-47AD-B3E0-035D030FCC15}">
      <dgm:prSet/>
      <dgm:spPr/>
      <dgm:t>
        <a:bodyPr/>
        <a:lstStyle/>
        <a:p>
          <a:endParaRPr lang="en-US"/>
        </a:p>
      </dgm:t>
    </dgm:pt>
    <dgm:pt modelId="{10EF17FF-FC60-4847-A649-86CAE1F02FAB}">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Confusion matrix</a:t>
          </a:r>
        </a:p>
      </dgm:t>
    </dgm:pt>
    <dgm:pt modelId="{CC7EDF4D-5E2D-4FE9-A543-2D629834322D}" type="parTrans" cxnId="{BB1C75A7-50BE-4553-BE03-41548F9A3B44}">
      <dgm:prSet/>
      <dgm:spPr/>
      <dgm:t>
        <a:bodyPr/>
        <a:lstStyle/>
        <a:p>
          <a:endParaRPr lang="en-US"/>
        </a:p>
      </dgm:t>
    </dgm:pt>
    <dgm:pt modelId="{A1225C17-E8DE-4E23-B837-F5DA6B9B524C}" type="sibTrans" cxnId="{BB1C75A7-50BE-4553-BE03-41548F9A3B44}">
      <dgm:prSet/>
      <dgm:spPr/>
      <dgm:t>
        <a:bodyPr/>
        <a:lstStyle/>
        <a:p>
          <a:endParaRPr lang="en-US"/>
        </a:p>
      </dgm:t>
    </dgm:pt>
    <dgm:pt modelId="{422AAD75-EA81-42C5-AD2E-97C131624326}">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Accuracy</a:t>
          </a:r>
        </a:p>
      </dgm:t>
    </dgm:pt>
    <dgm:pt modelId="{06554445-3592-4750-9E09-1F97E28FB74A}" type="parTrans" cxnId="{971E8D1A-2144-4C4A-A71C-BE5A2AAA9F57}">
      <dgm:prSet/>
      <dgm:spPr/>
      <dgm:t>
        <a:bodyPr/>
        <a:lstStyle/>
        <a:p>
          <a:endParaRPr lang="en-US"/>
        </a:p>
      </dgm:t>
    </dgm:pt>
    <dgm:pt modelId="{960F3935-A948-4EE8-9942-91DCC962D017}" type="sibTrans" cxnId="{971E8D1A-2144-4C4A-A71C-BE5A2AAA9F57}">
      <dgm:prSet/>
      <dgm:spPr/>
      <dgm:t>
        <a:bodyPr/>
        <a:lstStyle/>
        <a:p>
          <a:endParaRPr lang="en-US"/>
        </a:p>
      </dgm:t>
    </dgm:pt>
    <dgm:pt modelId="{FDAC5B5F-A72F-430A-A8B8-246618C4325C}">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Sensitivity</a:t>
          </a:r>
        </a:p>
      </dgm:t>
    </dgm:pt>
    <dgm:pt modelId="{AC6EEB84-37BB-4123-8825-113188179548}" type="parTrans" cxnId="{B539BD88-B1D0-4DA8-9AB3-D240B674F022}">
      <dgm:prSet/>
      <dgm:spPr/>
      <dgm:t>
        <a:bodyPr/>
        <a:lstStyle/>
        <a:p>
          <a:endParaRPr lang="en-US"/>
        </a:p>
      </dgm:t>
    </dgm:pt>
    <dgm:pt modelId="{0E9CED31-82DD-4F5A-BA6A-32749A07350C}" type="sibTrans" cxnId="{B539BD88-B1D0-4DA8-9AB3-D240B674F022}">
      <dgm:prSet/>
      <dgm:spPr/>
      <dgm:t>
        <a:bodyPr/>
        <a:lstStyle/>
        <a:p>
          <a:endParaRPr lang="en-US"/>
        </a:p>
      </dgm:t>
    </dgm:pt>
    <dgm:pt modelId="{8E70CCF7-6ACB-49B0-ABC3-08E9BE5CEC45}">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Specificity</a:t>
          </a:r>
        </a:p>
      </dgm:t>
    </dgm:pt>
    <dgm:pt modelId="{3B0072A8-F065-4E77-AD37-7D023DAEA1AA}" type="parTrans" cxnId="{4A7A2D75-DE99-4B17-A81D-14575B632E50}">
      <dgm:prSet/>
      <dgm:spPr/>
      <dgm:t>
        <a:bodyPr/>
        <a:lstStyle/>
        <a:p>
          <a:endParaRPr lang="en-US"/>
        </a:p>
      </dgm:t>
    </dgm:pt>
    <dgm:pt modelId="{8B2384DB-6DBD-492E-B221-8808392AE142}" type="sibTrans" cxnId="{4A7A2D75-DE99-4B17-A81D-14575B632E50}">
      <dgm:prSet/>
      <dgm:spPr/>
      <dgm:t>
        <a:bodyPr/>
        <a:lstStyle/>
        <a:p>
          <a:endParaRPr lang="en-US"/>
        </a:p>
      </dgm:t>
    </dgm:pt>
    <dgm:pt modelId="{1970A786-2E66-43CE-BC9F-B6E277BA40CE}">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Choosing model with best testing </a:t>
          </a:r>
          <a:r>
            <a:rPr lang="en-US" sz="1000" baseline="0" dirty="0">
              <a:solidFill>
                <a:schemeClr val="bg1"/>
              </a:solidFill>
              <a:latin typeface="Calibri" panose="020F0502020204030204" pitchFamily="34" charset="0"/>
            </a:rPr>
            <a:t>results</a:t>
          </a:r>
        </a:p>
      </dgm:t>
    </dgm:pt>
    <dgm:pt modelId="{67C30FAE-0DFD-4570-BB1B-9163FC29FD39}" type="parTrans" cxnId="{2E1029A3-65EA-43FC-B4A2-416A5771C219}">
      <dgm:prSet/>
      <dgm:spPr/>
      <dgm:t>
        <a:bodyPr/>
        <a:lstStyle/>
        <a:p>
          <a:endParaRPr lang="en-US"/>
        </a:p>
      </dgm:t>
    </dgm:pt>
    <dgm:pt modelId="{18F974BA-56DC-4F47-A8C8-62688279C83F}" type="sibTrans" cxnId="{2E1029A3-65EA-43FC-B4A2-416A5771C219}">
      <dgm:prSet/>
      <dgm:spPr/>
      <dgm:t>
        <a:bodyPr/>
        <a:lstStyle/>
        <a:p>
          <a:endParaRPr lang="en-US"/>
        </a:p>
      </dgm:t>
    </dgm:pt>
    <dgm:pt modelId="{46B22683-09A2-40C8-981C-E36263815538}">
      <dgm:prSe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Precision</a:t>
          </a:r>
        </a:p>
      </dgm:t>
    </dgm:pt>
    <dgm:pt modelId="{D9840235-9194-4976-BFF9-21DF5B3F2AEE}" type="parTrans" cxnId="{AD5688D5-EECA-4005-ABC7-6BEAC7305A31}">
      <dgm:prSet/>
      <dgm:spPr/>
      <dgm:t>
        <a:bodyPr/>
        <a:lstStyle/>
        <a:p>
          <a:endParaRPr lang="en-US"/>
        </a:p>
      </dgm:t>
    </dgm:pt>
    <dgm:pt modelId="{30FF4140-33BD-4E54-9FC0-9B6E38C702CF}" type="sibTrans" cxnId="{AD5688D5-EECA-4005-ABC7-6BEAC7305A31}">
      <dgm:prSet/>
      <dgm:spPr/>
      <dgm:t>
        <a:bodyPr/>
        <a:lstStyle/>
        <a:p>
          <a:endParaRPr lang="en-US"/>
        </a:p>
      </dgm:t>
    </dgm:pt>
    <dgm:pt modelId="{B3279CC5-D3B8-C143-80FC-86805C207AAA}">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Data imputation</a:t>
          </a:r>
        </a:p>
      </dgm:t>
    </dgm:pt>
    <dgm:pt modelId="{CA9F7ED2-AE19-9141-8AF6-5DDB8E23660E}" type="parTrans" cxnId="{FF61314D-1160-AB46-9293-6C222DAF4950}">
      <dgm:prSet/>
      <dgm:spPr/>
      <dgm:t>
        <a:bodyPr/>
        <a:lstStyle/>
        <a:p>
          <a:endParaRPr lang="en-US"/>
        </a:p>
      </dgm:t>
    </dgm:pt>
    <dgm:pt modelId="{0344FDB1-02CC-8840-8699-AF99CDDAA08C}" type="sibTrans" cxnId="{FF61314D-1160-AB46-9293-6C222DAF4950}">
      <dgm:prSet/>
      <dgm:spPr/>
      <dgm:t>
        <a:bodyPr/>
        <a:lstStyle/>
        <a:p>
          <a:endParaRPr lang="en-US"/>
        </a:p>
      </dgm:t>
    </dgm:pt>
    <dgm:pt modelId="{33E6269C-AE8A-6443-9F51-7C2EDC69BF58}">
      <dgm:prSet phldrT="[Text]" custT="1"/>
      <dgm:spPr>
        <a:solidFill>
          <a:schemeClr val="tx1">
            <a:lumMod val="85000"/>
            <a:alpha val="90000"/>
          </a:schemeClr>
        </a:solidFill>
        <a:ln>
          <a:solidFill>
            <a:srgbClr val="49C6D3"/>
          </a:solidFill>
        </a:ln>
      </dgm:spPr>
      <dgm:t>
        <a:bodyPr/>
        <a:lstStyle/>
        <a:p>
          <a:r>
            <a:rPr lang="en-US" sz="1000" dirty="0">
              <a:solidFill>
                <a:schemeClr val="bg1"/>
              </a:solidFill>
              <a:latin typeface="Calibri" panose="020F0502020204030204" pitchFamily="34" charset="0"/>
            </a:rPr>
            <a:t>Changing data types</a:t>
          </a:r>
        </a:p>
      </dgm:t>
    </dgm:pt>
    <dgm:pt modelId="{0197789D-F142-5F48-B22C-21443CA80183}" type="parTrans" cxnId="{EFE7FE33-DAD0-4A49-9026-624181C3B8CA}">
      <dgm:prSet/>
      <dgm:spPr/>
      <dgm:t>
        <a:bodyPr/>
        <a:lstStyle/>
        <a:p>
          <a:endParaRPr lang="en-US"/>
        </a:p>
      </dgm:t>
    </dgm:pt>
    <dgm:pt modelId="{300D8E78-A35F-1349-A373-218E5CEB3BED}" type="sibTrans" cxnId="{EFE7FE33-DAD0-4A49-9026-624181C3B8CA}">
      <dgm:prSet/>
      <dgm:spPr/>
      <dgm:t>
        <a:bodyPr/>
        <a:lstStyle/>
        <a:p>
          <a:endParaRPr lang="en-US"/>
        </a:p>
      </dgm:t>
    </dgm:pt>
    <dgm:pt modelId="{9EE66B60-96E6-4AEA-8CED-87CC9DDEB3D2}" type="pres">
      <dgm:prSet presAssocID="{622E6915-BA64-4D33-8096-98016BF09E4C}" presName="Name0" presStyleCnt="0">
        <dgm:presLayoutVars>
          <dgm:dir/>
          <dgm:animLvl val="lvl"/>
          <dgm:resizeHandles val="exact"/>
        </dgm:presLayoutVars>
      </dgm:prSet>
      <dgm:spPr/>
    </dgm:pt>
    <dgm:pt modelId="{81E3821A-8E7C-425C-86F0-4599D4570F24}" type="pres">
      <dgm:prSet presAssocID="{622E6915-BA64-4D33-8096-98016BF09E4C}" presName="tSp" presStyleCnt="0"/>
      <dgm:spPr/>
    </dgm:pt>
    <dgm:pt modelId="{D74EA809-CA5E-4DBF-A4E9-8D3506D54C6D}" type="pres">
      <dgm:prSet presAssocID="{622E6915-BA64-4D33-8096-98016BF09E4C}" presName="bSp" presStyleCnt="0"/>
      <dgm:spPr/>
    </dgm:pt>
    <dgm:pt modelId="{61581A8C-ECAD-4EE9-B0C5-A9D15A1D7EAC}" type="pres">
      <dgm:prSet presAssocID="{622E6915-BA64-4D33-8096-98016BF09E4C}" presName="process" presStyleCnt="0"/>
      <dgm:spPr/>
    </dgm:pt>
    <dgm:pt modelId="{B3B3F6E9-E0B7-41D1-A81E-7398DBE445B3}" type="pres">
      <dgm:prSet presAssocID="{B70DF8FD-F531-4605-82F8-033D8160A0DD}" presName="composite1" presStyleCnt="0"/>
      <dgm:spPr/>
    </dgm:pt>
    <dgm:pt modelId="{E741CE0E-1AEF-4AE8-81CB-52112E3A0A8B}" type="pres">
      <dgm:prSet presAssocID="{B70DF8FD-F531-4605-82F8-033D8160A0DD}" presName="dummyNode1" presStyleLbl="node1" presStyleIdx="0" presStyleCnt="6"/>
      <dgm:spPr/>
    </dgm:pt>
    <dgm:pt modelId="{09EF3705-1592-47DC-8B2A-7E62CCE42C7C}" type="pres">
      <dgm:prSet presAssocID="{B70DF8FD-F531-4605-82F8-033D8160A0DD}" presName="childNode1" presStyleLbl="bgAcc1" presStyleIdx="0" presStyleCnt="6" custScaleX="125584" custScaleY="139358" custLinFactNeighborX="-2526" custLinFactNeighborY="-21297">
        <dgm:presLayoutVars>
          <dgm:bulletEnabled val="1"/>
        </dgm:presLayoutVars>
      </dgm:prSet>
      <dgm:spPr/>
    </dgm:pt>
    <dgm:pt modelId="{6A6285F9-0970-46A4-9FD0-544745C1468E}" type="pres">
      <dgm:prSet presAssocID="{B70DF8FD-F531-4605-82F8-033D8160A0DD}" presName="childNode1tx" presStyleLbl="bgAcc1" presStyleIdx="0" presStyleCnt="6">
        <dgm:presLayoutVars>
          <dgm:bulletEnabled val="1"/>
        </dgm:presLayoutVars>
      </dgm:prSet>
      <dgm:spPr/>
    </dgm:pt>
    <dgm:pt modelId="{B5D4D5CE-C2F2-4E8A-B59B-19226C7E945A}" type="pres">
      <dgm:prSet presAssocID="{B70DF8FD-F531-4605-82F8-033D8160A0DD}" presName="parentNode1" presStyleLbl="node1" presStyleIdx="0" presStyleCnt="6" custScaleX="160668" custScaleY="152799" custLinFactNeighborX="9689" custLinFactNeighborY="50525">
        <dgm:presLayoutVars>
          <dgm:chMax val="1"/>
          <dgm:bulletEnabled val="1"/>
        </dgm:presLayoutVars>
      </dgm:prSet>
      <dgm:spPr/>
    </dgm:pt>
    <dgm:pt modelId="{994B60E8-6028-4A3D-A2D4-49BD7DBD3E30}" type="pres">
      <dgm:prSet presAssocID="{B70DF8FD-F531-4605-82F8-033D8160A0DD}" presName="connSite1" presStyleCnt="0"/>
      <dgm:spPr/>
    </dgm:pt>
    <dgm:pt modelId="{1F55A2D4-AFE2-4FFC-A9B0-427F36DEAE89}" type="pres">
      <dgm:prSet presAssocID="{B3146C61-0FC7-43CE-B35D-8050ED5F287E}" presName="Name9" presStyleLbl="sibTrans2D1" presStyleIdx="0" presStyleCnt="5" custAng="615314" custLinFactNeighborX="12802" custLinFactNeighborY="7840"/>
      <dgm:spPr/>
    </dgm:pt>
    <dgm:pt modelId="{4ABC8430-18E2-4DE0-B578-8C4160C23876}" type="pres">
      <dgm:prSet presAssocID="{BFC20D47-2E00-4A88-B1DC-4DD876C36120}" presName="composite2" presStyleCnt="0"/>
      <dgm:spPr/>
    </dgm:pt>
    <dgm:pt modelId="{859E8960-60AD-40DB-8805-7D8EE20641CA}" type="pres">
      <dgm:prSet presAssocID="{BFC20D47-2E00-4A88-B1DC-4DD876C36120}" presName="dummyNode2" presStyleLbl="node1" presStyleIdx="0" presStyleCnt="6"/>
      <dgm:spPr/>
    </dgm:pt>
    <dgm:pt modelId="{5254D91D-B5DD-474A-BD64-E23734409FC0}" type="pres">
      <dgm:prSet presAssocID="{BFC20D47-2E00-4A88-B1DC-4DD876C36120}" presName="childNode2" presStyleLbl="bgAcc1" presStyleIdx="1" presStyleCnt="6" custScaleX="141794" custScaleY="389236" custLinFactNeighborX="15141" custLinFactNeighborY="-79627">
        <dgm:presLayoutVars>
          <dgm:bulletEnabled val="1"/>
        </dgm:presLayoutVars>
      </dgm:prSet>
      <dgm:spPr/>
    </dgm:pt>
    <dgm:pt modelId="{1C775431-DEBC-4170-A0B7-50508D22FFE8}" type="pres">
      <dgm:prSet presAssocID="{BFC20D47-2E00-4A88-B1DC-4DD876C36120}" presName="childNode2tx" presStyleLbl="bgAcc1" presStyleIdx="1" presStyleCnt="6">
        <dgm:presLayoutVars>
          <dgm:bulletEnabled val="1"/>
        </dgm:presLayoutVars>
      </dgm:prSet>
      <dgm:spPr/>
    </dgm:pt>
    <dgm:pt modelId="{547E551B-0509-4852-9BD9-DCB5BB36A970}" type="pres">
      <dgm:prSet presAssocID="{BFC20D47-2E00-4A88-B1DC-4DD876C36120}" presName="parentNode2" presStyleLbl="node1" presStyleIdx="1" presStyleCnt="6" custScaleX="160668" custScaleY="152799" custLinFactY="-100000" custLinFactNeighborX="-27440" custLinFactNeighborY="-154042">
        <dgm:presLayoutVars>
          <dgm:chMax val="0"/>
          <dgm:bulletEnabled val="1"/>
        </dgm:presLayoutVars>
      </dgm:prSet>
      <dgm:spPr/>
    </dgm:pt>
    <dgm:pt modelId="{F39811C8-0A47-49F4-8BAD-7DDCB471DA93}" type="pres">
      <dgm:prSet presAssocID="{BFC20D47-2E00-4A88-B1DC-4DD876C36120}" presName="connSite2" presStyleCnt="0"/>
      <dgm:spPr/>
    </dgm:pt>
    <dgm:pt modelId="{80187864-004E-47EA-B143-33CBD42EE443}" type="pres">
      <dgm:prSet presAssocID="{5D46312C-1D2F-4BF8-B058-88FD24D42F3A}" presName="Name18" presStyleLbl="sibTrans2D1" presStyleIdx="1" presStyleCnt="5" custLinFactNeighborX="7261" custLinFactNeighborY="-1137"/>
      <dgm:spPr/>
    </dgm:pt>
    <dgm:pt modelId="{72891268-73A7-4784-997A-235A2E167A0D}" type="pres">
      <dgm:prSet presAssocID="{DC4ECD40-BC4D-4A16-80C6-3CE684DAD85B}" presName="composite1" presStyleCnt="0"/>
      <dgm:spPr/>
    </dgm:pt>
    <dgm:pt modelId="{C1A3D939-9855-4E62-96C3-30732EA8D607}" type="pres">
      <dgm:prSet presAssocID="{DC4ECD40-BC4D-4A16-80C6-3CE684DAD85B}" presName="dummyNode1" presStyleLbl="node1" presStyleIdx="1" presStyleCnt="6"/>
      <dgm:spPr/>
    </dgm:pt>
    <dgm:pt modelId="{13859AF9-AB6E-456B-ACB8-0EB441751852}" type="pres">
      <dgm:prSet presAssocID="{DC4ECD40-BC4D-4A16-80C6-3CE684DAD85B}" presName="childNode1" presStyleLbl="bgAcc1" presStyleIdx="2" presStyleCnt="6" custScaleX="123203" custScaleY="162796" custLinFactNeighborX="-4687" custLinFactNeighborY="79753">
        <dgm:presLayoutVars>
          <dgm:bulletEnabled val="1"/>
        </dgm:presLayoutVars>
      </dgm:prSet>
      <dgm:spPr/>
    </dgm:pt>
    <dgm:pt modelId="{701A7657-7C94-4116-AAC7-46E5B814722E}" type="pres">
      <dgm:prSet presAssocID="{DC4ECD40-BC4D-4A16-80C6-3CE684DAD85B}" presName="childNode1tx" presStyleLbl="bgAcc1" presStyleIdx="2" presStyleCnt="6">
        <dgm:presLayoutVars>
          <dgm:bulletEnabled val="1"/>
        </dgm:presLayoutVars>
      </dgm:prSet>
      <dgm:spPr/>
    </dgm:pt>
    <dgm:pt modelId="{3B158D2A-2AF9-439A-9EE1-6E70A7568DD9}" type="pres">
      <dgm:prSet presAssocID="{DC4ECD40-BC4D-4A16-80C6-3CE684DAD85B}" presName="parentNode1" presStyleLbl="node1" presStyleIdx="2" presStyleCnt="6" custScaleX="160668" custScaleY="152799" custLinFactY="100000" custLinFactNeighborX="20087" custLinFactNeighborY="190053">
        <dgm:presLayoutVars>
          <dgm:chMax val="1"/>
          <dgm:bulletEnabled val="1"/>
        </dgm:presLayoutVars>
      </dgm:prSet>
      <dgm:spPr/>
    </dgm:pt>
    <dgm:pt modelId="{E81A173E-027F-4A27-AE42-1740FAB23E16}" type="pres">
      <dgm:prSet presAssocID="{DC4ECD40-BC4D-4A16-80C6-3CE684DAD85B}" presName="connSite1" presStyleCnt="0"/>
      <dgm:spPr/>
    </dgm:pt>
    <dgm:pt modelId="{6236A8A4-5452-4571-98C7-0A36EF8BA19E}" type="pres">
      <dgm:prSet presAssocID="{E4B86704-EC5C-4E76-B8B4-9EB9D8594B90}" presName="Name9" presStyleLbl="sibTrans2D1" presStyleIdx="2" presStyleCnt="5" custLinFactNeighborX="16068" custLinFactNeighborY="-8834"/>
      <dgm:spPr/>
    </dgm:pt>
    <dgm:pt modelId="{0FD20867-35F4-4418-8145-A3DC4FF4192C}" type="pres">
      <dgm:prSet presAssocID="{CB0403CA-86CA-4285-9A5D-0E06BC834777}" presName="composite2" presStyleCnt="0"/>
      <dgm:spPr/>
    </dgm:pt>
    <dgm:pt modelId="{11E54F0A-2B13-49E6-B344-CCE3D2A416B8}" type="pres">
      <dgm:prSet presAssocID="{CB0403CA-86CA-4285-9A5D-0E06BC834777}" presName="dummyNode2" presStyleLbl="node1" presStyleIdx="2" presStyleCnt="6"/>
      <dgm:spPr/>
    </dgm:pt>
    <dgm:pt modelId="{BC05B551-1EE6-4E76-B59C-08F145FE84C7}" type="pres">
      <dgm:prSet presAssocID="{CB0403CA-86CA-4285-9A5D-0E06BC834777}" presName="childNode2" presStyleLbl="bgAcc1" presStyleIdx="3" presStyleCnt="6" custScaleX="139650" custScaleY="143570" custLinFactNeighborX="15706" custLinFactNeighborY="-44375">
        <dgm:presLayoutVars>
          <dgm:bulletEnabled val="1"/>
        </dgm:presLayoutVars>
      </dgm:prSet>
      <dgm:spPr/>
    </dgm:pt>
    <dgm:pt modelId="{25D4C787-DF0B-4E02-8AD2-1E3519B79A63}" type="pres">
      <dgm:prSet presAssocID="{CB0403CA-86CA-4285-9A5D-0E06BC834777}" presName="childNode2tx" presStyleLbl="bgAcc1" presStyleIdx="3" presStyleCnt="6">
        <dgm:presLayoutVars>
          <dgm:bulletEnabled val="1"/>
        </dgm:presLayoutVars>
      </dgm:prSet>
      <dgm:spPr/>
    </dgm:pt>
    <dgm:pt modelId="{3F180FA7-8532-4861-BDC2-9404CAD496E4}" type="pres">
      <dgm:prSet presAssocID="{CB0403CA-86CA-4285-9A5D-0E06BC834777}" presName="parentNode2" presStyleLbl="node1" presStyleIdx="3" presStyleCnt="6" custScaleX="160668" custScaleY="152799" custLinFactY="-7786" custLinFactNeighborX="-22011" custLinFactNeighborY="-100000">
        <dgm:presLayoutVars>
          <dgm:chMax val="0"/>
          <dgm:bulletEnabled val="1"/>
        </dgm:presLayoutVars>
      </dgm:prSet>
      <dgm:spPr/>
    </dgm:pt>
    <dgm:pt modelId="{C6F93142-A622-47E3-B528-7357E962CEF2}" type="pres">
      <dgm:prSet presAssocID="{CB0403CA-86CA-4285-9A5D-0E06BC834777}" presName="connSite2" presStyleCnt="0"/>
      <dgm:spPr/>
    </dgm:pt>
    <dgm:pt modelId="{4073CCF4-F801-4994-B32F-AF55B2A16E86}" type="pres">
      <dgm:prSet presAssocID="{DA6AB490-C29C-4F64-B8C8-582927B51B18}" presName="Name18" presStyleLbl="sibTrans2D1" presStyleIdx="3" presStyleCnt="5" custAng="20941794" custLinFactNeighborX="-3577" custLinFactNeighborY="-10677"/>
      <dgm:spPr/>
    </dgm:pt>
    <dgm:pt modelId="{232B7ECB-158C-4CA7-AFA7-A64FB235B603}" type="pres">
      <dgm:prSet presAssocID="{C7DC98C6-0F05-4169-9A65-550B3CCE1284}" presName="composite1" presStyleCnt="0"/>
      <dgm:spPr/>
    </dgm:pt>
    <dgm:pt modelId="{BE63E3AA-6379-4169-9C4E-C3F38FB86D61}" type="pres">
      <dgm:prSet presAssocID="{C7DC98C6-0F05-4169-9A65-550B3CCE1284}" presName="dummyNode1" presStyleLbl="node1" presStyleIdx="3" presStyleCnt="6"/>
      <dgm:spPr/>
    </dgm:pt>
    <dgm:pt modelId="{95AAC5F5-DFA6-4850-9934-0792A6C08EA7}" type="pres">
      <dgm:prSet presAssocID="{C7DC98C6-0F05-4169-9A65-550B3CCE1284}" presName="childNode1" presStyleLbl="bgAcc1" presStyleIdx="4" presStyleCnt="6" custScaleX="117025" custScaleY="206838" custLinFactNeighborX="426" custLinFactNeighborY="-19680">
        <dgm:presLayoutVars>
          <dgm:bulletEnabled val="1"/>
        </dgm:presLayoutVars>
      </dgm:prSet>
      <dgm:spPr/>
    </dgm:pt>
    <dgm:pt modelId="{231C5AFB-B699-43A1-A6EF-844C3A3C43F4}" type="pres">
      <dgm:prSet presAssocID="{C7DC98C6-0F05-4169-9A65-550B3CCE1284}" presName="childNode1tx" presStyleLbl="bgAcc1" presStyleIdx="4" presStyleCnt="6">
        <dgm:presLayoutVars>
          <dgm:bulletEnabled val="1"/>
        </dgm:presLayoutVars>
      </dgm:prSet>
      <dgm:spPr/>
    </dgm:pt>
    <dgm:pt modelId="{442D11E0-059A-472E-8644-1DB0158A00FF}" type="pres">
      <dgm:prSet presAssocID="{C7DC98C6-0F05-4169-9A65-550B3CCE1284}" presName="parentNode1" presStyleLbl="node1" presStyleIdx="4" presStyleCnt="6" custScaleX="160668" custScaleY="152799" custLinFactY="41594" custLinFactNeighborX="-50904" custLinFactNeighborY="100000">
        <dgm:presLayoutVars>
          <dgm:chMax val="1"/>
          <dgm:bulletEnabled val="1"/>
        </dgm:presLayoutVars>
      </dgm:prSet>
      <dgm:spPr/>
    </dgm:pt>
    <dgm:pt modelId="{166623BE-437C-4E1C-A15D-7A373430FBBF}" type="pres">
      <dgm:prSet presAssocID="{C7DC98C6-0F05-4169-9A65-550B3CCE1284}" presName="connSite1" presStyleCnt="0"/>
      <dgm:spPr/>
    </dgm:pt>
    <dgm:pt modelId="{861332AA-A67C-4891-8C8F-15755F2AD5BD}" type="pres">
      <dgm:prSet presAssocID="{783B4672-F556-4E1E-8A63-39D24315AFB9}" presName="Name9" presStyleLbl="sibTrans2D1" presStyleIdx="4" presStyleCnt="5" custLinFactNeighborX="-1335" custLinFactNeighborY="2805"/>
      <dgm:spPr/>
    </dgm:pt>
    <dgm:pt modelId="{E2715364-7189-4A33-9B40-C881A8C56892}" type="pres">
      <dgm:prSet presAssocID="{F69D2EF2-E11C-4889-B866-B567167CEC5D}" presName="composite2" presStyleCnt="0"/>
      <dgm:spPr/>
    </dgm:pt>
    <dgm:pt modelId="{70BD4DE3-C5A4-4522-AB07-673B609CD437}" type="pres">
      <dgm:prSet presAssocID="{F69D2EF2-E11C-4889-B866-B567167CEC5D}" presName="dummyNode2" presStyleLbl="node1" presStyleIdx="4" presStyleCnt="6"/>
      <dgm:spPr/>
    </dgm:pt>
    <dgm:pt modelId="{83AA0851-B235-4585-85B3-26D7A1EC4CFF}" type="pres">
      <dgm:prSet presAssocID="{F69D2EF2-E11C-4889-B866-B567167CEC5D}" presName="childNode2" presStyleLbl="bgAcc1" presStyleIdx="5" presStyleCnt="6" custScaleX="117531" custScaleY="167230" custLinFactNeighborX="-15942" custLinFactNeighborY="-15265">
        <dgm:presLayoutVars>
          <dgm:bulletEnabled val="1"/>
        </dgm:presLayoutVars>
      </dgm:prSet>
      <dgm:spPr/>
    </dgm:pt>
    <dgm:pt modelId="{2089F96D-CCED-4124-AB34-4EC70E9F07D8}" type="pres">
      <dgm:prSet presAssocID="{F69D2EF2-E11C-4889-B866-B567167CEC5D}" presName="childNode2tx" presStyleLbl="bgAcc1" presStyleIdx="5" presStyleCnt="6">
        <dgm:presLayoutVars>
          <dgm:bulletEnabled val="1"/>
        </dgm:presLayoutVars>
      </dgm:prSet>
      <dgm:spPr/>
    </dgm:pt>
    <dgm:pt modelId="{B6792FC5-76A0-4023-83CB-CEC90F4B80D5}" type="pres">
      <dgm:prSet presAssocID="{F69D2EF2-E11C-4889-B866-B567167CEC5D}" presName="parentNode2" presStyleLbl="node1" presStyleIdx="5" presStyleCnt="6" custScaleX="160668" custScaleY="152799" custLinFactY="-3223" custLinFactNeighborX="-12396" custLinFactNeighborY="-100000">
        <dgm:presLayoutVars>
          <dgm:chMax val="0"/>
          <dgm:bulletEnabled val="1"/>
        </dgm:presLayoutVars>
      </dgm:prSet>
      <dgm:spPr/>
    </dgm:pt>
    <dgm:pt modelId="{A1849513-A679-4A90-AC3D-4AF9777FF8D9}" type="pres">
      <dgm:prSet presAssocID="{F69D2EF2-E11C-4889-B866-B567167CEC5D}" presName="connSite2" presStyleCnt="0"/>
      <dgm:spPr/>
    </dgm:pt>
  </dgm:ptLst>
  <dgm:cxnLst>
    <dgm:cxn modelId="{25CA0401-35AA-4140-A767-244D26B194F9}" srcId="{622E6915-BA64-4D33-8096-98016BF09E4C}" destId="{DC4ECD40-BC4D-4A16-80C6-3CE684DAD85B}" srcOrd="2" destOrd="0" parTransId="{E548D34F-D7A9-4842-99EA-EDB5811F8BDD}" sibTransId="{E4B86704-EC5C-4E76-B8B4-9EB9D8594B90}"/>
    <dgm:cxn modelId="{BD161204-B7A5-4772-A203-7712D63F1353}" type="presOf" srcId="{46B22683-09A2-40C8-981C-E36263815538}" destId="{95AAC5F5-DFA6-4850-9934-0792A6C08EA7}" srcOrd="0" destOrd="4" presId="urn:microsoft.com/office/officeart/2005/8/layout/hProcess4"/>
    <dgm:cxn modelId="{26FD9614-57E5-4817-B293-A09E40B86FBF}" type="presOf" srcId="{10EF17FF-FC60-4847-A649-86CAE1F02FAB}" destId="{95AAC5F5-DFA6-4850-9934-0792A6C08EA7}" srcOrd="0" destOrd="0" presId="urn:microsoft.com/office/officeart/2005/8/layout/hProcess4"/>
    <dgm:cxn modelId="{971E8D1A-2144-4C4A-A71C-BE5A2AAA9F57}" srcId="{C7DC98C6-0F05-4169-9A65-550B3CCE1284}" destId="{422AAD75-EA81-42C5-AD2E-97C131624326}" srcOrd="1" destOrd="0" parTransId="{06554445-3592-4750-9E09-1F97E28FB74A}" sibTransId="{960F3935-A948-4EE8-9942-91DCC962D017}"/>
    <dgm:cxn modelId="{B0C13E1B-7BCC-4E5E-B5C2-71F20AD6A8CB}" type="presOf" srcId="{8E70CCF7-6ACB-49B0-ABC3-08E9BE5CEC45}" destId="{231C5AFB-B699-43A1-A6EF-844C3A3C43F4}" srcOrd="1" destOrd="3" presId="urn:microsoft.com/office/officeart/2005/8/layout/hProcess4"/>
    <dgm:cxn modelId="{8CC4A422-9251-431B-AB63-AF4431D701ED}" srcId="{622E6915-BA64-4D33-8096-98016BF09E4C}" destId="{B70DF8FD-F531-4605-82F8-033D8160A0DD}" srcOrd="0" destOrd="0" parTransId="{D3C0ABF1-5530-466D-BFBD-B0C330FCE35E}" sibTransId="{B3146C61-0FC7-43CE-B35D-8050ED5F287E}"/>
    <dgm:cxn modelId="{8E235C25-AE30-481B-92CF-236F3C5B2051}" type="presOf" srcId="{FD9FA501-BC78-4A42-8FDC-C2C0353A20EB}" destId="{09EF3705-1592-47DC-8B2A-7E62CCE42C7C}" srcOrd="0" destOrd="0" presId="urn:microsoft.com/office/officeart/2005/8/layout/hProcess4"/>
    <dgm:cxn modelId="{EE85722E-5C58-4664-BA22-331C39372217}" type="presOf" srcId="{CF7338DD-0BEA-48FE-9701-CFEE8FF01CD8}" destId="{1C775431-DEBC-4170-A0B7-50508D22FFE8}" srcOrd="1" destOrd="1" presId="urn:microsoft.com/office/officeart/2005/8/layout/hProcess4"/>
    <dgm:cxn modelId="{57D9A131-D0FF-41EE-9918-3FCDD1E91D1E}" type="presOf" srcId="{CF7338DD-0BEA-48FE-9701-CFEE8FF01CD8}" destId="{5254D91D-B5DD-474A-BD64-E23734409FC0}" srcOrd="0" destOrd="1" presId="urn:microsoft.com/office/officeart/2005/8/layout/hProcess4"/>
    <dgm:cxn modelId="{EFE7FE33-DAD0-4A49-9026-624181C3B8CA}" srcId="{BFC20D47-2E00-4A88-B1DC-4DD876C36120}" destId="{33E6269C-AE8A-6443-9F51-7C2EDC69BF58}" srcOrd="2" destOrd="0" parTransId="{0197789D-F142-5F48-B22C-21443CA80183}" sibTransId="{300D8E78-A35F-1349-A373-218E5CEB3BED}"/>
    <dgm:cxn modelId="{DF7F0238-F64B-42FE-8A87-A94EA81E0DD5}" type="presOf" srcId="{95FE68B3-6C65-457D-B09B-FA948F6B16DA}" destId="{5254D91D-B5DD-474A-BD64-E23734409FC0}" srcOrd="0" destOrd="0" presId="urn:microsoft.com/office/officeart/2005/8/layout/hProcess4"/>
    <dgm:cxn modelId="{F7A3A93A-6DF7-4334-8C63-D351CD00889E}" type="presOf" srcId="{95FE68B3-6C65-457D-B09B-FA948F6B16DA}" destId="{1C775431-DEBC-4170-A0B7-50508D22FFE8}" srcOrd="1" destOrd="0" presId="urn:microsoft.com/office/officeart/2005/8/layout/hProcess4"/>
    <dgm:cxn modelId="{EE803D3D-3D8C-48E1-8A91-970EFF696C6A}" type="presOf" srcId="{10EF17FF-FC60-4847-A649-86CAE1F02FAB}" destId="{231C5AFB-B699-43A1-A6EF-844C3A3C43F4}" srcOrd="1" destOrd="0" presId="urn:microsoft.com/office/officeart/2005/8/layout/hProcess4"/>
    <dgm:cxn modelId="{E3EC7942-C051-9B42-AAE0-BA56C2C12C6D}" type="presOf" srcId="{33E6269C-AE8A-6443-9F51-7C2EDC69BF58}" destId="{5254D91D-B5DD-474A-BD64-E23734409FC0}" srcOrd="0" destOrd="3" presId="urn:microsoft.com/office/officeart/2005/8/layout/hProcess4"/>
    <dgm:cxn modelId="{EBF12F44-2DB2-431C-933A-1FD36C3508F8}" srcId="{622E6915-BA64-4D33-8096-98016BF09E4C}" destId="{F69D2EF2-E11C-4889-B866-B567167CEC5D}" srcOrd="5" destOrd="0" parTransId="{86A2399C-B8CB-4154-8882-3E9BBB3C3E52}" sibTransId="{968096ED-B827-4729-A75E-49477F4D4FC4}"/>
    <dgm:cxn modelId="{FF61314D-1160-AB46-9293-6C222DAF4950}" srcId="{CF7338DD-0BEA-48FE-9701-CFEE8FF01CD8}" destId="{B3279CC5-D3B8-C143-80FC-86805C207AAA}" srcOrd="0" destOrd="0" parTransId="{CA9F7ED2-AE19-9141-8AF6-5DDB8E23660E}" sibTransId="{0344FDB1-02CC-8840-8699-AF99CDDAA08C}"/>
    <dgm:cxn modelId="{F5575D5E-4D93-A047-A6B9-34EFF440FF27}" type="presOf" srcId="{B3279CC5-D3B8-C143-80FC-86805C207AAA}" destId="{1C775431-DEBC-4170-A0B7-50508D22FFE8}" srcOrd="1" destOrd="2" presId="urn:microsoft.com/office/officeart/2005/8/layout/hProcess4"/>
    <dgm:cxn modelId="{EA125F5E-CF82-4240-BF1E-E8D9C094961A}" type="presOf" srcId="{B70DF8FD-F531-4605-82F8-033D8160A0DD}" destId="{B5D4D5CE-C2F2-4E8A-B59B-19226C7E945A}" srcOrd="0" destOrd="0" presId="urn:microsoft.com/office/officeart/2005/8/layout/hProcess4"/>
    <dgm:cxn modelId="{1106075F-EDAD-4A75-92BA-39D1A9D31157}" type="presOf" srcId="{46B22683-09A2-40C8-981C-E36263815538}" destId="{231C5AFB-B699-43A1-A6EF-844C3A3C43F4}" srcOrd="1" destOrd="4" presId="urn:microsoft.com/office/officeart/2005/8/layout/hProcess4"/>
    <dgm:cxn modelId="{CE09495F-CE2B-43EC-A768-BF77CD39682E}" srcId="{BFC20D47-2E00-4A88-B1DC-4DD876C36120}" destId="{95FE68B3-6C65-457D-B09B-FA948F6B16DA}" srcOrd="0" destOrd="0" parTransId="{78CD3F98-1FF9-43A0-8F82-314CBE2C223E}" sibTransId="{BC82534E-B214-4210-9CAD-C19E50FCA23C}"/>
    <dgm:cxn modelId="{ABA00F67-0132-462B-9690-B6F01B6BB051}" type="presOf" srcId="{CB0403CA-86CA-4285-9A5D-0E06BC834777}" destId="{3F180FA7-8532-4861-BDC2-9404CAD496E4}" srcOrd="0" destOrd="0" presId="urn:microsoft.com/office/officeart/2005/8/layout/hProcess4"/>
    <dgm:cxn modelId="{AD31026B-E993-4D0C-8F6B-E4EF2B194E82}" type="presOf" srcId="{FDAC5B5F-A72F-430A-A8B8-246618C4325C}" destId="{95AAC5F5-DFA6-4850-9934-0792A6C08EA7}" srcOrd="0" destOrd="2" presId="urn:microsoft.com/office/officeart/2005/8/layout/hProcess4"/>
    <dgm:cxn modelId="{8395AD70-6C81-4E02-B6F9-A395EA3C1CB3}" type="presOf" srcId="{8E70CCF7-6ACB-49B0-ABC3-08E9BE5CEC45}" destId="{95AAC5F5-DFA6-4850-9934-0792A6C08EA7}" srcOrd="0" destOrd="3" presId="urn:microsoft.com/office/officeart/2005/8/layout/hProcess4"/>
    <dgm:cxn modelId="{64482B74-AE99-438F-9748-3123506E0C01}" type="presOf" srcId="{1970A786-2E66-43CE-BC9F-B6E277BA40CE}" destId="{83AA0851-B235-4585-85B3-26D7A1EC4CFF}" srcOrd="0" destOrd="0" presId="urn:microsoft.com/office/officeart/2005/8/layout/hProcess4"/>
    <dgm:cxn modelId="{4A7A2D75-DE99-4B17-A81D-14575B632E50}" srcId="{C7DC98C6-0F05-4169-9A65-550B3CCE1284}" destId="{8E70CCF7-6ACB-49B0-ABC3-08E9BE5CEC45}" srcOrd="3" destOrd="0" parTransId="{3B0072A8-F065-4E77-AD37-7D023DAEA1AA}" sibTransId="{8B2384DB-6DBD-492E-B221-8808392AE142}"/>
    <dgm:cxn modelId="{AF596A76-238E-44BC-9CF7-E193B780E38C}" type="presOf" srcId="{422AAD75-EA81-42C5-AD2E-97C131624326}" destId="{231C5AFB-B699-43A1-A6EF-844C3A3C43F4}" srcOrd="1" destOrd="1" presId="urn:microsoft.com/office/officeart/2005/8/layout/hProcess4"/>
    <dgm:cxn modelId="{24372379-1AAB-7C4C-949B-E837BCEB11EC}" type="presOf" srcId="{B3279CC5-D3B8-C143-80FC-86805C207AAA}" destId="{5254D91D-B5DD-474A-BD64-E23734409FC0}" srcOrd="0" destOrd="2" presId="urn:microsoft.com/office/officeart/2005/8/layout/hProcess4"/>
    <dgm:cxn modelId="{22BE7080-7763-4020-B762-A18578BDFA87}" type="presOf" srcId="{783B4672-F556-4E1E-8A63-39D24315AFB9}" destId="{861332AA-A67C-4891-8C8F-15755F2AD5BD}" srcOrd="0" destOrd="0" presId="urn:microsoft.com/office/officeart/2005/8/layout/hProcess4"/>
    <dgm:cxn modelId="{B539BD88-B1D0-4DA8-9AB3-D240B674F022}" srcId="{C7DC98C6-0F05-4169-9A65-550B3CCE1284}" destId="{FDAC5B5F-A72F-430A-A8B8-246618C4325C}" srcOrd="2" destOrd="0" parTransId="{AC6EEB84-37BB-4123-8825-113188179548}" sibTransId="{0E9CED31-82DD-4F5A-BA6A-32749A07350C}"/>
    <dgm:cxn modelId="{AAF6DE8D-BBE1-44B9-B638-E72AD8E8EF9D}" srcId="{DC4ECD40-BC4D-4A16-80C6-3CE684DAD85B}" destId="{81D9A94D-9103-4CC7-B976-A43680099733}" srcOrd="0" destOrd="0" parTransId="{90AB9648-232E-4078-A5EA-C183843F4DAE}" sibTransId="{3FCB6015-8A26-4617-91E5-AFEA3C3856BF}"/>
    <dgm:cxn modelId="{C4137F92-913E-4373-84D1-67F6810D1C58}" type="presOf" srcId="{DA6AB490-C29C-4F64-B8C8-582927B51B18}" destId="{4073CCF4-F801-4994-B32F-AF55B2A16E86}" srcOrd="0" destOrd="0" presId="urn:microsoft.com/office/officeart/2005/8/layout/hProcess4"/>
    <dgm:cxn modelId="{49D82496-EDD4-4E13-8776-F19ED2DF0F7E}" type="presOf" srcId="{061E299F-DC25-4BD5-8A1A-0599F603380F}" destId="{25D4C787-DF0B-4E02-8AD2-1E3519B79A63}" srcOrd="1" destOrd="0" presId="urn:microsoft.com/office/officeart/2005/8/layout/hProcess4"/>
    <dgm:cxn modelId="{87DC9C98-603B-46EB-A36F-941B30716826}" type="presOf" srcId="{F69D2EF2-E11C-4889-B866-B567167CEC5D}" destId="{B6792FC5-76A0-4023-83CB-CEC90F4B80D5}" srcOrd="0" destOrd="0" presId="urn:microsoft.com/office/officeart/2005/8/layout/hProcess4"/>
    <dgm:cxn modelId="{E909A89F-E327-44F2-9DFD-F376FC980396}" srcId="{B70DF8FD-F531-4605-82F8-033D8160A0DD}" destId="{FD9FA501-BC78-4A42-8FDC-C2C0353A20EB}" srcOrd="0" destOrd="0" parTransId="{4F8F6A16-FB9C-4BA0-B4B6-81D86C0386E8}" sibTransId="{D8B69EB0-5EC8-42FE-9999-49F8E5CE0E15}"/>
    <dgm:cxn modelId="{2E1029A3-65EA-43FC-B4A2-416A5771C219}" srcId="{F69D2EF2-E11C-4889-B866-B567167CEC5D}" destId="{1970A786-2E66-43CE-BC9F-B6E277BA40CE}" srcOrd="0" destOrd="0" parTransId="{67C30FAE-0DFD-4570-BB1B-9163FC29FD39}" sibTransId="{18F974BA-56DC-4F47-A8C8-62688279C83F}"/>
    <dgm:cxn modelId="{BB1C75A7-50BE-4553-BE03-41548F9A3B44}" srcId="{C7DC98C6-0F05-4169-9A65-550B3CCE1284}" destId="{10EF17FF-FC60-4847-A649-86CAE1F02FAB}" srcOrd="0" destOrd="0" parTransId="{CC7EDF4D-5E2D-4FE9-A543-2D629834322D}" sibTransId="{A1225C17-E8DE-4E23-B837-F5DA6B9B524C}"/>
    <dgm:cxn modelId="{7435B7A8-1524-4EB6-B9BA-A8E875D9D44D}" type="presOf" srcId="{5D46312C-1D2F-4BF8-B058-88FD24D42F3A}" destId="{80187864-004E-47EA-B143-33CBD42EE443}" srcOrd="0" destOrd="0" presId="urn:microsoft.com/office/officeart/2005/8/layout/hProcess4"/>
    <dgm:cxn modelId="{5C7A8DA9-D8C8-42D5-8FA4-4B89243339F4}" type="presOf" srcId="{FD9FA501-BC78-4A42-8FDC-C2C0353A20EB}" destId="{6A6285F9-0970-46A4-9FD0-544745C1468E}" srcOrd="1" destOrd="0" presId="urn:microsoft.com/office/officeart/2005/8/layout/hProcess4"/>
    <dgm:cxn modelId="{2803BDB6-FE58-4114-8893-5EBEA3C5CC3D}" srcId="{BFC20D47-2E00-4A88-B1DC-4DD876C36120}" destId="{CF7338DD-0BEA-48FE-9701-CFEE8FF01CD8}" srcOrd="1" destOrd="0" parTransId="{5E09C4E1-0904-4455-9896-A672BCC77487}" sibTransId="{CDE84DD5-A50F-475B-882A-586A1628D792}"/>
    <dgm:cxn modelId="{CD88D9BA-FB61-49A1-B302-AF9ADC873463}" type="presOf" srcId="{1970A786-2E66-43CE-BC9F-B6E277BA40CE}" destId="{2089F96D-CCED-4124-AB34-4EC70E9F07D8}" srcOrd="1" destOrd="0" presId="urn:microsoft.com/office/officeart/2005/8/layout/hProcess4"/>
    <dgm:cxn modelId="{37D8A7C2-EAA2-4E0B-8E92-F08BF2662244}" srcId="{622E6915-BA64-4D33-8096-98016BF09E4C}" destId="{BFC20D47-2E00-4A88-B1DC-4DD876C36120}" srcOrd="1" destOrd="0" parTransId="{0A32ACBA-73D0-4041-8EF5-0C926814A363}" sibTransId="{5D46312C-1D2F-4BF8-B058-88FD24D42F3A}"/>
    <dgm:cxn modelId="{4E8C08C3-08E5-4B85-9B37-98F7A1618434}" srcId="{622E6915-BA64-4D33-8096-98016BF09E4C}" destId="{CB0403CA-86CA-4285-9A5D-0E06BC834777}" srcOrd="3" destOrd="0" parTransId="{A4B8576A-1E67-4D9D-BC33-E05258689E8F}" sibTransId="{DA6AB490-C29C-4F64-B8C8-582927B51B18}"/>
    <dgm:cxn modelId="{D6A8E9CE-5D07-41F1-8CB9-42FF1B0A01F5}" type="presOf" srcId="{E4B86704-EC5C-4E76-B8B4-9EB9D8594B90}" destId="{6236A8A4-5452-4571-98C7-0A36EF8BA19E}" srcOrd="0" destOrd="0" presId="urn:microsoft.com/office/officeart/2005/8/layout/hProcess4"/>
    <dgm:cxn modelId="{6FBA2DD4-6270-4AEE-B33F-33D4D3FD8F18}" type="presOf" srcId="{422AAD75-EA81-42C5-AD2E-97C131624326}" destId="{95AAC5F5-DFA6-4850-9934-0792A6C08EA7}" srcOrd="0" destOrd="1" presId="urn:microsoft.com/office/officeart/2005/8/layout/hProcess4"/>
    <dgm:cxn modelId="{E51BBED4-6E4D-4302-9DEC-BF00CB7CD02A}" type="presOf" srcId="{FDAC5B5F-A72F-430A-A8B8-246618C4325C}" destId="{231C5AFB-B699-43A1-A6EF-844C3A3C43F4}" srcOrd="1" destOrd="2" presId="urn:microsoft.com/office/officeart/2005/8/layout/hProcess4"/>
    <dgm:cxn modelId="{AD5688D5-EECA-4005-ABC7-6BEAC7305A31}" srcId="{C7DC98C6-0F05-4169-9A65-550B3CCE1284}" destId="{46B22683-09A2-40C8-981C-E36263815538}" srcOrd="4" destOrd="0" parTransId="{D9840235-9194-4976-BFF9-21DF5B3F2AEE}" sibTransId="{30FF4140-33BD-4E54-9FC0-9B6E38C702CF}"/>
    <dgm:cxn modelId="{FD2AA8D8-C1A4-4292-B5A4-AD1D4B488D80}" type="presOf" srcId="{81D9A94D-9103-4CC7-B976-A43680099733}" destId="{701A7657-7C94-4116-AAC7-46E5B814722E}" srcOrd="1" destOrd="0" presId="urn:microsoft.com/office/officeart/2005/8/layout/hProcess4"/>
    <dgm:cxn modelId="{03202ED9-860D-4F87-A34E-A9E284D66125}" type="presOf" srcId="{DC4ECD40-BC4D-4A16-80C6-3CE684DAD85B}" destId="{3B158D2A-2AF9-439A-9EE1-6E70A7568DD9}" srcOrd="0" destOrd="0" presId="urn:microsoft.com/office/officeart/2005/8/layout/hProcess4"/>
    <dgm:cxn modelId="{7E1E61DB-39DC-4144-959C-56DBD060E78D}" type="presOf" srcId="{061E299F-DC25-4BD5-8A1A-0599F603380F}" destId="{BC05B551-1EE6-4E76-B59C-08F145FE84C7}" srcOrd="0" destOrd="0" presId="urn:microsoft.com/office/officeart/2005/8/layout/hProcess4"/>
    <dgm:cxn modelId="{6BF43ADD-0ABB-4034-A08F-AA625052438C}" type="presOf" srcId="{622E6915-BA64-4D33-8096-98016BF09E4C}" destId="{9EE66B60-96E6-4AEA-8CED-87CC9DDEB3D2}" srcOrd="0" destOrd="0" presId="urn:microsoft.com/office/officeart/2005/8/layout/hProcess4"/>
    <dgm:cxn modelId="{86605FDF-073F-4D21-96A0-DC358A033CCF}" type="presOf" srcId="{B3146C61-0FC7-43CE-B35D-8050ED5F287E}" destId="{1F55A2D4-AFE2-4FFC-A9B0-427F36DEAE89}" srcOrd="0" destOrd="0" presId="urn:microsoft.com/office/officeart/2005/8/layout/hProcess4"/>
    <dgm:cxn modelId="{75A7ECE2-A8CE-498C-8098-7AB97402F97F}" type="presOf" srcId="{81D9A94D-9103-4CC7-B976-A43680099733}" destId="{13859AF9-AB6E-456B-ACB8-0EB441751852}" srcOrd="0" destOrd="0" presId="urn:microsoft.com/office/officeart/2005/8/layout/hProcess4"/>
    <dgm:cxn modelId="{8B7974E8-C6D3-2140-BAA4-5E7DA11E5C43}" type="presOf" srcId="{33E6269C-AE8A-6443-9F51-7C2EDC69BF58}" destId="{1C775431-DEBC-4170-A0B7-50508D22FFE8}" srcOrd="1" destOrd="3" presId="urn:microsoft.com/office/officeart/2005/8/layout/hProcess4"/>
    <dgm:cxn modelId="{E421E6EE-3992-4868-8E45-58066F572CE2}" srcId="{622E6915-BA64-4D33-8096-98016BF09E4C}" destId="{C7DC98C6-0F05-4169-9A65-550B3CCE1284}" srcOrd="4" destOrd="0" parTransId="{8295682B-DAE9-4D5F-958A-DC2E8D8BE36C}" sibTransId="{783B4672-F556-4E1E-8A63-39D24315AFB9}"/>
    <dgm:cxn modelId="{9AD265F2-60E4-476D-949A-F470DB123143}" type="presOf" srcId="{BFC20D47-2E00-4A88-B1DC-4DD876C36120}" destId="{547E551B-0509-4852-9BD9-DCB5BB36A970}" srcOrd="0" destOrd="0" presId="urn:microsoft.com/office/officeart/2005/8/layout/hProcess4"/>
    <dgm:cxn modelId="{2CED9EF5-7234-4B7E-B07D-B4D94785D4C8}" type="presOf" srcId="{C7DC98C6-0F05-4169-9A65-550B3CCE1284}" destId="{442D11E0-059A-472E-8644-1DB0158A00FF}" srcOrd="0" destOrd="0" presId="urn:microsoft.com/office/officeart/2005/8/layout/hProcess4"/>
    <dgm:cxn modelId="{25E377F8-872B-47AD-B3E0-035D030FCC15}" srcId="{CB0403CA-86CA-4285-9A5D-0E06BC834777}" destId="{061E299F-DC25-4BD5-8A1A-0599F603380F}" srcOrd="0" destOrd="0" parTransId="{9C7F123F-925E-42D9-BFB6-61553E5D8040}" sibTransId="{18C9A68B-16C8-49B8-9141-3BDF20446015}"/>
    <dgm:cxn modelId="{9C04E207-81BF-4F65-BBAF-65D528492DDE}" type="presParOf" srcId="{9EE66B60-96E6-4AEA-8CED-87CC9DDEB3D2}" destId="{81E3821A-8E7C-425C-86F0-4599D4570F24}" srcOrd="0" destOrd="0" presId="urn:microsoft.com/office/officeart/2005/8/layout/hProcess4"/>
    <dgm:cxn modelId="{52FCC663-78CB-4484-A88B-9686523B1580}" type="presParOf" srcId="{9EE66B60-96E6-4AEA-8CED-87CC9DDEB3D2}" destId="{D74EA809-CA5E-4DBF-A4E9-8D3506D54C6D}" srcOrd="1" destOrd="0" presId="urn:microsoft.com/office/officeart/2005/8/layout/hProcess4"/>
    <dgm:cxn modelId="{17AC0EAC-3625-4EF3-8A04-51620B3D1CA6}" type="presParOf" srcId="{9EE66B60-96E6-4AEA-8CED-87CC9DDEB3D2}" destId="{61581A8C-ECAD-4EE9-B0C5-A9D15A1D7EAC}" srcOrd="2" destOrd="0" presId="urn:microsoft.com/office/officeart/2005/8/layout/hProcess4"/>
    <dgm:cxn modelId="{F78FBAE8-2BF4-41AD-A133-571B1141DE38}" type="presParOf" srcId="{61581A8C-ECAD-4EE9-B0C5-A9D15A1D7EAC}" destId="{B3B3F6E9-E0B7-41D1-A81E-7398DBE445B3}" srcOrd="0" destOrd="0" presId="urn:microsoft.com/office/officeart/2005/8/layout/hProcess4"/>
    <dgm:cxn modelId="{D98081FA-0E4C-4087-BFD1-B94EB3F81A9C}" type="presParOf" srcId="{B3B3F6E9-E0B7-41D1-A81E-7398DBE445B3}" destId="{E741CE0E-1AEF-4AE8-81CB-52112E3A0A8B}" srcOrd="0" destOrd="0" presId="urn:microsoft.com/office/officeart/2005/8/layout/hProcess4"/>
    <dgm:cxn modelId="{F90738CE-550A-4565-B792-6BFDB968D595}" type="presParOf" srcId="{B3B3F6E9-E0B7-41D1-A81E-7398DBE445B3}" destId="{09EF3705-1592-47DC-8B2A-7E62CCE42C7C}" srcOrd="1" destOrd="0" presId="urn:microsoft.com/office/officeart/2005/8/layout/hProcess4"/>
    <dgm:cxn modelId="{C079B8D3-B60A-402F-89DE-2A9CD61CE68B}" type="presParOf" srcId="{B3B3F6E9-E0B7-41D1-A81E-7398DBE445B3}" destId="{6A6285F9-0970-46A4-9FD0-544745C1468E}" srcOrd="2" destOrd="0" presId="urn:microsoft.com/office/officeart/2005/8/layout/hProcess4"/>
    <dgm:cxn modelId="{9AEFA77A-8A50-43BB-8E73-4D6D1737FF68}" type="presParOf" srcId="{B3B3F6E9-E0B7-41D1-A81E-7398DBE445B3}" destId="{B5D4D5CE-C2F2-4E8A-B59B-19226C7E945A}" srcOrd="3" destOrd="0" presId="urn:microsoft.com/office/officeart/2005/8/layout/hProcess4"/>
    <dgm:cxn modelId="{4EA1DF71-8B12-4481-A3BA-FCE034AB0CFB}" type="presParOf" srcId="{B3B3F6E9-E0B7-41D1-A81E-7398DBE445B3}" destId="{994B60E8-6028-4A3D-A2D4-49BD7DBD3E30}" srcOrd="4" destOrd="0" presId="urn:microsoft.com/office/officeart/2005/8/layout/hProcess4"/>
    <dgm:cxn modelId="{A0445A77-E74D-4DA1-A5F4-89217B5B7BCE}" type="presParOf" srcId="{61581A8C-ECAD-4EE9-B0C5-A9D15A1D7EAC}" destId="{1F55A2D4-AFE2-4FFC-A9B0-427F36DEAE89}" srcOrd="1" destOrd="0" presId="urn:microsoft.com/office/officeart/2005/8/layout/hProcess4"/>
    <dgm:cxn modelId="{53982F9B-42BF-459E-BACA-AB7793872EC0}" type="presParOf" srcId="{61581A8C-ECAD-4EE9-B0C5-A9D15A1D7EAC}" destId="{4ABC8430-18E2-4DE0-B578-8C4160C23876}" srcOrd="2" destOrd="0" presId="urn:microsoft.com/office/officeart/2005/8/layout/hProcess4"/>
    <dgm:cxn modelId="{07F4DD27-9046-4758-B96F-493C0FE1315E}" type="presParOf" srcId="{4ABC8430-18E2-4DE0-B578-8C4160C23876}" destId="{859E8960-60AD-40DB-8805-7D8EE20641CA}" srcOrd="0" destOrd="0" presId="urn:microsoft.com/office/officeart/2005/8/layout/hProcess4"/>
    <dgm:cxn modelId="{D3EB5DE4-CF21-4C49-8214-F0A46FE27ABF}" type="presParOf" srcId="{4ABC8430-18E2-4DE0-B578-8C4160C23876}" destId="{5254D91D-B5DD-474A-BD64-E23734409FC0}" srcOrd="1" destOrd="0" presId="urn:microsoft.com/office/officeart/2005/8/layout/hProcess4"/>
    <dgm:cxn modelId="{2520407B-1343-4DCF-9704-984C8946B135}" type="presParOf" srcId="{4ABC8430-18E2-4DE0-B578-8C4160C23876}" destId="{1C775431-DEBC-4170-A0B7-50508D22FFE8}" srcOrd="2" destOrd="0" presId="urn:microsoft.com/office/officeart/2005/8/layout/hProcess4"/>
    <dgm:cxn modelId="{1B512FF7-B0BC-453C-B6E2-8E391270A225}" type="presParOf" srcId="{4ABC8430-18E2-4DE0-B578-8C4160C23876}" destId="{547E551B-0509-4852-9BD9-DCB5BB36A970}" srcOrd="3" destOrd="0" presId="urn:microsoft.com/office/officeart/2005/8/layout/hProcess4"/>
    <dgm:cxn modelId="{C8D9AF94-612C-441F-9879-C1007EEF5BF8}" type="presParOf" srcId="{4ABC8430-18E2-4DE0-B578-8C4160C23876}" destId="{F39811C8-0A47-49F4-8BAD-7DDCB471DA93}" srcOrd="4" destOrd="0" presId="urn:microsoft.com/office/officeart/2005/8/layout/hProcess4"/>
    <dgm:cxn modelId="{6A6A6AF7-D3B6-4A5D-AFE5-C9D96FF8960F}" type="presParOf" srcId="{61581A8C-ECAD-4EE9-B0C5-A9D15A1D7EAC}" destId="{80187864-004E-47EA-B143-33CBD42EE443}" srcOrd="3" destOrd="0" presId="urn:microsoft.com/office/officeart/2005/8/layout/hProcess4"/>
    <dgm:cxn modelId="{223AD247-2FC6-4499-83E6-6FF8100460EE}" type="presParOf" srcId="{61581A8C-ECAD-4EE9-B0C5-A9D15A1D7EAC}" destId="{72891268-73A7-4784-997A-235A2E167A0D}" srcOrd="4" destOrd="0" presId="urn:microsoft.com/office/officeart/2005/8/layout/hProcess4"/>
    <dgm:cxn modelId="{A46BF0C5-E670-445E-BD45-B325F97BCE2D}" type="presParOf" srcId="{72891268-73A7-4784-997A-235A2E167A0D}" destId="{C1A3D939-9855-4E62-96C3-30732EA8D607}" srcOrd="0" destOrd="0" presId="urn:microsoft.com/office/officeart/2005/8/layout/hProcess4"/>
    <dgm:cxn modelId="{52271D15-63D8-4B90-B524-7821621FEB19}" type="presParOf" srcId="{72891268-73A7-4784-997A-235A2E167A0D}" destId="{13859AF9-AB6E-456B-ACB8-0EB441751852}" srcOrd="1" destOrd="0" presId="urn:microsoft.com/office/officeart/2005/8/layout/hProcess4"/>
    <dgm:cxn modelId="{BBBD66F2-4962-4926-8E21-4BE70E44A1C8}" type="presParOf" srcId="{72891268-73A7-4784-997A-235A2E167A0D}" destId="{701A7657-7C94-4116-AAC7-46E5B814722E}" srcOrd="2" destOrd="0" presId="urn:microsoft.com/office/officeart/2005/8/layout/hProcess4"/>
    <dgm:cxn modelId="{B1289226-D4A6-4745-91AB-B2576DF32E84}" type="presParOf" srcId="{72891268-73A7-4784-997A-235A2E167A0D}" destId="{3B158D2A-2AF9-439A-9EE1-6E70A7568DD9}" srcOrd="3" destOrd="0" presId="urn:microsoft.com/office/officeart/2005/8/layout/hProcess4"/>
    <dgm:cxn modelId="{F394D54D-295D-4C5D-B70D-B3A6BD8143CB}" type="presParOf" srcId="{72891268-73A7-4784-997A-235A2E167A0D}" destId="{E81A173E-027F-4A27-AE42-1740FAB23E16}" srcOrd="4" destOrd="0" presId="urn:microsoft.com/office/officeart/2005/8/layout/hProcess4"/>
    <dgm:cxn modelId="{E2C2A137-BB83-4154-B6E3-253821D68FC0}" type="presParOf" srcId="{61581A8C-ECAD-4EE9-B0C5-A9D15A1D7EAC}" destId="{6236A8A4-5452-4571-98C7-0A36EF8BA19E}" srcOrd="5" destOrd="0" presId="urn:microsoft.com/office/officeart/2005/8/layout/hProcess4"/>
    <dgm:cxn modelId="{B51CDB2C-622C-4729-A9AB-4B573153D431}" type="presParOf" srcId="{61581A8C-ECAD-4EE9-B0C5-A9D15A1D7EAC}" destId="{0FD20867-35F4-4418-8145-A3DC4FF4192C}" srcOrd="6" destOrd="0" presId="urn:microsoft.com/office/officeart/2005/8/layout/hProcess4"/>
    <dgm:cxn modelId="{78CA1CAE-6DDA-4F74-B0C5-85503F7F3BE0}" type="presParOf" srcId="{0FD20867-35F4-4418-8145-A3DC4FF4192C}" destId="{11E54F0A-2B13-49E6-B344-CCE3D2A416B8}" srcOrd="0" destOrd="0" presId="urn:microsoft.com/office/officeart/2005/8/layout/hProcess4"/>
    <dgm:cxn modelId="{9839057F-757B-4E4C-A99E-082FBDE4D9B8}" type="presParOf" srcId="{0FD20867-35F4-4418-8145-A3DC4FF4192C}" destId="{BC05B551-1EE6-4E76-B59C-08F145FE84C7}" srcOrd="1" destOrd="0" presId="urn:microsoft.com/office/officeart/2005/8/layout/hProcess4"/>
    <dgm:cxn modelId="{4829861D-A4A7-41E3-9E87-1EF7F2403896}" type="presParOf" srcId="{0FD20867-35F4-4418-8145-A3DC4FF4192C}" destId="{25D4C787-DF0B-4E02-8AD2-1E3519B79A63}" srcOrd="2" destOrd="0" presId="urn:microsoft.com/office/officeart/2005/8/layout/hProcess4"/>
    <dgm:cxn modelId="{9C2FC842-43E0-4059-B4F0-8983E658CF9A}" type="presParOf" srcId="{0FD20867-35F4-4418-8145-A3DC4FF4192C}" destId="{3F180FA7-8532-4861-BDC2-9404CAD496E4}" srcOrd="3" destOrd="0" presId="urn:microsoft.com/office/officeart/2005/8/layout/hProcess4"/>
    <dgm:cxn modelId="{29C06E6F-1C19-4307-AA94-1F305CAF6014}" type="presParOf" srcId="{0FD20867-35F4-4418-8145-A3DC4FF4192C}" destId="{C6F93142-A622-47E3-B528-7357E962CEF2}" srcOrd="4" destOrd="0" presId="urn:microsoft.com/office/officeart/2005/8/layout/hProcess4"/>
    <dgm:cxn modelId="{B8882130-192B-43AE-BB2D-C3C6B4A55BA8}" type="presParOf" srcId="{61581A8C-ECAD-4EE9-B0C5-A9D15A1D7EAC}" destId="{4073CCF4-F801-4994-B32F-AF55B2A16E86}" srcOrd="7" destOrd="0" presId="urn:microsoft.com/office/officeart/2005/8/layout/hProcess4"/>
    <dgm:cxn modelId="{3B91B29E-EEA9-4AF9-8897-6FF4BF447E67}" type="presParOf" srcId="{61581A8C-ECAD-4EE9-B0C5-A9D15A1D7EAC}" destId="{232B7ECB-158C-4CA7-AFA7-A64FB235B603}" srcOrd="8" destOrd="0" presId="urn:microsoft.com/office/officeart/2005/8/layout/hProcess4"/>
    <dgm:cxn modelId="{A3791D5E-6E83-447F-93B7-590CD1FCED5A}" type="presParOf" srcId="{232B7ECB-158C-4CA7-AFA7-A64FB235B603}" destId="{BE63E3AA-6379-4169-9C4E-C3F38FB86D61}" srcOrd="0" destOrd="0" presId="urn:microsoft.com/office/officeart/2005/8/layout/hProcess4"/>
    <dgm:cxn modelId="{40780EAD-0C48-4632-9324-D193DA8E0AE4}" type="presParOf" srcId="{232B7ECB-158C-4CA7-AFA7-A64FB235B603}" destId="{95AAC5F5-DFA6-4850-9934-0792A6C08EA7}" srcOrd="1" destOrd="0" presId="urn:microsoft.com/office/officeart/2005/8/layout/hProcess4"/>
    <dgm:cxn modelId="{93B13669-ED88-412A-B2CA-A512E42285D7}" type="presParOf" srcId="{232B7ECB-158C-4CA7-AFA7-A64FB235B603}" destId="{231C5AFB-B699-43A1-A6EF-844C3A3C43F4}" srcOrd="2" destOrd="0" presId="urn:microsoft.com/office/officeart/2005/8/layout/hProcess4"/>
    <dgm:cxn modelId="{9546BB63-9CB7-41FF-A748-8F5054047B94}" type="presParOf" srcId="{232B7ECB-158C-4CA7-AFA7-A64FB235B603}" destId="{442D11E0-059A-472E-8644-1DB0158A00FF}" srcOrd="3" destOrd="0" presId="urn:microsoft.com/office/officeart/2005/8/layout/hProcess4"/>
    <dgm:cxn modelId="{CA284963-06CA-4AB6-BD20-54F5E115648C}" type="presParOf" srcId="{232B7ECB-158C-4CA7-AFA7-A64FB235B603}" destId="{166623BE-437C-4E1C-A15D-7A373430FBBF}" srcOrd="4" destOrd="0" presId="urn:microsoft.com/office/officeart/2005/8/layout/hProcess4"/>
    <dgm:cxn modelId="{1CF2ACB8-FDF8-4B08-A178-BCD0B2C8E086}" type="presParOf" srcId="{61581A8C-ECAD-4EE9-B0C5-A9D15A1D7EAC}" destId="{861332AA-A67C-4891-8C8F-15755F2AD5BD}" srcOrd="9" destOrd="0" presId="urn:microsoft.com/office/officeart/2005/8/layout/hProcess4"/>
    <dgm:cxn modelId="{8D21FDFA-45F9-4F4E-B7FF-2929B3F2595A}" type="presParOf" srcId="{61581A8C-ECAD-4EE9-B0C5-A9D15A1D7EAC}" destId="{E2715364-7189-4A33-9B40-C881A8C56892}" srcOrd="10" destOrd="0" presId="urn:microsoft.com/office/officeart/2005/8/layout/hProcess4"/>
    <dgm:cxn modelId="{ACBF928F-3DB0-4EDD-AA81-436C7AD1487C}" type="presParOf" srcId="{E2715364-7189-4A33-9B40-C881A8C56892}" destId="{70BD4DE3-C5A4-4522-AB07-673B609CD437}" srcOrd="0" destOrd="0" presId="urn:microsoft.com/office/officeart/2005/8/layout/hProcess4"/>
    <dgm:cxn modelId="{41B10E2F-1D5B-4653-97D1-5670B65CDEBE}" type="presParOf" srcId="{E2715364-7189-4A33-9B40-C881A8C56892}" destId="{83AA0851-B235-4585-85B3-26D7A1EC4CFF}" srcOrd="1" destOrd="0" presId="urn:microsoft.com/office/officeart/2005/8/layout/hProcess4"/>
    <dgm:cxn modelId="{668C260F-4406-4201-878D-F6F09D851C45}" type="presParOf" srcId="{E2715364-7189-4A33-9B40-C881A8C56892}" destId="{2089F96D-CCED-4124-AB34-4EC70E9F07D8}" srcOrd="2" destOrd="0" presId="urn:microsoft.com/office/officeart/2005/8/layout/hProcess4"/>
    <dgm:cxn modelId="{890E86B6-33F8-4A4D-8D76-46D507A22726}" type="presParOf" srcId="{E2715364-7189-4A33-9B40-C881A8C56892}" destId="{B6792FC5-76A0-4023-83CB-CEC90F4B80D5}" srcOrd="3" destOrd="0" presId="urn:microsoft.com/office/officeart/2005/8/layout/hProcess4"/>
    <dgm:cxn modelId="{E1DF1F70-5EAA-40DC-962F-F12DB1D61B36}" type="presParOf" srcId="{E2715364-7189-4A33-9B40-C881A8C56892}" destId="{A1849513-A679-4A90-AC3D-4AF9777FF8D9}"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F3705-1592-47DC-8B2A-7E62CCE42C7C}">
      <dsp:nvSpPr>
        <dsp:cNvPr id="0" name=""/>
        <dsp:cNvSpPr/>
      </dsp:nvSpPr>
      <dsp:spPr>
        <a:xfrm>
          <a:off x="0" y="1707061"/>
          <a:ext cx="973664" cy="891149"/>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Acquiring sensible dataset</a:t>
          </a:r>
        </a:p>
      </dsp:txBody>
      <dsp:txXfrm>
        <a:off x="20508" y="1727569"/>
        <a:ext cx="932648" cy="659173"/>
      </dsp:txXfrm>
    </dsp:sp>
    <dsp:sp modelId="{1F55A2D4-AFE2-4FFC-A9B0-427F36DEAE89}">
      <dsp:nvSpPr>
        <dsp:cNvPr id="0" name=""/>
        <dsp:cNvSpPr/>
      </dsp:nvSpPr>
      <dsp:spPr>
        <a:xfrm rot="615314">
          <a:off x="475322" y="1668100"/>
          <a:ext cx="1523453" cy="1523453"/>
        </a:xfrm>
        <a:prstGeom prst="leftCircularArrow">
          <a:avLst>
            <a:gd name="adj1" fmla="val 1471"/>
            <a:gd name="adj2" fmla="val 174150"/>
            <a:gd name="adj3" fmla="val 55238"/>
            <a:gd name="adj4" fmla="val 7130066"/>
            <a:gd name="adj5" fmla="val 1716"/>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B5D4D5CE-C2F2-4E8A-B59B-19226C7E945A}">
      <dsp:nvSpPr>
        <dsp:cNvPr id="0" name=""/>
        <dsp:cNvSpPr/>
      </dsp:nvSpPr>
      <dsp:spPr>
        <a:xfrm>
          <a:off x="132727" y="2537646"/>
          <a:ext cx="1107265" cy="418757"/>
        </a:xfrm>
        <a:prstGeom prst="roundRect">
          <a:avLst>
            <a:gd name="adj" fmla="val 10000"/>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Data</a:t>
          </a:r>
        </a:p>
      </dsp:txBody>
      <dsp:txXfrm>
        <a:off x="144992" y="2549911"/>
        <a:ext cx="1082735" cy="394227"/>
      </dsp:txXfrm>
    </dsp:sp>
    <dsp:sp modelId="{5254D91D-B5DD-474A-BD64-E23734409FC0}">
      <dsp:nvSpPr>
        <dsp:cNvPr id="0" name=""/>
        <dsp:cNvSpPr/>
      </dsp:nvSpPr>
      <dsp:spPr>
        <a:xfrm>
          <a:off x="1397334" y="570391"/>
          <a:ext cx="1099341" cy="2489039"/>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Removing irrelevant fields</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Removing NULL values</a:t>
          </a:r>
        </a:p>
        <a:p>
          <a:pPr marL="114300" lvl="2"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Data imputation</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Changing data types</a:t>
          </a:r>
        </a:p>
      </dsp:txBody>
      <dsp:txXfrm>
        <a:off x="1429533" y="1135955"/>
        <a:ext cx="1034943" cy="1891275"/>
      </dsp:txXfrm>
    </dsp:sp>
    <dsp:sp modelId="{80187864-004E-47EA-B143-33CBD42EE443}">
      <dsp:nvSpPr>
        <dsp:cNvPr id="0" name=""/>
        <dsp:cNvSpPr/>
      </dsp:nvSpPr>
      <dsp:spPr>
        <a:xfrm>
          <a:off x="1130132" y="1021180"/>
          <a:ext cx="2066103" cy="2066103"/>
        </a:xfrm>
        <a:prstGeom prst="circularArrow">
          <a:avLst>
            <a:gd name="adj1" fmla="val 1085"/>
            <a:gd name="adj2" fmla="val 127303"/>
            <a:gd name="adj3" fmla="val 883807"/>
            <a:gd name="adj4" fmla="val 15362132"/>
            <a:gd name="adj5" fmla="val 1266"/>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547E551B-0509-4852-9BD9-DCB5BB36A970}">
      <dsp:nvSpPr>
        <dsp:cNvPr id="0" name=""/>
        <dsp:cNvSpPr/>
      </dsp:nvSpPr>
      <dsp:spPr>
        <a:xfrm>
          <a:off x="1216094" y="1098765"/>
          <a:ext cx="1107265" cy="418757"/>
        </a:xfrm>
        <a:prstGeom prst="roundRect">
          <a:avLst>
            <a:gd name="adj" fmla="val 10000"/>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Data Cleaning</a:t>
          </a:r>
        </a:p>
      </dsp:txBody>
      <dsp:txXfrm>
        <a:off x="1228359" y="1111030"/>
        <a:ext cx="1082735" cy="394227"/>
      </dsp:txXfrm>
    </dsp:sp>
    <dsp:sp modelId="{13859AF9-AB6E-456B-ACB8-0EB441751852}">
      <dsp:nvSpPr>
        <dsp:cNvPr id="0" name=""/>
        <dsp:cNvSpPr/>
      </dsp:nvSpPr>
      <dsp:spPr>
        <a:xfrm>
          <a:off x="2582853" y="2309281"/>
          <a:ext cx="955204" cy="1041028"/>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Choosing best features for the model</a:t>
          </a:r>
        </a:p>
      </dsp:txBody>
      <dsp:txXfrm>
        <a:off x="2606810" y="2333238"/>
        <a:ext cx="907290" cy="770036"/>
      </dsp:txXfrm>
    </dsp:sp>
    <dsp:sp modelId="{6236A8A4-5452-4571-98C7-0A36EF8BA19E}">
      <dsp:nvSpPr>
        <dsp:cNvPr id="0" name=""/>
        <dsp:cNvSpPr/>
      </dsp:nvSpPr>
      <dsp:spPr>
        <a:xfrm>
          <a:off x="2954020" y="1753152"/>
          <a:ext cx="1779633" cy="1779633"/>
        </a:xfrm>
        <a:prstGeom prst="leftCircularArrow">
          <a:avLst>
            <a:gd name="adj1" fmla="val 1259"/>
            <a:gd name="adj2" fmla="val 148374"/>
            <a:gd name="adj3" fmla="val 20674250"/>
            <a:gd name="adj4" fmla="val 6174855"/>
            <a:gd name="adj5" fmla="val 1469"/>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3B158D2A-2AF9-439A-9EE1-6E70A7568DD9}">
      <dsp:nvSpPr>
        <dsp:cNvPr id="0" name=""/>
        <dsp:cNvSpPr/>
      </dsp:nvSpPr>
      <dsp:spPr>
        <a:xfrm>
          <a:off x="2810811" y="3225068"/>
          <a:ext cx="1107265" cy="418757"/>
        </a:xfrm>
        <a:prstGeom prst="roundRect">
          <a:avLst>
            <a:gd name="adj" fmla="val 10000"/>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Feature Selection</a:t>
          </a:r>
        </a:p>
      </dsp:txBody>
      <dsp:txXfrm>
        <a:off x="2823076" y="3237333"/>
        <a:ext cx="1082735" cy="394227"/>
      </dsp:txXfrm>
    </dsp:sp>
    <dsp:sp modelId="{BC05B551-1EE6-4E76-B59C-08F145FE84C7}">
      <dsp:nvSpPr>
        <dsp:cNvPr id="0" name=""/>
        <dsp:cNvSpPr/>
      </dsp:nvSpPr>
      <dsp:spPr>
        <a:xfrm>
          <a:off x="4008140" y="1616329"/>
          <a:ext cx="1082719" cy="918084"/>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Depending on the model</a:t>
          </a:r>
        </a:p>
      </dsp:txBody>
      <dsp:txXfrm>
        <a:off x="4029268" y="1834189"/>
        <a:ext cx="1040463" cy="679095"/>
      </dsp:txXfrm>
    </dsp:sp>
    <dsp:sp modelId="{4073CCF4-F801-4994-B32F-AF55B2A16E86}">
      <dsp:nvSpPr>
        <dsp:cNvPr id="0" name=""/>
        <dsp:cNvSpPr/>
      </dsp:nvSpPr>
      <dsp:spPr>
        <a:xfrm rot="20941794">
          <a:off x="4173503" y="1102952"/>
          <a:ext cx="1433421" cy="1433421"/>
        </a:xfrm>
        <a:prstGeom prst="circularArrow">
          <a:avLst>
            <a:gd name="adj1" fmla="val 1564"/>
            <a:gd name="adj2" fmla="val 185475"/>
            <a:gd name="adj3" fmla="val 20218361"/>
            <a:gd name="adj4" fmla="val 13154857"/>
            <a:gd name="adj5" fmla="val 1824"/>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3F180FA7-8532-4861-BDC2-9404CAD496E4}">
      <dsp:nvSpPr>
        <dsp:cNvPr id="0" name=""/>
        <dsp:cNvSpPr/>
      </dsp:nvSpPr>
      <dsp:spPr>
        <a:xfrm>
          <a:off x="3851623" y="1534626"/>
          <a:ext cx="1107265" cy="418757"/>
        </a:xfrm>
        <a:prstGeom prst="roundRect">
          <a:avLst>
            <a:gd name="adj" fmla="val 10000"/>
          </a:avLst>
        </a:prstGeom>
        <a:solidFill>
          <a:schemeClr val="bg2">
            <a:lumMod val="75000"/>
            <a:alpha val="9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Hyperparameter Tuning</a:t>
          </a:r>
        </a:p>
      </dsp:txBody>
      <dsp:txXfrm>
        <a:off x="3863888" y="1546891"/>
        <a:ext cx="1082735" cy="394227"/>
      </dsp:txXfrm>
    </dsp:sp>
    <dsp:sp modelId="{95AAC5F5-DFA6-4850-9934-0792A6C08EA7}">
      <dsp:nvSpPr>
        <dsp:cNvPr id="0" name=""/>
        <dsp:cNvSpPr/>
      </dsp:nvSpPr>
      <dsp:spPr>
        <a:xfrm>
          <a:off x="5220608" y="1536921"/>
          <a:ext cx="907305" cy="1322662"/>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Confusion matrix</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Accuracy</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Sensitivity</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Specificity</a:t>
          </a:r>
        </a:p>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Precision</a:t>
          </a:r>
        </a:p>
      </dsp:txBody>
      <dsp:txXfrm>
        <a:off x="5247182" y="1563495"/>
        <a:ext cx="854157" cy="986086"/>
      </dsp:txXfrm>
    </dsp:sp>
    <dsp:sp modelId="{861332AA-A67C-4891-8C8F-15755F2AD5BD}">
      <dsp:nvSpPr>
        <dsp:cNvPr id="0" name=""/>
        <dsp:cNvSpPr/>
      </dsp:nvSpPr>
      <dsp:spPr>
        <a:xfrm>
          <a:off x="5087219" y="1901811"/>
          <a:ext cx="1543143" cy="1543143"/>
        </a:xfrm>
        <a:prstGeom prst="leftCircularArrow">
          <a:avLst>
            <a:gd name="adj1" fmla="val 1452"/>
            <a:gd name="adj2" fmla="val 171855"/>
            <a:gd name="adj3" fmla="val 430734"/>
            <a:gd name="adj4" fmla="val 7507857"/>
            <a:gd name="adj5" fmla="val 1694"/>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442D11E0-059A-472E-8644-1DB0158A00FF}">
      <dsp:nvSpPr>
        <dsp:cNvPr id="0" name=""/>
        <dsp:cNvSpPr/>
      </dsp:nvSpPr>
      <dsp:spPr>
        <a:xfrm>
          <a:off x="4895732" y="2822504"/>
          <a:ext cx="1107265" cy="418757"/>
        </a:xfrm>
        <a:prstGeom prst="roundRect">
          <a:avLst>
            <a:gd name="adj" fmla="val 10000"/>
          </a:avLst>
        </a:prstGeom>
        <a:solidFill>
          <a:schemeClr val="bg2">
            <a:lumMod val="75000"/>
            <a:alpha val="9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Testing</a:t>
          </a:r>
        </a:p>
      </dsp:txBody>
      <dsp:txXfrm>
        <a:off x="4907997" y="2834769"/>
        <a:ext cx="1082735" cy="394227"/>
      </dsp:txXfrm>
    </dsp:sp>
    <dsp:sp modelId="{83AA0851-B235-4585-85B3-26D7A1EC4CFF}">
      <dsp:nvSpPr>
        <dsp:cNvPr id="0" name=""/>
        <dsp:cNvSpPr/>
      </dsp:nvSpPr>
      <dsp:spPr>
        <a:xfrm>
          <a:off x="6336935" y="1691794"/>
          <a:ext cx="911228" cy="1069382"/>
        </a:xfrm>
        <a:prstGeom prst="roundRect">
          <a:avLst>
            <a:gd name="adj" fmla="val 10000"/>
          </a:avLst>
        </a:prstGeom>
        <a:solidFill>
          <a:schemeClr val="tx1">
            <a:lumMod val="85000"/>
            <a:alpha val="90000"/>
          </a:schemeClr>
        </a:solidFill>
        <a:ln w="12700" cap="flat" cmpd="sng" algn="ctr">
          <a:solidFill>
            <a:srgbClr val="49C6D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chemeClr val="bg1"/>
              </a:solidFill>
              <a:latin typeface="Calibri" panose="020F0502020204030204" pitchFamily="34" charset="0"/>
            </a:rPr>
            <a:t>Choosing model with best testing </a:t>
          </a:r>
          <a:r>
            <a:rPr lang="en-US" sz="1000" kern="1200" baseline="0" dirty="0">
              <a:solidFill>
                <a:schemeClr val="bg1"/>
              </a:solidFill>
              <a:latin typeface="Calibri" panose="020F0502020204030204" pitchFamily="34" charset="0"/>
            </a:rPr>
            <a:t>results</a:t>
          </a:r>
        </a:p>
      </dsp:txBody>
      <dsp:txXfrm>
        <a:off x="6361544" y="1945556"/>
        <a:ext cx="862010" cy="791010"/>
      </dsp:txXfrm>
    </dsp:sp>
    <dsp:sp modelId="{B6792FC5-76A0-4023-83CB-CEC90F4B80D5}">
      <dsp:nvSpPr>
        <dsp:cNvPr id="0" name=""/>
        <dsp:cNvSpPr/>
      </dsp:nvSpPr>
      <dsp:spPr>
        <a:xfrm>
          <a:off x="6406305" y="1512096"/>
          <a:ext cx="1107265" cy="418757"/>
        </a:xfrm>
        <a:prstGeom prst="roundRect">
          <a:avLst>
            <a:gd name="adj" fmla="val 10000"/>
          </a:avLst>
        </a:prstGeom>
        <a:solidFill>
          <a:schemeClr val="bg2">
            <a:lumMod val="75000"/>
            <a:alpha val="9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baseline="0" dirty="0">
              <a:solidFill>
                <a:schemeClr val="bg1"/>
              </a:solidFill>
              <a:latin typeface="Calibri" panose="020F0502020204030204" pitchFamily="34" charset="0"/>
            </a:rPr>
            <a:t>Model Selection</a:t>
          </a:r>
        </a:p>
      </dsp:txBody>
      <dsp:txXfrm>
        <a:off x="6418570" y="1524361"/>
        <a:ext cx="1082735" cy="3942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D1FC6-47F7-432B-A263-1E6D8882E410}" type="datetimeFigureOut">
              <a:t>9/30/25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45B1E-7D87-4CE8-8E0B-38B942038A73}" type="slidenum">
              <a:t>‹#›</a:t>
            </a:fld>
            <a:endParaRPr lang="en-US"/>
          </a:p>
        </p:txBody>
      </p:sp>
    </p:spTree>
    <p:extLst>
      <p:ext uri="{BB962C8B-B14F-4D97-AF65-F5344CB8AC3E}">
        <p14:creationId xmlns:p14="http://schemas.microsoft.com/office/powerpoint/2010/main" val="2184110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p:cNvSpPr>
            <a:spLocks noGrp="1"/>
          </p:cNvSpPr>
          <p:nvPr>
            <p:ph type="sldNum" sz="quarter" idx="5"/>
          </p:nvPr>
        </p:nvSpPr>
        <p:spPr/>
        <p:txBody>
          <a:bodyPr/>
          <a:lstStyle/>
          <a:p>
            <a:fld id="{44A45B1E-7D87-4CE8-8E0B-38B942038A73}" type="slidenum">
              <a:t>1</a:t>
            </a:fld>
            <a:endParaRPr lang="en-US"/>
          </a:p>
        </p:txBody>
      </p:sp>
    </p:spTree>
    <p:extLst>
      <p:ext uri="{BB962C8B-B14F-4D97-AF65-F5344CB8AC3E}">
        <p14:creationId xmlns:p14="http://schemas.microsoft.com/office/powerpoint/2010/main" val="2919177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B0ED-0C8E-601A-652A-47535A473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5CC7E-7D49-8776-F34F-266703462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FC232-3CD3-C39F-9EEE-37A5AFAC96CA}"/>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CC2FF746-2197-4760-D2F2-9B2C52CF8A78}"/>
              </a:ext>
            </a:extLst>
          </p:cNvPr>
          <p:cNvSpPr>
            <a:spLocks noGrp="1"/>
          </p:cNvSpPr>
          <p:nvPr>
            <p:ph type="sldNum" sz="quarter" idx="5"/>
          </p:nvPr>
        </p:nvSpPr>
        <p:spPr/>
        <p:txBody>
          <a:bodyPr/>
          <a:lstStyle/>
          <a:p>
            <a:fld id="{44A45B1E-7D87-4CE8-8E0B-38B942038A73}" type="slidenum">
              <a:t>2</a:t>
            </a:fld>
            <a:endParaRPr lang="en-US"/>
          </a:p>
        </p:txBody>
      </p:sp>
    </p:spTree>
    <p:extLst>
      <p:ext uri="{BB962C8B-B14F-4D97-AF65-F5344CB8AC3E}">
        <p14:creationId xmlns:p14="http://schemas.microsoft.com/office/powerpoint/2010/main" val="2158850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175C-265C-5D73-5C10-51582225E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9CFE6-FAF4-DEA8-F3D9-39553AD10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52B43-BD8C-FCFB-36E5-B00F22289E3B}"/>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6BA364A4-9C11-B49F-A9D5-16CEB649F168}"/>
              </a:ext>
            </a:extLst>
          </p:cNvPr>
          <p:cNvSpPr>
            <a:spLocks noGrp="1"/>
          </p:cNvSpPr>
          <p:nvPr>
            <p:ph type="sldNum" sz="quarter" idx="5"/>
          </p:nvPr>
        </p:nvSpPr>
        <p:spPr/>
        <p:txBody>
          <a:bodyPr/>
          <a:lstStyle/>
          <a:p>
            <a:fld id="{44A45B1E-7D87-4CE8-8E0B-38B942038A73}" type="slidenum">
              <a:t>3</a:t>
            </a:fld>
            <a:endParaRPr lang="en-US"/>
          </a:p>
        </p:txBody>
      </p:sp>
    </p:spTree>
    <p:extLst>
      <p:ext uri="{BB962C8B-B14F-4D97-AF65-F5344CB8AC3E}">
        <p14:creationId xmlns:p14="http://schemas.microsoft.com/office/powerpoint/2010/main" val="572562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1041E-8C72-2064-B5CA-ECF5180FC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A2AD0-79C2-3FD3-904E-3EBC7FF5A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EE461-A053-712A-1885-1CCB0E42C38A}"/>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588B77B8-EB77-FC5E-74AE-32281EF207AE}"/>
              </a:ext>
            </a:extLst>
          </p:cNvPr>
          <p:cNvSpPr>
            <a:spLocks noGrp="1"/>
          </p:cNvSpPr>
          <p:nvPr>
            <p:ph type="sldNum" sz="quarter" idx="5"/>
          </p:nvPr>
        </p:nvSpPr>
        <p:spPr/>
        <p:txBody>
          <a:bodyPr/>
          <a:lstStyle/>
          <a:p>
            <a:fld id="{44A45B1E-7D87-4CE8-8E0B-38B942038A73}" type="slidenum">
              <a:t>4</a:t>
            </a:fld>
            <a:endParaRPr lang="en-US"/>
          </a:p>
        </p:txBody>
      </p:sp>
    </p:spTree>
    <p:extLst>
      <p:ext uri="{BB962C8B-B14F-4D97-AF65-F5344CB8AC3E}">
        <p14:creationId xmlns:p14="http://schemas.microsoft.com/office/powerpoint/2010/main" val="3952989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616A-C918-405D-A23A-3ACCFC44A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4415B-955C-8941-DA0E-A3349F955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AA58E-0E3B-0A78-1ACA-BB03B65365A9}"/>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326AADAC-62DF-29E6-C193-237CF7401B78}"/>
              </a:ext>
            </a:extLst>
          </p:cNvPr>
          <p:cNvSpPr>
            <a:spLocks noGrp="1"/>
          </p:cNvSpPr>
          <p:nvPr>
            <p:ph type="sldNum" sz="quarter" idx="5"/>
          </p:nvPr>
        </p:nvSpPr>
        <p:spPr/>
        <p:txBody>
          <a:bodyPr/>
          <a:lstStyle/>
          <a:p>
            <a:fld id="{44A45B1E-7D87-4CE8-8E0B-38B942038A73}" type="slidenum">
              <a:t>5</a:t>
            </a:fld>
            <a:endParaRPr lang="en-US"/>
          </a:p>
        </p:txBody>
      </p:sp>
    </p:spTree>
    <p:extLst>
      <p:ext uri="{BB962C8B-B14F-4D97-AF65-F5344CB8AC3E}">
        <p14:creationId xmlns:p14="http://schemas.microsoft.com/office/powerpoint/2010/main" val="132513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44C4D-D630-A081-BCD7-12EBFAFA4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55856-3EBB-0F8F-0CFB-C0B05DAB2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181F2-4CE5-C136-7CC6-28D22AD25B04}"/>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325213F9-CF85-06AC-24A9-EAB47D81A4C0}"/>
              </a:ext>
            </a:extLst>
          </p:cNvPr>
          <p:cNvSpPr>
            <a:spLocks noGrp="1"/>
          </p:cNvSpPr>
          <p:nvPr>
            <p:ph type="sldNum" sz="quarter" idx="5"/>
          </p:nvPr>
        </p:nvSpPr>
        <p:spPr/>
        <p:txBody>
          <a:bodyPr/>
          <a:lstStyle/>
          <a:p>
            <a:fld id="{44A45B1E-7D87-4CE8-8E0B-38B942038A73}" type="slidenum">
              <a:t>6</a:t>
            </a:fld>
            <a:endParaRPr lang="en-US"/>
          </a:p>
        </p:txBody>
      </p:sp>
    </p:spTree>
    <p:extLst>
      <p:ext uri="{BB962C8B-B14F-4D97-AF65-F5344CB8AC3E}">
        <p14:creationId xmlns:p14="http://schemas.microsoft.com/office/powerpoint/2010/main" val="688586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61247-D27C-1D01-7614-BC8F229C8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53675-A806-A60D-5711-E1D4FCBAC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B15CF-1C71-84E7-F9F3-9260AFD18DAE}"/>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05A3E6A3-B6E9-CB91-7C36-422EE482FCA0}"/>
              </a:ext>
            </a:extLst>
          </p:cNvPr>
          <p:cNvSpPr>
            <a:spLocks noGrp="1"/>
          </p:cNvSpPr>
          <p:nvPr>
            <p:ph type="sldNum" sz="quarter" idx="5"/>
          </p:nvPr>
        </p:nvSpPr>
        <p:spPr/>
        <p:txBody>
          <a:bodyPr/>
          <a:lstStyle/>
          <a:p>
            <a:fld id="{44A45B1E-7D87-4CE8-8E0B-38B942038A73}" type="slidenum">
              <a:t>7</a:t>
            </a:fld>
            <a:endParaRPr lang="en-US"/>
          </a:p>
        </p:txBody>
      </p:sp>
    </p:spTree>
    <p:extLst>
      <p:ext uri="{BB962C8B-B14F-4D97-AF65-F5344CB8AC3E}">
        <p14:creationId xmlns:p14="http://schemas.microsoft.com/office/powerpoint/2010/main" val="3706281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88BDE-2242-E77F-C938-4715CFB4D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F0958-86FB-F324-73A3-D79D81560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AF8A4-DD88-987E-8D87-E770E9E3532B}"/>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6D671772-D35D-FFC4-63CD-7B99D15FCCE1}"/>
              </a:ext>
            </a:extLst>
          </p:cNvPr>
          <p:cNvSpPr>
            <a:spLocks noGrp="1"/>
          </p:cNvSpPr>
          <p:nvPr>
            <p:ph type="sldNum" sz="quarter" idx="5"/>
          </p:nvPr>
        </p:nvSpPr>
        <p:spPr/>
        <p:txBody>
          <a:bodyPr/>
          <a:lstStyle/>
          <a:p>
            <a:fld id="{44A45B1E-7D87-4CE8-8E0B-38B942038A73}" type="slidenum">
              <a:t>8</a:t>
            </a:fld>
            <a:endParaRPr lang="en-US"/>
          </a:p>
        </p:txBody>
      </p:sp>
    </p:spTree>
    <p:extLst>
      <p:ext uri="{BB962C8B-B14F-4D97-AF65-F5344CB8AC3E}">
        <p14:creationId xmlns:p14="http://schemas.microsoft.com/office/powerpoint/2010/main" val="1392762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4F2F-5497-E988-A7D3-A8A14E3D9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8FD41-11C8-1C39-E3F9-0FAC23408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FD94D-E176-3406-49A3-1554DDD7D4F0}"/>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48EE5164-0C64-DB6A-051D-6CF2FD1FAD18}"/>
              </a:ext>
            </a:extLst>
          </p:cNvPr>
          <p:cNvSpPr>
            <a:spLocks noGrp="1"/>
          </p:cNvSpPr>
          <p:nvPr>
            <p:ph type="sldNum" sz="quarter" idx="5"/>
          </p:nvPr>
        </p:nvSpPr>
        <p:spPr/>
        <p:txBody>
          <a:bodyPr/>
          <a:lstStyle/>
          <a:p>
            <a:fld id="{44A45B1E-7D87-4CE8-8E0B-38B942038A73}" type="slidenum">
              <a:t>9</a:t>
            </a:fld>
            <a:endParaRPr lang="en-US"/>
          </a:p>
        </p:txBody>
      </p:sp>
    </p:spTree>
    <p:extLst>
      <p:ext uri="{BB962C8B-B14F-4D97-AF65-F5344CB8AC3E}">
        <p14:creationId xmlns:p14="http://schemas.microsoft.com/office/powerpoint/2010/main" val="2695281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8D1D-CBB8-4352-405F-4BDE76CB2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48FF8-B60A-12CB-3ECF-23F2431CF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97157-8017-2A68-26C4-96A60367FE78}"/>
              </a:ext>
            </a:extLst>
          </p:cNvPr>
          <p:cNvSpPr>
            <a:spLocks noGrp="1"/>
          </p:cNvSpPr>
          <p:nvPr>
            <p:ph type="body" idx="1"/>
          </p:nvPr>
        </p:nvSpPr>
        <p:spPr/>
        <p:txBody>
          <a:bodyPr/>
          <a:lstStyle/>
          <a:p>
            <a:r>
              <a:rPr lang="en-US" dirty="0"/>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08241A1F-C4F2-C798-2E56-9890F76E3A4C}"/>
              </a:ext>
            </a:extLst>
          </p:cNvPr>
          <p:cNvSpPr>
            <a:spLocks noGrp="1"/>
          </p:cNvSpPr>
          <p:nvPr>
            <p:ph type="sldNum" sz="quarter" idx="5"/>
          </p:nvPr>
        </p:nvSpPr>
        <p:spPr/>
        <p:txBody>
          <a:bodyPr/>
          <a:lstStyle/>
          <a:p>
            <a:fld id="{44A45B1E-7D87-4CE8-8E0B-38B942038A73}" type="slidenum">
              <a:t>10</a:t>
            </a:fld>
            <a:endParaRPr lang="en-US"/>
          </a:p>
        </p:txBody>
      </p:sp>
    </p:spTree>
    <p:extLst>
      <p:ext uri="{BB962C8B-B14F-4D97-AF65-F5344CB8AC3E}">
        <p14:creationId xmlns:p14="http://schemas.microsoft.com/office/powerpoint/2010/main" val="1998575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289EF-BD6B-2E38-4A2E-8996DC0FB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BF27B-0A32-355A-8E22-157A9360B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3DB9A-A9D3-8DDA-480D-E124A5D2AFCA}"/>
              </a:ext>
            </a:extLst>
          </p:cNvPr>
          <p:cNvSpPr>
            <a:spLocks noGrp="1"/>
          </p:cNvSpPr>
          <p:nvPr>
            <p:ph type="body" idx="1"/>
          </p:nvPr>
        </p:nvSpPr>
        <p:spPr/>
        <p:txBody>
          <a:bodyPr/>
          <a:lstStyle/>
          <a:p>
            <a:r>
              <a:rPr lang="en-US" dirty="0"/>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CC9C8868-9FB0-771B-2FD8-0097259A0B3E}"/>
              </a:ext>
            </a:extLst>
          </p:cNvPr>
          <p:cNvSpPr>
            <a:spLocks noGrp="1"/>
          </p:cNvSpPr>
          <p:nvPr>
            <p:ph type="sldNum" sz="quarter" idx="5"/>
          </p:nvPr>
        </p:nvSpPr>
        <p:spPr/>
        <p:txBody>
          <a:bodyPr/>
          <a:lstStyle/>
          <a:p>
            <a:fld id="{44A45B1E-7D87-4CE8-8E0B-38B942038A73}" type="slidenum">
              <a:t>11</a:t>
            </a:fld>
            <a:endParaRPr lang="en-US"/>
          </a:p>
        </p:txBody>
      </p:sp>
    </p:spTree>
    <p:extLst>
      <p:ext uri="{BB962C8B-B14F-4D97-AF65-F5344CB8AC3E}">
        <p14:creationId xmlns:p14="http://schemas.microsoft.com/office/powerpoint/2010/main" val="1421071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4AF6-ED1A-288C-7EFE-00A5AFA94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E09EE-30B0-C8EC-22F9-E18EFC5A8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FD31B-EB2C-A2CA-64B5-BC5F37675F76}"/>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DAB4BCD9-E59A-0164-756D-CECEA5A8DCA5}"/>
              </a:ext>
            </a:extLst>
          </p:cNvPr>
          <p:cNvSpPr>
            <a:spLocks noGrp="1"/>
          </p:cNvSpPr>
          <p:nvPr>
            <p:ph type="sldNum" sz="quarter" idx="5"/>
          </p:nvPr>
        </p:nvSpPr>
        <p:spPr/>
        <p:txBody>
          <a:bodyPr/>
          <a:lstStyle/>
          <a:p>
            <a:fld id="{44A45B1E-7D87-4CE8-8E0B-38B942038A73}" type="slidenum">
              <a:t>12</a:t>
            </a:fld>
            <a:endParaRPr lang="en-US"/>
          </a:p>
        </p:txBody>
      </p:sp>
    </p:spTree>
    <p:extLst>
      <p:ext uri="{BB962C8B-B14F-4D97-AF65-F5344CB8AC3E}">
        <p14:creationId xmlns:p14="http://schemas.microsoft.com/office/powerpoint/2010/main" val="23132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BD05E-C711-E18A-CB63-A73FF675D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A9138-A38A-381E-A87C-4F787DE6D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19133-5612-6B08-DD55-411710EE179F}"/>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B1C931FF-E92A-840E-52BD-A043A31F977F}"/>
              </a:ext>
            </a:extLst>
          </p:cNvPr>
          <p:cNvSpPr>
            <a:spLocks noGrp="1"/>
          </p:cNvSpPr>
          <p:nvPr>
            <p:ph type="sldNum" sz="quarter" idx="5"/>
          </p:nvPr>
        </p:nvSpPr>
        <p:spPr/>
        <p:txBody>
          <a:bodyPr/>
          <a:lstStyle/>
          <a:p>
            <a:fld id="{44A45B1E-7D87-4CE8-8E0B-38B942038A73}" type="slidenum">
              <a:t>13</a:t>
            </a:fld>
            <a:endParaRPr lang="en-US"/>
          </a:p>
        </p:txBody>
      </p:sp>
    </p:spTree>
    <p:extLst>
      <p:ext uri="{BB962C8B-B14F-4D97-AF65-F5344CB8AC3E}">
        <p14:creationId xmlns:p14="http://schemas.microsoft.com/office/powerpoint/2010/main" val="2732596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46EA7-F306-ECD9-53C9-1D27DB69F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978C6-A523-D25B-936B-5D324B61EA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A5F3C-8B03-A0E7-90F8-1FF8E862C94F}"/>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C836C25F-B88B-CC10-CACA-B5471B9622EF}"/>
              </a:ext>
            </a:extLst>
          </p:cNvPr>
          <p:cNvSpPr>
            <a:spLocks noGrp="1"/>
          </p:cNvSpPr>
          <p:nvPr>
            <p:ph type="sldNum" sz="quarter" idx="5"/>
          </p:nvPr>
        </p:nvSpPr>
        <p:spPr/>
        <p:txBody>
          <a:bodyPr/>
          <a:lstStyle/>
          <a:p>
            <a:fld id="{44A45B1E-7D87-4CE8-8E0B-38B942038A73}" type="slidenum">
              <a:t>14</a:t>
            </a:fld>
            <a:endParaRPr lang="en-US"/>
          </a:p>
        </p:txBody>
      </p:sp>
    </p:spTree>
    <p:extLst>
      <p:ext uri="{BB962C8B-B14F-4D97-AF65-F5344CB8AC3E}">
        <p14:creationId xmlns:p14="http://schemas.microsoft.com/office/powerpoint/2010/main" val="1491613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B680-8B11-C97E-3450-33E364466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78D30-2A8C-5645-4897-B05920E40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BD9EA-91E4-449D-F4A6-992F0F42769D}"/>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51F0534B-10C6-37E8-BE25-2EA1EFEBDF73}"/>
              </a:ext>
            </a:extLst>
          </p:cNvPr>
          <p:cNvSpPr>
            <a:spLocks noGrp="1"/>
          </p:cNvSpPr>
          <p:nvPr>
            <p:ph type="sldNum" sz="quarter" idx="5"/>
          </p:nvPr>
        </p:nvSpPr>
        <p:spPr/>
        <p:txBody>
          <a:bodyPr/>
          <a:lstStyle/>
          <a:p>
            <a:fld id="{44A45B1E-7D87-4CE8-8E0B-38B942038A73}" type="slidenum">
              <a:t>16</a:t>
            </a:fld>
            <a:endParaRPr lang="en-US"/>
          </a:p>
        </p:txBody>
      </p:sp>
    </p:spTree>
    <p:extLst>
      <p:ext uri="{BB962C8B-B14F-4D97-AF65-F5344CB8AC3E}">
        <p14:creationId xmlns:p14="http://schemas.microsoft.com/office/powerpoint/2010/main" val="1663141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E0576-0C10-A4FC-DF71-C326107C2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6AC24-B115-7D2E-4690-009D1286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78BEA-C38E-9885-AD4B-83F083C548E8}"/>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C6EBF9CE-821B-365C-EE78-4EAE6C82994A}"/>
              </a:ext>
            </a:extLst>
          </p:cNvPr>
          <p:cNvSpPr>
            <a:spLocks noGrp="1"/>
          </p:cNvSpPr>
          <p:nvPr>
            <p:ph type="sldNum" sz="quarter" idx="5"/>
          </p:nvPr>
        </p:nvSpPr>
        <p:spPr/>
        <p:txBody>
          <a:bodyPr/>
          <a:lstStyle/>
          <a:p>
            <a:fld id="{44A45B1E-7D87-4CE8-8E0B-38B942038A73}" type="slidenum">
              <a:t>17</a:t>
            </a:fld>
            <a:endParaRPr lang="en-US"/>
          </a:p>
        </p:txBody>
      </p:sp>
    </p:spTree>
    <p:extLst>
      <p:ext uri="{BB962C8B-B14F-4D97-AF65-F5344CB8AC3E}">
        <p14:creationId xmlns:p14="http://schemas.microsoft.com/office/powerpoint/2010/main" val="2846677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0513-A18A-08BC-9902-E9CE665B8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1DD6D-F9F9-C092-15E9-D518206AA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23DDD-1092-9F4B-B952-815D9DB53FD1}"/>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4D4DB544-7849-2D35-780D-2DB6AE22B8DF}"/>
              </a:ext>
            </a:extLst>
          </p:cNvPr>
          <p:cNvSpPr>
            <a:spLocks noGrp="1"/>
          </p:cNvSpPr>
          <p:nvPr>
            <p:ph type="sldNum" sz="quarter" idx="5"/>
          </p:nvPr>
        </p:nvSpPr>
        <p:spPr/>
        <p:txBody>
          <a:bodyPr/>
          <a:lstStyle/>
          <a:p>
            <a:fld id="{44A45B1E-7D87-4CE8-8E0B-38B942038A73}" type="slidenum">
              <a:t>18</a:t>
            </a:fld>
            <a:endParaRPr lang="en-US"/>
          </a:p>
        </p:txBody>
      </p:sp>
    </p:spTree>
    <p:extLst>
      <p:ext uri="{BB962C8B-B14F-4D97-AF65-F5344CB8AC3E}">
        <p14:creationId xmlns:p14="http://schemas.microsoft.com/office/powerpoint/2010/main" val="653113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2B19-36F3-AEA8-DB8A-76C179276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960DB-7BD0-C0AC-AEB1-1E4FE28C0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AD06A-CF80-5308-A6EF-442FB0D56E01}"/>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F29B2673-8E52-6FA8-7C8A-A1B60466C7E6}"/>
              </a:ext>
            </a:extLst>
          </p:cNvPr>
          <p:cNvSpPr>
            <a:spLocks noGrp="1"/>
          </p:cNvSpPr>
          <p:nvPr>
            <p:ph type="sldNum" sz="quarter" idx="5"/>
          </p:nvPr>
        </p:nvSpPr>
        <p:spPr/>
        <p:txBody>
          <a:bodyPr/>
          <a:lstStyle/>
          <a:p>
            <a:fld id="{44A45B1E-7D87-4CE8-8E0B-38B942038A73}" type="slidenum">
              <a:t>19</a:t>
            </a:fld>
            <a:endParaRPr lang="en-US"/>
          </a:p>
        </p:txBody>
      </p:sp>
    </p:spTree>
    <p:extLst>
      <p:ext uri="{BB962C8B-B14F-4D97-AF65-F5344CB8AC3E}">
        <p14:creationId xmlns:p14="http://schemas.microsoft.com/office/powerpoint/2010/main" val="37103629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F8F8F-47CB-A31F-8DC7-D96696776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C1871-BE89-AE85-62F5-A84C5BD01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C3D3F-BB62-3CD7-3268-3BFA2A6690BA}"/>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D80AB4D8-593D-748C-3467-5099D84F0CC5}"/>
              </a:ext>
            </a:extLst>
          </p:cNvPr>
          <p:cNvSpPr>
            <a:spLocks noGrp="1"/>
          </p:cNvSpPr>
          <p:nvPr>
            <p:ph type="sldNum" sz="quarter" idx="5"/>
          </p:nvPr>
        </p:nvSpPr>
        <p:spPr/>
        <p:txBody>
          <a:bodyPr/>
          <a:lstStyle/>
          <a:p>
            <a:fld id="{44A45B1E-7D87-4CE8-8E0B-38B942038A73}" type="slidenum">
              <a:t>20</a:t>
            </a:fld>
            <a:endParaRPr lang="en-US"/>
          </a:p>
        </p:txBody>
      </p:sp>
    </p:spTree>
    <p:extLst>
      <p:ext uri="{BB962C8B-B14F-4D97-AF65-F5344CB8AC3E}">
        <p14:creationId xmlns:p14="http://schemas.microsoft.com/office/powerpoint/2010/main" val="2163228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D2B6-1601-8A3C-D004-808790689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28942-D40B-F345-77C5-6A95EE53E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68BD7-4DBB-0BFE-BAA7-C3365B10E8DF}"/>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A3AA72EF-B47D-D890-B773-DF46DE722EDF}"/>
              </a:ext>
            </a:extLst>
          </p:cNvPr>
          <p:cNvSpPr>
            <a:spLocks noGrp="1"/>
          </p:cNvSpPr>
          <p:nvPr>
            <p:ph type="sldNum" sz="quarter" idx="5"/>
          </p:nvPr>
        </p:nvSpPr>
        <p:spPr/>
        <p:txBody>
          <a:bodyPr/>
          <a:lstStyle/>
          <a:p>
            <a:fld id="{44A45B1E-7D87-4CE8-8E0B-38B942038A73}" type="slidenum">
              <a:t>21</a:t>
            </a:fld>
            <a:endParaRPr lang="en-US"/>
          </a:p>
        </p:txBody>
      </p:sp>
    </p:spTree>
    <p:extLst>
      <p:ext uri="{BB962C8B-B14F-4D97-AF65-F5344CB8AC3E}">
        <p14:creationId xmlns:p14="http://schemas.microsoft.com/office/powerpoint/2010/main" val="946730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99AFB-CC55-96C5-C0A0-57EE7903A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E2D30-3C9A-D923-9CF8-2EE664FDB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7BEB0-60B9-596A-2171-52F712714483}"/>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E7AC6AFE-1575-448A-C8EA-4E082C251C24}"/>
              </a:ext>
            </a:extLst>
          </p:cNvPr>
          <p:cNvSpPr>
            <a:spLocks noGrp="1"/>
          </p:cNvSpPr>
          <p:nvPr>
            <p:ph type="sldNum" sz="quarter" idx="5"/>
          </p:nvPr>
        </p:nvSpPr>
        <p:spPr/>
        <p:txBody>
          <a:bodyPr/>
          <a:lstStyle/>
          <a:p>
            <a:fld id="{44A45B1E-7D87-4CE8-8E0B-38B942038A73}" type="slidenum">
              <a:t>22</a:t>
            </a:fld>
            <a:endParaRPr lang="en-US"/>
          </a:p>
        </p:txBody>
      </p:sp>
    </p:spTree>
    <p:extLst>
      <p:ext uri="{BB962C8B-B14F-4D97-AF65-F5344CB8AC3E}">
        <p14:creationId xmlns:p14="http://schemas.microsoft.com/office/powerpoint/2010/main" val="2338007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F7C5-63BE-4D77-498B-B52819AA3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1A759-49DF-74E9-1331-2E5F6A6B0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14914-1BD1-2F79-4400-D190BDB5A378}"/>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81577FA1-6735-DFB5-E983-6E738E5FEFE3}"/>
              </a:ext>
            </a:extLst>
          </p:cNvPr>
          <p:cNvSpPr>
            <a:spLocks noGrp="1"/>
          </p:cNvSpPr>
          <p:nvPr>
            <p:ph type="sldNum" sz="quarter" idx="5"/>
          </p:nvPr>
        </p:nvSpPr>
        <p:spPr/>
        <p:txBody>
          <a:bodyPr/>
          <a:lstStyle/>
          <a:p>
            <a:fld id="{44A45B1E-7D87-4CE8-8E0B-38B942038A73}" type="slidenum">
              <a:t>23</a:t>
            </a:fld>
            <a:endParaRPr lang="en-US"/>
          </a:p>
        </p:txBody>
      </p:sp>
    </p:spTree>
    <p:extLst>
      <p:ext uri="{BB962C8B-B14F-4D97-AF65-F5344CB8AC3E}">
        <p14:creationId xmlns:p14="http://schemas.microsoft.com/office/powerpoint/2010/main" val="1768320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E59A-C8E4-8B1B-2526-F5A224AE3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75EFB-9EE5-A3F9-FBD1-0673FD62E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1F828-7D3C-167D-114A-52706A350AEF}"/>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2FD419EF-9DC2-F701-C116-D812AEF15C66}"/>
              </a:ext>
            </a:extLst>
          </p:cNvPr>
          <p:cNvSpPr>
            <a:spLocks noGrp="1"/>
          </p:cNvSpPr>
          <p:nvPr>
            <p:ph type="sldNum" sz="quarter" idx="5"/>
          </p:nvPr>
        </p:nvSpPr>
        <p:spPr/>
        <p:txBody>
          <a:bodyPr/>
          <a:lstStyle/>
          <a:p>
            <a:fld id="{44A45B1E-7D87-4CE8-8E0B-38B942038A73}" type="slidenum">
              <a:t>24</a:t>
            </a:fld>
            <a:endParaRPr lang="en-US"/>
          </a:p>
        </p:txBody>
      </p:sp>
    </p:spTree>
    <p:extLst>
      <p:ext uri="{BB962C8B-B14F-4D97-AF65-F5344CB8AC3E}">
        <p14:creationId xmlns:p14="http://schemas.microsoft.com/office/powerpoint/2010/main" val="2908468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5E41-8425-D541-9E07-87BD562FB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B865A-5A16-472C-DF09-EAEBBA126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723D2-D113-65FF-C506-DC60BB0F7A4D}"/>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7C51F98A-7C86-ECDC-8DCA-CFF9A190D0EB}"/>
              </a:ext>
            </a:extLst>
          </p:cNvPr>
          <p:cNvSpPr>
            <a:spLocks noGrp="1"/>
          </p:cNvSpPr>
          <p:nvPr>
            <p:ph type="sldNum" sz="quarter" idx="5"/>
          </p:nvPr>
        </p:nvSpPr>
        <p:spPr/>
        <p:txBody>
          <a:bodyPr/>
          <a:lstStyle/>
          <a:p>
            <a:fld id="{44A45B1E-7D87-4CE8-8E0B-38B942038A73}" type="slidenum">
              <a:t>25</a:t>
            </a:fld>
            <a:endParaRPr lang="en-US"/>
          </a:p>
        </p:txBody>
      </p:sp>
    </p:spTree>
    <p:extLst>
      <p:ext uri="{BB962C8B-B14F-4D97-AF65-F5344CB8AC3E}">
        <p14:creationId xmlns:p14="http://schemas.microsoft.com/office/powerpoint/2010/main" val="33781113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CD74A-2368-1EA8-0A66-228A16692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57B73-4D9C-81FE-364A-607C4BAD8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1CA04-69FB-4F6E-65EC-5F35F4275ED2}"/>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22681EBE-753C-9E78-5469-2089AE2A9C8F}"/>
              </a:ext>
            </a:extLst>
          </p:cNvPr>
          <p:cNvSpPr>
            <a:spLocks noGrp="1"/>
          </p:cNvSpPr>
          <p:nvPr>
            <p:ph type="sldNum" sz="quarter" idx="5"/>
          </p:nvPr>
        </p:nvSpPr>
        <p:spPr/>
        <p:txBody>
          <a:bodyPr/>
          <a:lstStyle/>
          <a:p>
            <a:fld id="{44A45B1E-7D87-4CE8-8E0B-38B942038A73}" type="slidenum">
              <a:t>26</a:t>
            </a:fld>
            <a:endParaRPr lang="en-US"/>
          </a:p>
        </p:txBody>
      </p:sp>
    </p:spTree>
    <p:extLst>
      <p:ext uri="{BB962C8B-B14F-4D97-AF65-F5344CB8AC3E}">
        <p14:creationId xmlns:p14="http://schemas.microsoft.com/office/powerpoint/2010/main" val="1244705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94DBA-BBB5-BF45-B0A3-1C9731D42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19D78-116B-71AA-4A42-402D9B6BE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8B4C7-C079-DECA-74A9-23C76B9CAC56}"/>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E4B4FB77-0FFD-35B3-A080-93D996317161}"/>
              </a:ext>
            </a:extLst>
          </p:cNvPr>
          <p:cNvSpPr>
            <a:spLocks noGrp="1"/>
          </p:cNvSpPr>
          <p:nvPr>
            <p:ph type="sldNum" sz="quarter" idx="5"/>
          </p:nvPr>
        </p:nvSpPr>
        <p:spPr/>
        <p:txBody>
          <a:bodyPr/>
          <a:lstStyle/>
          <a:p>
            <a:fld id="{44A45B1E-7D87-4CE8-8E0B-38B942038A73}" type="slidenum">
              <a:t>27</a:t>
            </a:fld>
            <a:endParaRPr lang="en-US"/>
          </a:p>
        </p:txBody>
      </p:sp>
    </p:spTree>
    <p:extLst>
      <p:ext uri="{BB962C8B-B14F-4D97-AF65-F5344CB8AC3E}">
        <p14:creationId xmlns:p14="http://schemas.microsoft.com/office/powerpoint/2010/main" val="301833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D66A1-DCD3-6401-C0C8-CDD986265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3D086-2861-FDCA-7862-507DBACBA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23D29-F70C-845C-D406-FAB9A2E2F6E5}"/>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31294D9D-9F69-39D1-890B-39F45BABE115}"/>
              </a:ext>
            </a:extLst>
          </p:cNvPr>
          <p:cNvSpPr>
            <a:spLocks noGrp="1"/>
          </p:cNvSpPr>
          <p:nvPr>
            <p:ph type="sldNum" sz="quarter" idx="5"/>
          </p:nvPr>
        </p:nvSpPr>
        <p:spPr/>
        <p:txBody>
          <a:bodyPr/>
          <a:lstStyle/>
          <a:p>
            <a:fld id="{44A45B1E-7D87-4CE8-8E0B-38B942038A73}" type="slidenum">
              <a:t>28</a:t>
            </a:fld>
            <a:endParaRPr lang="en-US"/>
          </a:p>
        </p:txBody>
      </p:sp>
    </p:spTree>
    <p:extLst>
      <p:ext uri="{BB962C8B-B14F-4D97-AF65-F5344CB8AC3E}">
        <p14:creationId xmlns:p14="http://schemas.microsoft.com/office/powerpoint/2010/main" val="2349391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6630-B245-D675-CBC9-9EDB3A5EF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AEB11-7A1D-978D-55E1-910CD61AB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66E00-730E-539B-61A5-B4963DFBB5FF}"/>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3CB31648-BF3E-0F90-7847-E4AACF5BB520}"/>
              </a:ext>
            </a:extLst>
          </p:cNvPr>
          <p:cNvSpPr>
            <a:spLocks noGrp="1"/>
          </p:cNvSpPr>
          <p:nvPr>
            <p:ph type="sldNum" sz="quarter" idx="5"/>
          </p:nvPr>
        </p:nvSpPr>
        <p:spPr/>
        <p:txBody>
          <a:bodyPr/>
          <a:lstStyle/>
          <a:p>
            <a:fld id="{44A45B1E-7D87-4CE8-8E0B-38B942038A73}" type="slidenum">
              <a:t>29</a:t>
            </a:fld>
            <a:endParaRPr lang="en-US"/>
          </a:p>
        </p:txBody>
      </p:sp>
    </p:spTree>
    <p:extLst>
      <p:ext uri="{BB962C8B-B14F-4D97-AF65-F5344CB8AC3E}">
        <p14:creationId xmlns:p14="http://schemas.microsoft.com/office/powerpoint/2010/main" val="1104054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0227F-BAB5-A7A7-0123-C24532A1E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4A7D3-49DE-68CC-F6CD-74469172D2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A3C08-BBC3-CDE4-A450-9F30BC8DCA46}"/>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D9AF46AB-9841-A5F0-A83D-BCBEC7AC6C98}"/>
              </a:ext>
            </a:extLst>
          </p:cNvPr>
          <p:cNvSpPr>
            <a:spLocks noGrp="1"/>
          </p:cNvSpPr>
          <p:nvPr>
            <p:ph type="sldNum" sz="quarter" idx="5"/>
          </p:nvPr>
        </p:nvSpPr>
        <p:spPr/>
        <p:txBody>
          <a:bodyPr/>
          <a:lstStyle/>
          <a:p>
            <a:fld id="{44A45B1E-7D87-4CE8-8E0B-38B942038A73}" type="slidenum">
              <a:t>30</a:t>
            </a:fld>
            <a:endParaRPr lang="en-US"/>
          </a:p>
        </p:txBody>
      </p:sp>
    </p:spTree>
    <p:extLst>
      <p:ext uri="{BB962C8B-B14F-4D97-AF65-F5344CB8AC3E}">
        <p14:creationId xmlns:p14="http://schemas.microsoft.com/office/powerpoint/2010/main" val="934091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B2D1-BD2C-2D48-28B4-A3968C17D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B2E8F-2F7C-375C-528B-7BC7579E8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A6967-8073-BCD2-A153-79DE5C46B770}"/>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ACD84807-5A2F-E1A6-63DF-261D290002C4}"/>
              </a:ext>
            </a:extLst>
          </p:cNvPr>
          <p:cNvSpPr>
            <a:spLocks noGrp="1"/>
          </p:cNvSpPr>
          <p:nvPr>
            <p:ph type="sldNum" sz="quarter" idx="5"/>
          </p:nvPr>
        </p:nvSpPr>
        <p:spPr/>
        <p:txBody>
          <a:bodyPr/>
          <a:lstStyle/>
          <a:p>
            <a:fld id="{44A45B1E-7D87-4CE8-8E0B-38B942038A73}" type="slidenum">
              <a:t>31</a:t>
            </a:fld>
            <a:endParaRPr lang="en-US"/>
          </a:p>
        </p:txBody>
      </p:sp>
    </p:spTree>
    <p:extLst>
      <p:ext uri="{BB962C8B-B14F-4D97-AF65-F5344CB8AC3E}">
        <p14:creationId xmlns:p14="http://schemas.microsoft.com/office/powerpoint/2010/main" val="2944771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3033-9CE3-0084-C432-DF205A735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8E41C-7E45-E7E5-3E08-F5FA1D925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C30E3-7502-A4BA-7B1A-19A757E8BE71}"/>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C67249A0-D078-59C4-0CD3-DB1ECD4EC143}"/>
              </a:ext>
            </a:extLst>
          </p:cNvPr>
          <p:cNvSpPr>
            <a:spLocks noGrp="1"/>
          </p:cNvSpPr>
          <p:nvPr>
            <p:ph type="sldNum" sz="quarter" idx="5"/>
          </p:nvPr>
        </p:nvSpPr>
        <p:spPr/>
        <p:txBody>
          <a:bodyPr/>
          <a:lstStyle/>
          <a:p>
            <a:fld id="{44A45B1E-7D87-4CE8-8E0B-38B942038A73}" type="slidenum">
              <a:t>32</a:t>
            </a:fld>
            <a:endParaRPr lang="en-US"/>
          </a:p>
        </p:txBody>
      </p:sp>
    </p:spTree>
    <p:extLst>
      <p:ext uri="{BB962C8B-B14F-4D97-AF65-F5344CB8AC3E}">
        <p14:creationId xmlns:p14="http://schemas.microsoft.com/office/powerpoint/2010/main" val="40146141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3FE3-5049-B1E2-C979-FAF807323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75546-D09E-0B56-0CB2-01E590B8E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3F9AF-DFB6-8E72-F46D-18F56B68546D}"/>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46A23B84-EF1D-2571-EFAE-270CD119C232}"/>
              </a:ext>
            </a:extLst>
          </p:cNvPr>
          <p:cNvSpPr>
            <a:spLocks noGrp="1"/>
          </p:cNvSpPr>
          <p:nvPr>
            <p:ph type="sldNum" sz="quarter" idx="5"/>
          </p:nvPr>
        </p:nvSpPr>
        <p:spPr/>
        <p:txBody>
          <a:bodyPr/>
          <a:lstStyle/>
          <a:p>
            <a:fld id="{44A45B1E-7D87-4CE8-8E0B-38B942038A73}" type="slidenum">
              <a:t>33</a:t>
            </a:fld>
            <a:endParaRPr lang="en-US"/>
          </a:p>
        </p:txBody>
      </p:sp>
    </p:spTree>
    <p:extLst>
      <p:ext uri="{BB962C8B-B14F-4D97-AF65-F5344CB8AC3E}">
        <p14:creationId xmlns:p14="http://schemas.microsoft.com/office/powerpoint/2010/main" val="3909305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36921-30F3-3701-0245-FC0B82E7C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FAB30-A9E3-AF3D-CF0C-8D5B73CD9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BCEDE-B79A-360E-72EC-561FAE6F0B17}"/>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FA59FF75-A9B0-E5F5-EB24-F32D5A42AFB7}"/>
              </a:ext>
            </a:extLst>
          </p:cNvPr>
          <p:cNvSpPr>
            <a:spLocks noGrp="1"/>
          </p:cNvSpPr>
          <p:nvPr>
            <p:ph type="sldNum" sz="quarter" idx="5"/>
          </p:nvPr>
        </p:nvSpPr>
        <p:spPr/>
        <p:txBody>
          <a:bodyPr/>
          <a:lstStyle/>
          <a:p>
            <a:fld id="{44A45B1E-7D87-4CE8-8E0B-38B942038A73}" type="slidenum">
              <a:t>34</a:t>
            </a:fld>
            <a:endParaRPr lang="en-US"/>
          </a:p>
        </p:txBody>
      </p:sp>
    </p:spTree>
    <p:extLst>
      <p:ext uri="{BB962C8B-B14F-4D97-AF65-F5344CB8AC3E}">
        <p14:creationId xmlns:p14="http://schemas.microsoft.com/office/powerpoint/2010/main" val="31889536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08EA2-3ADC-521D-704A-110231A8B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5B916-5303-E605-F91C-871DEA375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251CD-8DD1-6D36-60BD-2D14C5878039}"/>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8167E194-6BCA-35C6-0D40-C54F20473228}"/>
              </a:ext>
            </a:extLst>
          </p:cNvPr>
          <p:cNvSpPr>
            <a:spLocks noGrp="1"/>
          </p:cNvSpPr>
          <p:nvPr>
            <p:ph type="sldNum" sz="quarter" idx="5"/>
          </p:nvPr>
        </p:nvSpPr>
        <p:spPr/>
        <p:txBody>
          <a:bodyPr/>
          <a:lstStyle/>
          <a:p>
            <a:fld id="{44A45B1E-7D87-4CE8-8E0B-38B942038A73}" type="slidenum">
              <a:t>35</a:t>
            </a:fld>
            <a:endParaRPr lang="en-US"/>
          </a:p>
        </p:txBody>
      </p:sp>
    </p:spTree>
    <p:extLst>
      <p:ext uri="{BB962C8B-B14F-4D97-AF65-F5344CB8AC3E}">
        <p14:creationId xmlns:p14="http://schemas.microsoft.com/office/powerpoint/2010/main" val="3117479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CC53-BD56-EE32-D9BC-62E65C405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76A91-84E0-C3CF-C6ED-D3DBB61A2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B5461-45F7-4B78-D2AE-489EEEC84F25}"/>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DEBA4F28-2A68-D3BA-5678-3169DE81C1E6}"/>
              </a:ext>
            </a:extLst>
          </p:cNvPr>
          <p:cNvSpPr>
            <a:spLocks noGrp="1"/>
          </p:cNvSpPr>
          <p:nvPr>
            <p:ph type="sldNum" sz="quarter" idx="5"/>
          </p:nvPr>
        </p:nvSpPr>
        <p:spPr/>
        <p:txBody>
          <a:bodyPr/>
          <a:lstStyle/>
          <a:p>
            <a:fld id="{44A45B1E-7D87-4CE8-8E0B-38B942038A73}" type="slidenum">
              <a:t>36</a:t>
            </a:fld>
            <a:endParaRPr lang="en-US"/>
          </a:p>
        </p:txBody>
      </p:sp>
    </p:spTree>
    <p:extLst>
      <p:ext uri="{BB962C8B-B14F-4D97-AF65-F5344CB8AC3E}">
        <p14:creationId xmlns:p14="http://schemas.microsoft.com/office/powerpoint/2010/main" val="38836238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7844-7606-D85A-B362-83443D8EF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82E33-12BD-5169-3489-DB4376D76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984CF-0CCC-0174-802C-60F3C38F3806}"/>
              </a:ext>
            </a:extLst>
          </p:cNvPr>
          <p:cNvSpPr>
            <a:spLocks noGrp="1"/>
          </p:cNvSpPr>
          <p:nvPr>
            <p:ph type="body" idx="1"/>
          </p:nvPr>
        </p:nvSpPr>
        <p:spPr/>
        <p:txBody>
          <a:bodyPr/>
          <a:lstStyle/>
          <a:p>
            <a:r>
              <a:rPr lang="en-US" dirty="0"/>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85D17E48-781E-8BFC-9F1C-D28DF00ABEA0}"/>
              </a:ext>
            </a:extLst>
          </p:cNvPr>
          <p:cNvSpPr>
            <a:spLocks noGrp="1"/>
          </p:cNvSpPr>
          <p:nvPr>
            <p:ph type="sldNum" sz="quarter" idx="5"/>
          </p:nvPr>
        </p:nvSpPr>
        <p:spPr/>
        <p:txBody>
          <a:bodyPr/>
          <a:lstStyle/>
          <a:p>
            <a:fld id="{44A45B1E-7D87-4CE8-8E0B-38B942038A73}" type="slidenum">
              <a:t>37</a:t>
            </a:fld>
            <a:endParaRPr lang="en-US"/>
          </a:p>
        </p:txBody>
      </p:sp>
    </p:spTree>
    <p:extLst>
      <p:ext uri="{BB962C8B-B14F-4D97-AF65-F5344CB8AC3E}">
        <p14:creationId xmlns:p14="http://schemas.microsoft.com/office/powerpoint/2010/main" val="1112529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60E76-EAE8-A7D3-993A-5A637B232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76141-C901-C66E-6B0A-CA20A1A35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D4E1B-1B7A-8E37-75AB-E915F851AC86}"/>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A5A019C8-C520-85FC-F1C6-0484BA526151}"/>
              </a:ext>
            </a:extLst>
          </p:cNvPr>
          <p:cNvSpPr>
            <a:spLocks noGrp="1"/>
          </p:cNvSpPr>
          <p:nvPr>
            <p:ph type="sldNum" sz="quarter" idx="5"/>
          </p:nvPr>
        </p:nvSpPr>
        <p:spPr/>
        <p:txBody>
          <a:bodyPr/>
          <a:lstStyle/>
          <a:p>
            <a:fld id="{44A45B1E-7D87-4CE8-8E0B-38B942038A73}" type="slidenum">
              <a:t>38</a:t>
            </a:fld>
            <a:endParaRPr lang="en-US"/>
          </a:p>
        </p:txBody>
      </p:sp>
    </p:spTree>
    <p:extLst>
      <p:ext uri="{BB962C8B-B14F-4D97-AF65-F5344CB8AC3E}">
        <p14:creationId xmlns:p14="http://schemas.microsoft.com/office/powerpoint/2010/main" val="23805086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5979-2A20-537A-8938-AAEAFF950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042FA-ABC0-931F-6B56-405947836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AE4DB-5788-790E-4A4F-29E68D2635A0}"/>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7A17A88F-0B91-F1C9-4828-86DB773E9D76}"/>
              </a:ext>
            </a:extLst>
          </p:cNvPr>
          <p:cNvSpPr>
            <a:spLocks noGrp="1"/>
          </p:cNvSpPr>
          <p:nvPr>
            <p:ph type="sldNum" sz="quarter" idx="5"/>
          </p:nvPr>
        </p:nvSpPr>
        <p:spPr/>
        <p:txBody>
          <a:bodyPr/>
          <a:lstStyle/>
          <a:p>
            <a:fld id="{44A45B1E-7D87-4CE8-8E0B-38B942038A73}" type="slidenum">
              <a:t>39</a:t>
            </a:fld>
            <a:endParaRPr lang="en-US"/>
          </a:p>
        </p:txBody>
      </p:sp>
    </p:spTree>
    <p:extLst>
      <p:ext uri="{BB962C8B-B14F-4D97-AF65-F5344CB8AC3E}">
        <p14:creationId xmlns:p14="http://schemas.microsoft.com/office/powerpoint/2010/main" val="21162254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E9F76-4B9F-85BC-BC6C-AF8F343E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368D7-D32D-B5E6-4C5D-C1B9461FB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E7F3B-343B-4301-EF3B-4297CE4F4463}"/>
              </a:ext>
            </a:extLst>
          </p:cNvPr>
          <p:cNvSpPr>
            <a:spLocks noGrp="1"/>
          </p:cNvSpPr>
          <p:nvPr>
            <p:ph type="body" idx="1"/>
          </p:nvPr>
        </p:nvSpPr>
        <p:spPr/>
        <p:txBody>
          <a:bodyPr/>
          <a:lstStyle/>
          <a:p>
            <a:r>
              <a:rPr lang="en-US"/>
              <a:t>AI-generated content may be incorrect.
---
This presentation will guide you through the essentials of personal finance, emphasizing how to visualize your money using numbers and charts. You'll learn how to manage your income, expenses, savings, budgeting, investing, debt, and financial data interpretation effectively.
Image source: Microsoft 365 content library
</a:t>
            </a:r>
          </a:p>
        </p:txBody>
      </p:sp>
      <p:sp>
        <p:nvSpPr>
          <p:cNvPr id="4" name="Slide Number Placeholder 3">
            <a:extLst>
              <a:ext uri="{FF2B5EF4-FFF2-40B4-BE49-F238E27FC236}">
                <a16:creationId xmlns:a16="http://schemas.microsoft.com/office/drawing/2014/main" id="{D9FFE916-A258-E932-806D-6F4CB362CCA4}"/>
              </a:ext>
            </a:extLst>
          </p:cNvPr>
          <p:cNvSpPr>
            <a:spLocks noGrp="1"/>
          </p:cNvSpPr>
          <p:nvPr>
            <p:ph type="sldNum" sz="quarter" idx="5"/>
          </p:nvPr>
        </p:nvSpPr>
        <p:spPr/>
        <p:txBody>
          <a:bodyPr/>
          <a:lstStyle/>
          <a:p>
            <a:fld id="{44A45B1E-7D87-4CE8-8E0B-38B942038A73}" type="slidenum">
              <a:t>40</a:t>
            </a:fld>
            <a:endParaRPr lang="en-US"/>
          </a:p>
        </p:txBody>
      </p:sp>
    </p:spTree>
    <p:extLst>
      <p:ext uri="{BB962C8B-B14F-4D97-AF65-F5344CB8AC3E}">
        <p14:creationId xmlns:p14="http://schemas.microsoft.com/office/powerpoint/2010/main" val="2508375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9/30/25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8030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9/30/25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10875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9/30/25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5438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9/30/25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1722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9/30/25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83185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9/30/25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5176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9/30/25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8375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9/30/25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1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9/30/25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4929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9/30/25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23332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9/30/25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54525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9/30/25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5713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display stock information on LED screen">
            <a:extLst>
              <a:ext uri="{FF2B5EF4-FFF2-40B4-BE49-F238E27FC236}">
                <a16:creationId xmlns:a16="http://schemas.microsoft.com/office/drawing/2014/main" id="{4B28515E-4FBB-44A4-9B2C-473ED99F5183}"/>
              </a:ext>
            </a:extLst>
          </p:cNvPr>
          <p:cNvPicPr>
            <a:picLocks noChangeAspect="1"/>
          </p:cNvPicPr>
          <p:nvPr/>
        </p:nvPicPr>
        <p:blipFill>
          <a:blip r:embed="rId3"/>
          <a:srcRect l="9014" t="23391" r="77"/>
          <a:stretch>
            <a:fillRect/>
          </a:stretch>
        </p:blipFill>
        <p:spPr>
          <a:xfrm>
            <a:off x="21" y="288245"/>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E5A9B10F-2333-C5AE-B37B-985F7EFE3E70}"/>
              </a:ext>
            </a:extLst>
          </p:cNvPr>
          <p:cNvSpPr>
            <a:spLocks noGrp="1"/>
          </p:cNvSpPr>
          <p:nvPr>
            <p:ph type="ctrTitle"/>
          </p:nvPr>
        </p:nvSpPr>
        <p:spPr>
          <a:xfrm>
            <a:off x="439006" y="1045173"/>
            <a:ext cx="6245999" cy="4005454"/>
          </a:xfrm>
        </p:spPr>
        <p:txBody>
          <a:bodyPr anchor="t">
            <a:normAutofit/>
          </a:bodyPr>
          <a:lstStyle/>
          <a:p>
            <a:pPr>
              <a:lnSpc>
                <a:spcPct val="90000"/>
              </a:lnSpc>
            </a:pPr>
            <a:r>
              <a:rPr lang="en-US" sz="4400" dirty="0"/>
              <a:t>Maximizing Lending Profit with Risk-Aware Targeting (Lending Club data)</a:t>
            </a:r>
            <a:endParaRPr lang="en-US" sz="4300" dirty="0"/>
          </a:p>
        </p:txBody>
      </p:sp>
      <p:sp>
        <p:nvSpPr>
          <p:cNvPr id="3" name="Subtitle 2">
            <a:extLst>
              <a:ext uri="{FF2B5EF4-FFF2-40B4-BE49-F238E27FC236}">
                <a16:creationId xmlns:a16="http://schemas.microsoft.com/office/drawing/2014/main" id="{D6B6C371-6E89-1FCD-7680-C759286272D8}"/>
              </a:ext>
            </a:extLst>
          </p:cNvPr>
          <p:cNvSpPr>
            <a:spLocks noGrp="1"/>
          </p:cNvSpPr>
          <p:nvPr>
            <p:ph type="subTitle" idx="1"/>
          </p:nvPr>
        </p:nvSpPr>
        <p:spPr>
          <a:xfrm>
            <a:off x="313787" y="5050632"/>
            <a:ext cx="4147002" cy="1129888"/>
          </a:xfrm>
        </p:spPr>
        <p:txBody>
          <a:bodyPr anchor="b">
            <a:normAutofit/>
          </a:bodyPr>
          <a:lstStyle/>
          <a:p>
            <a:pPr>
              <a:lnSpc>
                <a:spcPct val="100000"/>
              </a:lnSpc>
            </a:pPr>
            <a:r>
              <a:rPr lang="en-US" sz="2400" dirty="0">
                <a:latin typeface="Calibri" panose="020F0502020204030204" pitchFamily="34" charset="0"/>
                <a:cs typeface="Calibri" panose="020F0502020204030204" pitchFamily="34" charset="0"/>
              </a:rPr>
              <a:t>Predicting default risk and turning scores into dollars</a:t>
            </a:r>
            <a:endParaRPr lang="en-US" sz="2200" dirty="0">
              <a:latin typeface="Calibri" panose="020F0502020204030204" pitchFamily="34" charset="0"/>
              <a:cs typeface="Calibri" panose="020F0502020204030204" pitchFamily="34" charset="0"/>
            </a:endParaRP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39660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76247-BE8E-685D-B936-42CD5A26AEB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A77DC-3268-C40C-A4F5-417996DCFC40}"/>
              </a:ext>
            </a:extLst>
          </p:cNvPr>
          <p:cNvSpPr>
            <a:spLocks noGrp="1"/>
          </p:cNvSpPr>
          <p:nvPr>
            <p:ph type="ctrTitle"/>
          </p:nvPr>
        </p:nvSpPr>
        <p:spPr>
          <a:xfrm>
            <a:off x="4866968" y="914400"/>
            <a:ext cx="6627924" cy="1307592"/>
          </a:xfrm>
        </p:spPr>
        <p:txBody>
          <a:bodyPr vert="horz" lIns="91440" tIns="45720" rIns="91440" bIns="45720" rtlCol="0" anchor="t">
            <a:normAutofit/>
          </a:bodyPr>
          <a:lstStyle/>
          <a:p>
            <a:r>
              <a:rPr lang="en-US" sz="4000"/>
              <a:t>Table Of Contents</a:t>
            </a:r>
          </a:p>
        </p:txBody>
      </p:sp>
      <p:pic>
        <p:nvPicPr>
          <p:cNvPr id="4" name="Picture 3" descr="display stock information on LED screen">
            <a:extLst>
              <a:ext uri="{FF2B5EF4-FFF2-40B4-BE49-F238E27FC236}">
                <a16:creationId xmlns:a16="http://schemas.microsoft.com/office/drawing/2014/main" id="{3C51F459-42DD-6614-9ECF-F78B2D41324D}"/>
              </a:ext>
            </a:extLst>
          </p:cNvPr>
          <p:cNvPicPr>
            <a:picLocks noChangeAspect="1"/>
          </p:cNvPicPr>
          <p:nvPr/>
        </p:nvPicPr>
        <p:blipFill>
          <a:blip r:embed="rId3"/>
          <a:srcRect l="54599" r="4569" b="2"/>
          <a:stretch>
            <a:fillRect/>
          </a:stretch>
        </p:blipFill>
        <p:spPr>
          <a:xfrm>
            <a:off x="20" y="-17929"/>
            <a:ext cx="4206220" cy="6875929"/>
          </a:xfrm>
          <a:prstGeom prst="rect">
            <a:avLst/>
          </a:prstGeom>
        </p:spPr>
      </p:pic>
      <p:cxnSp>
        <p:nvCxnSpPr>
          <p:cNvPr id="24" name="Straight Connector 23">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CB46E252-ABD0-BE51-B489-1C316D654A51}"/>
              </a:ext>
            </a:extLst>
          </p:cNvPr>
          <p:cNvSpPr>
            <a:spLocks noGrp="1"/>
          </p:cNvSpPr>
          <p:nvPr>
            <p:ph type="subTitle" idx="1"/>
          </p:nvPr>
        </p:nvSpPr>
        <p:spPr>
          <a:xfrm>
            <a:off x="4866968" y="2221992"/>
            <a:ext cx="6627924" cy="3739896"/>
          </a:xfrm>
        </p:spPr>
        <p:txBody>
          <a:bodyPr vert="horz" lIns="91440" tIns="45720" rIns="91440" bIns="45720" rtlCol="0">
            <a:normAutofit/>
          </a:bodyPr>
          <a:lstStyle/>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Introduction</a:t>
            </a:r>
          </a:p>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Overview             </a:t>
            </a:r>
          </a:p>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Data</a:t>
            </a:r>
          </a:p>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Methodology</a:t>
            </a:r>
          </a:p>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Results</a:t>
            </a:r>
          </a:p>
          <a:p>
            <a:pPr marL="342900" indent="-228600">
              <a:buFont typeface="Arial" panose="020B0604020202020204" pitchFamily="34" charset="0"/>
              <a:buChar char="•"/>
            </a:pPr>
            <a:r>
              <a:rPr lang="en-US" dirty="0">
                <a:latin typeface="Calibri" panose="020F0502020204030204" pitchFamily="34" charset="0"/>
                <a:cs typeface="Calibri" panose="020F0502020204030204" pitchFamily="34" charset="0"/>
              </a:rPr>
              <a:t>Conclusion</a:t>
            </a:r>
          </a:p>
          <a:p>
            <a:pPr indent="-228600">
              <a:buFont typeface="Arial" panose="020B0604020202020204" pitchFamily="34" charset="0"/>
              <a:buChar char="•"/>
            </a:pPr>
            <a:endParaRPr lang="en-US" dirty="0"/>
          </a:p>
        </p:txBody>
      </p:sp>
      <p:cxnSp>
        <p:nvCxnSpPr>
          <p:cNvPr id="26" name="Straight Connector 25">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100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par>
                                <p:cTn id="17" presetID="10" presetClass="entr" presetSubtype="0" fill="hold" grpId="0" nodeType="withEffect">
                                  <p:stCondLst>
                                    <p:cond delay="2000"/>
                                  </p:stCondLst>
                                  <p:iterate type="lt">
                                    <p:tmPct val="10000"/>
                                  </p:iterate>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400"/>
                                        <p:tgtEl>
                                          <p:spTgt spid="3">
                                            <p:txEl>
                                              <p:pRg st="3" end="3"/>
                                            </p:txEl>
                                          </p:spTgt>
                                        </p:tgtEl>
                                      </p:cBhvr>
                                    </p:animEffect>
                                  </p:childTnLst>
                                </p:cTn>
                              </p:par>
                              <p:par>
                                <p:cTn id="20" presetID="10" presetClass="entr" presetSubtype="0" fill="hold" grpId="0" nodeType="withEffect">
                                  <p:stCondLst>
                                    <p:cond delay="2000"/>
                                  </p:stCondLst>
                                  <p:iterate type="lt">
                                    <p:tmPct val="10000"/>
                                  </p:iterate>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400"/>
                                        <p:tgtEl>
                                          <p:spTgt spid="3">
                                            <p:txEl>
                                              <p:pRg st="4" end="4"/>
                                            </p:txEl>
                                          </p:spTgt>
                                        </p:tgtEl>
                                      </p:cBhvr>
                                    </p:animEffect>
                                  </p:childTnLst>
                                </p:cTn>
                              </p:par>
                              <p:par>
                                <p:cTn id="23" presetID="10" presetClass="entr" presetSubtype="0" fill="hold" grpId="0" nodeType="withEffect">
                                  <p:stCondLst>
                                    <p:cond delay="2000"/>
                                  </p:stCondLst>
                                  <p:iterate type="lt">
                                    <p:tmPct val="10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400"/>
                                        <p:tgtEl>
                                          <p:spTgt spid="3">
                                            <p:txEl>
                                              <p:pRg st="5" end="5"/>
                                            </p:txEl>
                                          </p:spTgt>
                                        </p:tgtEl>
                                      </p:cBhvr>
                                    </p:animEffect>
                                  </p:childTnLst>
                                </p:cTn>
                              </p:par>
                              <p:par>
                                <p:cTn id="26" presetID="42" presetClass="entr" presetSubtype="0" fill="hold" grpId="1" nodeType="withEffect">
                                  <p:stCondLst>
                                    <p:cond delay="250"/>
                                  </p:stCondLst>
                                  <p:iterate type="lt">
                                    <p:tmPct val="10000"/>
                                  </p:iterate>
                                  <p:childTnLst>
                                    <p:set>
                                      <p:cBhvr>
                                        <p:cTn id="27" dur="1" fill="hold">
                                          <p:stCondLst>
                                            <p:cond delay="0"/>
                                          </p:stCondLst>
                                        </p:cTn>
                                        <p:tgtEl>
                                          <p:spTgt spid="3"/>
                                        </p:tgtEl>
                                        <p:attrNameLst>
                                          <p:attrName>style.visibility</p:attrName>
                                        </p:attrNameLst>
                                      </p:cBhvr>
                                      <p:to>
                                        <p:strVal val="visible"/>
                                      </p:to>
                                    </p:set>
                                    <p:animEffect transition="in" filter="fade">
                                      <p:cBhvr>
                                        <p:cTn id="28" dur="250"/>
                                        <p:tgtEl>
                                          <p:spTgt spid="3"/>
                                        </p:tgtEl>
                                      </p:cBhvr>
                                    </p:animEffect>
                                    <p:anim calcmode="lin" valueType="num">
                                      <p:cBhvr>
                                        <p:cTn id="29" dur="250" fill="hold"/>
                                        <p:tgtEl>
                                          <p:spTgt spid="3"/>
                                        </p:tgtEl>
                                        <p:attrNameLst>
                                          <p:attrName>ppt_x</p:attrName>
                                        </p:attrNameLst>
                                      </p:cBhvr>
                                      <p:tavLst>
                                        <p:tav tm="0">
                                          <p:val>
                                            <p:strVal val="#ppt_x"/>
                                          </p:val>
                                        </p:tav>
                                        <p:tav tm="100000">
                                          <p:val>
                                            <p:strVal val="#ppt_x"/>
                                          </p:val>
                                        </p:tav>
                                      </p:tavLst>
                                    </p:anim>
                                    <p:anim calcmode="lin" valueType="num">
                                      <p:cBhvr>
                                        <p:cTn id="3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F7FB7-1567-8B21-7C23-F9610723E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C416F-0605-A36A-4AEE-6C85E39F4696}"/>
              </a:ext>
            </a:extLst>
          </p:cNvPr>
          <p:cNvSpPr>
            <a:spLocks noGrp="1"/>
          </p:cNvSpPr>
          <p:nvPr>
            <p:ph type="ctrTitle"/>
          </p:nvPr>
        </p:nvSpPr>
        <p:spPr>
          <a:xfrm>
            <a:off x="4682698" y="107836"/>
            <a:ext cx="6627924" cy="788276"/>
          </a:xfrm>
        </p:spPr>
        <p:txBody>
          <a:bodyPr vert="horz" lIns="91440" tIns="45720" rIns="91440" bIns="45720" rtlCol="0" anchor="t">
            <a:normAutofit/>
          </a:bodyPr>
          <a:lstStyle/>
          <a:p>
            <a:r>
              <a:rPr lang="en-US" sz="4000" dirty="0"/>
              <a:t>Introduction</a:t>
            </a:r>
          </a:p>
        </p:txBody>
      </p:sp>
      <p:pic>
        <p:nvPicPr>
          <p:cNvPr id="4" name="Picture 3" descr="display stock information on LED screen">
            <a:extLst>
              <a:ext uri="{FF2B5EF4-FFF2-40B4-BE49-F238E27FC236}">
                <a16:creationId xmlns:a16="http://schemas.microsoft.com/office/drawing/2014/main" id="{3B7D331E-AC75-805F-8CB7-14C46A2A4E2F}"/>
              </a:ext>
            </a:extLst>
          </p:cNvPr>
          <p:cNvPicPr>
            <a:picLocks noChangeAspect="1"/>
          </p:cNvPicPr>
          <p:nvPr/>
        </p:nvPicPr>
        <p:blipFill>
          <a:blip r:embed="rId3"/>
          <a:srcRect l="54599" r="4569" b="2"/>
          <a:stretch>
            <a:fillRect/>
          </a:stretch>
        </p:blipFill>
        <p:spPr>
          <a:xfrm>
            <a:off x="0" y="-84083"/>
            <a:ext cx="4246689" cy="6942083"/>
          </a:xfrm>
          <a:prstGeom prst="rect">
            <a:avLst/>
          </a:prstGeom>
        </p:spPr>
      </p:pic>
      <p:sp>
        <p:nvSpPr>
          <p:cNvPr id="3" name="Subtitle 2">
            <a:extLst>
              <a:ext uri="{FF2B5EF4-FFF2-40B4-BE49-F238E27FC236}">
                <a16:creationId xmlns:a16="http://schemas.microsoft.com/office/drawing/2014/main" id="{18177835-D45E-A002-AB8B-BAF23934A35C}"/>
              </a:ext>
            </a:extLst>
          </p:cNvPr>
          <p:cNvSpPr>
            <a:spLocks noGrp="1"/>
          </p:cNvSpPr>
          <p:nvPr>
            <p:ph type="subTitle" idx="1"/>
          </p:nvPr>
        </p:nvSpPr>
        <p:spPr>
          <a:xfrm>
            <a:off x="4498427" y="896113"/>
            <a:ext cx="7126013" cy="5065776"/>
          </a:xfrm>
        </p:spPr>
        <p:txBody>
          <a:bodyPr vert="horz" lIns="91440" tIns="45720" rIns="91440" bIns="45720" rtlCol="0">
            <a:normAutofit fontScale="85000" lnSpcReduction="20000"/>
          </a:bodyPr>
          <a:lstStyle/>
          <a:p>
            <a:r>
              <a:rPr lang="en-US" b="1">
                <a:latin typeface="Calibri" panose="020F0502020204030204" pitchFamily="34" charset="0"/>
                <a:cs typeface="Calibri" panose="020F0502020204030204" pitchFamily="34" charset="0"/>
              </a:rPr>
              <a:t>The Problem</a:t>
            </a:r>
            <a:endParaRPr lang="en-US">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a:latin typeface="Calibri" panose="020F0502020204030204" pitchFamily="34" charset="0"/>
                <a:cs typeface="Calibri" panose="020F0502020204030204" pitchFamily="34" charset="0"/>
              </a:rPr>
              <a:t>	Lending to the wrong customers exposes the business to </a:t>
            </a:r>
            <a:r>
              <a:rPr lang="en-US" b="1">
                <a:latin typeface="Calibri" panose="020F0502020204030204" pitchFamily="34" charset="0"/>
                <a:cs typeface="Calibri" panose="020F0502020204030204" pitchFamily="34" charset="0"/>
              </a:rPr>
              <a:t>significant 	financial losses</a:t>
            </a:r>
            <a:r>
              <a:rPr lang="en-US">
                <a:latin typeface="Calibri" panose="020F0502020204030204" pitchFamily="34" charset="0"/>
                <a:cs typeface="Calibri" panose="020F0502020204030204" pitchFamily="34" charset="0"/>
              </a:rPr>
              <a:t> through defaults.</a:t>
            </a:r>
          </a:p>
          <a:p>
            <a:pPr marL="342900" indent="-342900">
              <a:buFont typeface="Arial" panose="020B0604020202020204" pitchFamily="34" charset="0"/>
              <a:buChar char="•"/>
            </a:pPr>
            <a:r>
              <a:rPr lang="en-US">
                <a:latin typeface="Calibri" panose="020F0502020204030204" pitchFamily="34" charset="0"/>
                <a:cs typeface="Calibri" panose="020F0502020204030204" pitchFamily="34" charset="0"/>
              </a:rPr>
              <a:t>	Traditional credit assessments often fail to accurately identify </a:t>
            </a:r>
            <a:r>
              <a:rPr lang="en-US" b="1">
                <a:latin typeface="Calibri" panose="020F0502020204030204" pitchFamily="34" charset="0"/>
                <a:cs typeface="Calibri" panose="020F0502020204030204" pitchFamily="34" charset="0"/>
              </a:rPr>
              <a:t>high-risk 	individuals</a:t>
            </a:r>
            <a:r>
              <a:rPr lang="en-US">
                <a:latin typeface="Calibri" panose="020F0502020204030204" pitchFamily="34" charset="0"/>
                <a:cs typeface="Calibri" panose="020F0502020204030204" pitchFamily="34" charset="0"/>
              </a:rPr>
              <a:t>.</a:t>
            </a:r>
          </a:p>
          <a:p>
            <a:r>
              <a:rPr lang="en-US" b="1">
                <a:latin typeface="Calibri" panose="020F0502020204030204" pitchFamily="34" charset="0"/>
                <a:cs typeface="Calibri" panose="020F0502020204030204" pitchFamily="34" charset="0"/>
              </a:rPr>
              <a:t>The Opportunity</a:t>
            </a:r>
            <a:endParaRPr lang="en-US">
              <a:latin typeface="Calibri" panose="020F0502020204030204" pitchFamily="34" charset="0"/>
              <a:cs typeface="Calibri" panose="020F0502020204030204" pitchFamily="34" charset="0"/>
            </a:endParaRPr>
          </a:p>
          <a:p>
            <a:pPr lvl="1" algn="l"/>
            <a:r>
              <a:rPr lang="en-US">
                <a:latin typeface="Calibri" panose="020F0502020204030204" pitchFamily="34" charset="0"/>
                <a:cs typeface="Calibri" panose="020F0502020204030204" pitchFamily="34" charset="0"/>
              </a:rPr>
              <a:t>By leveraging predictive modeling, we can </a:t>
            </a:r>
            <a:r>
              <a:rPr lang="en-US" b="1">
                <a:latin typeface="Calibri" panose="020F0502020204030204" pitchFamily="34" charset="0"/>
                <a:cs typeface="Calibri" panose="020F0502020204030204" pitchFamily="34" charset="0"/>
              </a:rPr>
              <a:t>differentiate between profitable customers and potential defaulters</a:t>
            </a:r>
            <a:r>
              <a:rPr lang="en-US">
                <a:latin typeface="Calibri" panose="020F0502020204030204" pitchFamily="34" charset="0"/>
                <a:cs typeface="Calibri" panose="020F0502020204030204" pitchFamily="34" charset="0"/>
              </a:rPr>
              <a:t>.</a:t>
            </a:r>
          </a:p>
          <a:p>
            <a:pPr lvl="1" algn="l"/>
            <a:r>
              <a:rPr lang="en-US">
                <a:latin typeface="Calibri" panose="020F0502020204030204" pitchFamily="34" charset="0"/>
                <a:cs typeface="Calibri" panose="020F0502020204030204" pitchFamily="34" charset="0"/>
              </a:rPr>
              <a:t>This enables smarter decision-making:</a:t>
            </a:r>
          </a:p>
          <a:p>
            <a:pPr marL="1257300" lvl="2" indent="-342900" algn="l">
              <a:buFont typeface="Arial" panose="020B0604020202020204" pitchFamily="34" charset="0"/>
              <a:buChar char="•"/>
            </a:pPr>
            <a:r>
              <a:rPr lang="en-US">
                <a:latin typeface="Calibri" panose="020F0502020204030204" pitchFamily="34" charset="0"/>
                <a:cs typeface="Calibri" panose="020F0502020204030204" pitchFamily="34" charset="0"/>
              </a:rPr>
              <a:t>Decline or adjust terms for </a:t>
            </a:r>
            <a:r>
              <a:rPr lang="en-US" b="1">
                <a:latin typeface="Calibri" panose="020F0502020204030204" pitchFamily="34" charset="0"/>
                <a:cs typeface="Calibri" panose="020F0502020204030204" pitchFamily="34" charset="0"/>
              </a:rPr>
              <a:t>high-risk borrowers</a:t>
            </a:r>
            <a:r>
              <a:rPr lang="en-US">
                <a:latin typeface="Calibri" panose="020F0502020204030204" pitchFamily="34" charset="0"/>
                <a:cs typeface="Calibri" panose="020F0502020204030204" pitchFamily="34" charset="0"/>
              </a:rPr>
              <a:t>.</a:t>
            </a:r>
          </a:p>
          <a:p>
            <a:pPr marL="1257300" lvl="2" indent="-342900" algn="l">
              <a:buFont typeface="Arial" panose="020B0604020202020204" pitchFamily="34" charset="0"/>
              <a:buChar char="•"/>
            </a:pPr>
            <a:r>
              <a:rPr lang="en-US">
                <a:latin typeface="Calibri" panose="020F0502020204030204" pitchFamily="34" charset="0"/>
                <a:cs typeface="Calibri" panose="020F0502020204030204" pitchFamily="34" charset="0"/>
              </a:rPr>
              <a:t>Offer competitive products to </a:t>
            </a:r>
            <a:r>
              <a:rPr lang="en-US" b="1">
                <a:latin typeface="Calibri" panose="020F0502020204030204" pitchFamily="34" charset="0"/>
                <a:cs typeface="Calibri" panose="020F0502020204030204" pitchFamily="34" charset="0"/>
              </a:rPr>
              <a:t>low-risk, profitable customers</a:t>
            </a:r>
            <a:r>
              <a:rPr lang="en-US">
                <a:latin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US" b="1">
                <a:latin typeface="Calibri" panose="020F0502020204030204" pitchFamily="34" charset="0"/>
                <a:cs typeface="Calibri" panose="020F0502020204030204" pitchFamily="34" charset="0"/>
              </a:rPr>
              <a:t>The Impact</a:t>
            </a:r>
            <a:endParaRPr lang="en-US">
              <a:latin typeface="Calibri" panose="020F0502020204030204" pitchFamily="34" charset="0"/>
              <a:cs typeface="Calibri" panose="020F0502020204030204" pitchFamily="34" charset="0"/>
            </a:endParaRPr>
          </a:p>
          <a:p>
            <a:pPr marL="800100" lvl="1" indent="-342900" algn="l">
              <a:buFont typeface="Arial" panose="020B0604020202020204" pitchFamily="34" charset="0"/>
              <a:buChar char="•"/>
            </a:pPr>
            <a:r>
              <a:rPr lang="en-US" b="1">
                <a:latin typeface="Calibri" panose="020F0502020204030204" pitchFamily="34" charset="0"/>
                <a:cs typeface="Calibri" panose="020F0502020204030204" pitchFamily="34" charset="0"/>
              </a:rPr>
              <a:t>Profit maximization</a:t>
            </a:r>
            <a:r>
              <a:rPr lang="en-US">
                <a:latin typeface="Calibri" panose="020F0502020204030204" pitchFamily="34" charset="0"/>
                <a:cs typeface="Calibri" panose="020F0502020204030204" pitchFamily="34" charset="0"/>
              </a:rPr>
              <a:t> by reducing default losses.</a:t>
            </a:r>
          </a:p>
          <a:p>
            <a:pPr marL="800100" lvl="1" indent="-342900" algn="l">
              <a:buFont typeface="Arial" panose="020B0604020202020204" pitchFamily="34" charset="0"/>
              <a:buChar char="•"/>
            </a:pPr>
            <a:r>
              <a:rPr lang="en-US" b="1">
                <a:latin typeface="Calibri" panose="020F0502020204030204" pitchFamily="34" charset="0"/>
                <a:cs typeface="Calibri" panose="020F0502020204030204" pitchFamily="34" charset="0"/>
              </a:rPr>
              <a:t>Risk-adjusted pricing strategies</a:t>
            </a:r>
            <a:r>
              <a:rPr lang="en-US">
                <a:latin typeface="Calibri" panose="020F0502020204030204" pitchFamily="34" charset="0"/>
                <a:cs typeface="Calibri" panose="020F0502020204030204" pitchFamily="34" charset="0"/>
              </a:rPr>
              <a:t> that improve portfolio resilience.</a:t>
            </a:r>
          </a:p>
          <a:p>
            <a:pPr marL="800100" lvl="1" indent="-342900" algn="l">
              <a:buFont typeface="Arial" panose="020B0604020202020204" pitchFamily="34" charset="0"/>
              <a:buChar char="•"/>
            </a:pPr>
            <a:r>
              <a:rPr lang="en-US" b="1">
                <a:latin typeface="Calibri" panose="020F0502020204030204" pitchFamily="34" charset="0"/>
                <a:cs typeface="Calibri" panose="020F0502020204030204" pitchFamily="34" charset="0"/>
              </a:rPr>
              <a:t>Data-driven targeting</a:t>
            </a:r>
            <a:r>
              <a:rPr lang="en-US">
                <a:latin typeface="Calibri" panose="020F0502020204030204" pitchFamily="34" charset="0"/>
                <a:cs typeface="Calibri" panose="020F0502020204030204" pitchFamily="34" charset="0"/>
              </a:rPr>
              <a:t> that aligns credit decisions with business growth objectives.</a:t>
            </a: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385926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par>
                                <p:cTn id="17" presetID="10" presetClass="entr" presetSubtype="0" fill="hold" grpId="0" nodeType="withEffect">
                                  <p:stCondLst>
                                    <p:cond delay="2000"/>
                                  </p:stCondLst>
                                  <p:iterate type="lt">
                                    <p:tmPct val="10000"/>
                                  </p:iterate>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400"/>
                                        <p:tgtEl>
                                          <p:spTgt spid="3">
                                            <p:txEl>
                                              <p:pRg st="3" end="3"/>
                                            </p:txEl>
                                          </p:spTgt>
                                        </p:tgtEl>
                                      </p:cBhvr>
                                    </p:animEffect>
                                  </p:childTnLst>
                                </p:cTn>
                              </p:par>
                              <p:par>
                                <p:cTn id="20" presetID="10" presetClass="entr" presetSubtype="0" fill="hold" grpId="0" nodeType="withEffect">
                                  <p:stCondLst>
                                    <p:cond delay="2000"/>
                                  </p:stCondLst>
                                  <p:iterate type="lt">
                                    <p:tmPct val="10000"/>
                                  </p:iterate>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400"/>
                                        <p:tgtEl>
                                          <p:spTgt spid="3">
                                            <p:txEl>
                                              <p:pRg st="4" end="4"/>
                                            </p:txEl>
                                          </p:spTgt>
                                        </p:tgtEl>
                                      </p:cBhvr>
                                    </p:animEffect>
                                  </p:childTnLst>
                                </p:cTn>
                              </p:par>
                              <p:par>
                                <p:cTn id="23" presetID="10" presetClass="entr" presetSubtype="0" fill="hold" grpId="0" nodeType="withEffect">
                                  <p:stCondLst>
                                    <p:cond delay="2000"/>
                                  </p:stCondLst>
                                  <p:iterate type="lt">
                                    <p:tmPct val="10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400"/>
                                        <p:tgtEl>
                                          <p:spTgt spid="3">
                                            <p:txEl>
                                              <p:pRg st="5" end="5"/>
                                            </p:txEl>
                                          </p:spTgt>
                                        </p:tgtEl>
                                      </p:cBhvr>
                                    </p:animEffect>
                                  </p:childTnLst>
                                </p:cTn>
                              </p:par>
                              <p:par>
                                <p:cTn id="26" presetID="10" presetClass="entr" presetSubtype="0" fill="hold" grpId="0" nodeType="withEffect">
                                  <p:stCondLst>
                                    <p:cond delay="2000"/>
                                  </p:stCondLst>
                                  <p:iterate type="lt">
                                    <p:tmPct val="10000"/>
                                  </p:iterate>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400"/>
                                        <p:tgtEl>
                                          <p:spTgt spid="3">
                                            <p:txEl>
                                              <p:pRg st="6" end="6"/>
                                            </p:txEl>
                                          </p:spTgt>
                                        </p:tgtEl>
                                      </p:cBhvr>
                                    </p:animEffect>
                                  </p:childTnLst>
                                </p:cTn>
                              </p:par>
                              <p:par>
                                <p:cTn id="29" presetID="10" presetClass="entr" presetSubtype="0" fill="hold" grpId="0" nodeType="withEffect">
                                  <p:stCondLst>
                                    <p:cond delay="2000"/>
                                  </p:stCondLst>
                                  <p:iterate type="lt">
                                    <p:tmPct val="10000"/>
                                  </p:iterate>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4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2000"/>
                                  </p:stCondLst>
                                  <p:iterate type="lt">
                                    <p:tmPct val="10000"/>
                                  </p:iterate>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400"/>
                                        <p:tgtEl>
                                          <p:spTgt spid="3">
                                            <p:txEl>
                                              <p:pRg st="8" end="8"/>
                                            </p:txEl>
                                          </p:spTgt>
                                        </p:tgtEl>
                                      </p:cBhvr>
                                    </p:animEffect>
                                  </p:childTnLst>
                                </p:cTn>
                              </p:par>
                              <p:par>
                                <p:cTn id="37" presetID="10" presetClass="entr" presetSubtype="0" fill="hold" grpId="0" nodeType="withEffect">
                                  <p:stCondLst>
                                    <p:cond delay="2000"/>
                                  </p:stCondLst>
                                  <p:iterate type="lt">
                                    <p:tmPct val="10000"/>
                                  </p:iterate>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400"/>
                                        <p:tgtEl>
                                          <p:spTgt spid="3">
                                            <p:txEl>
                                              <p:pRg st="9" end="9"/>
                                            </p:txEl>
                                          </p:spTgt>
                                        </p:tgtEl>
                                      </p:cBhvr>
                                    </p:animEffect>
                                  </p:childTnLst>
                                </p:cTn>
                              </p:par>
                              <p:par>
                                <p:cTn id="40" presetID="10" presetClass="entr" presetSubtype="0" fill="hold" grpId="0" nodeType="withEffect">
                                  <p:stCondLst>
                                    <p:cond delay="2000"/>
                                  </p:stCondLst>
                                  <p:iterate type="lt">
                                    <p:tmPct val="10000"/>
                                  </p:iterate>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400"/>
                                        <p:tgtEl>
                                          <p:spTgt spid="3">
                                            <p:txEl>
                                              <p:pRg st="10" end="10"/>
                                            </p:txEl>
                                          </p:spTgt>
                                        </p:tgtEl>
                                      </p:cBhvr>
                                    </p:animEffect>
                                  </p:childTnLst>
                                </p:cTn>
                              </p:par>
                              <p:par>
                                <p:cTn id="43" presetID="10" presetClass="entr" presetSubtype="0" fill="hold" grpId="0" nodeType="withEffect">
                                  <p:stCondLst>
                                    <p:cond delay="2000"/>
                                  </p:stCondLst>
                                  <p:iterate type="lt">
                                    <p:tmPct val="10000"/>
                                  </p:iterate>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400"/>
                                        <p:tgtEl>
                                          <p:spTgt spid="3">
                                            <p:txEl>
                                              <p:pRg st="11" end="11"/>
                                            </p:txEl>
                                          </p:spTgt>
                                        </p:tgtEl>
                                      </p:cBhvr>
                                    </p:animEffect>
                                  </p:childTnLst>
                                </p:cTn>
                              </p:par>
                              <p:par>
                                <p:cTn id="46" presetID="42" presetClass="entr" presetSubtype="0" fill="hold" grpId="1" nodeType="withEffect">
                                  <p:stCondLst>
                                    <p:cond delay="250"/>
                                  </p:stCondLst>
                                  <p:iterate type="lt">
                                    <p:tmPct val="10000"/>
                                  </p:iterate>
                                  <p:childTnLst>
                                    <p:set>
                                      <p:cBhvr>
                                        <p:cTn id="47" dur="1" fill="hold">
                                          <p:stCondLst>
                                            <p:cond delay="0"/>
                                          </p:stCondLst>
                                        </p:cTn>
                                        <p:tgtEl>
                                          <p:spTgt spid="3"/>
                                        </p:tgtEl>
                                        <p:attrNameLst>
                                          <p:attrName>style.visibility</p:attrName>
                                        </p:attrNameLst>
                                      </p:cBhvr>
                                      <p:to>
                                        <p:strVal val="visible"/>
                                      </p:to>
                                    </p:set>
                                    <p:animEffect transition="in" filter="fade">
                                      <p:cBhvr>
                                        <p:cTn id="48" dur="250"/>
                                        <p:tgtEl>
                                          <p:spTgt spid="3"/>
                                        </p:tgtEl>
                                      </p:cBhvr>
                                    </p:animEffect>
                                    <p:anim calcmode="lin" valueType="num">
                                      <p:cBhvr>
                                        <p:cTn id="49" dur="250" fill="hold"/>
                                        <p:tgtEl>
                                          <p:spTgt spid="3"/>
                                        </p:tgtEl>
                                        <p:attrNameLst>
                                          <p:attrName>ppt_x</p:attrName>
                                        </p:attrNameLst>
                                      </p:cBhvr>
                                      <p:tavLst>
                                        <p:tav tm="0">
                                          <p:val>
                                            <p:strVal val="#ppt_x"/>
                                          </p:val>
                                        </p:tav>
                                        <p:tav tm="100000">
                                          <p:val>
                                            <p:strVal val="#ppt_x"/>
                                          </p:val>
                                        </p:tav>
                                      </p:tavLst>
                                    </p:anim>
                                    <p:anim calcmode="lin" valueType="num">
                                      <p:cBhvr>
                                        <p:cTn id="5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5EF9E0-610B-02EA-2D0D-2A31823C504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D532D3-5257-51AD-3C65-B898D4FD5AE8}"/>
              </a:ext>
            </a:extLst>
          </p:cNvPr>
          <p:cNvSpPr>
            <a:spLocks noGrp="1"/>
          </p:cNvSpPr>
          <p:nvPr>
            <p:ph type="ctrTitle"/>
          </p:nvPr>
        </p:nvSpPr>
        <p:spPr>
          <a:xfrm>
            <a:off x="704088" y="914400"/>
            <a:ext cx="3799763" cy="1473200"/>
          </a:xfrm>
        </p:spPr>
        <p:txBody>
          <a:bodyPr vert="horz" lIns="91440" tIns="45720" rIns="91440" bIns="45720" rtlCol="0" anchor="t">
            <a:normAutofit/>
          </a:bodyPr>
          <a:lstStyle/>
          <a:p>
            <a:r>
              <a:rPr lang="en-US" sz="3600" dirty="0"/>
              <a:t>OVERVIEW</a:t>
            </a:r>
          </a:p>
        </p:txBody>
      </p:sp>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535C88CD-D99C-96CD-317B-BB263E3D6731}"/>
              </a:ext>
            </a:extLst>
          </p:cNvPr>
          <p:cNvSpPr>
            <a:spLocks noGrp="1"/>
          </p:cNvSpPr>
          <p:nvPr>
            <p:ph type="subTitle" idx="1"/>
          </p:nvPr>
        </p:nvSpPr>
        <p:spPr>
          <a:xfrm>
            <a:off x="704088" y="1636777"/>
            <a:ext cx="3799763" cy="4518151"/>
          </a:xfrm>
        </p:spPr>
        <p:txBody>
          <a:bodyPr vert="horz" lIns="91440" tIns="45720" rIns="91440" bIns="45720" rtlCol="0">
            <a:normAutofit/>
          </a:bodyPr>
          <a:lstStyle/>
          <a:p>
            <a:pPr marL="342900" indent="-228600">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Dataset</a:t>
            </a:r>
          </a:p>
          <a:p>
            <a:pPr marL="800100" lvl="1" indent="-228600" algn="l">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Preliminary data analysis</a:t>
            </a:r>
          </a:p>
          <a:p>
            <a:pPr marL="342900" indent="-228600">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Default identification – customers that are most likely to default</a:t>
            </a:r>
          </a:p>
          <a:p>
            <a:pPr marL="342900" indent="-228600">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Choosing data science/ML methods to be implemented</a:t>
            </a:r>
          </a:p>
          <a:p>
            <a:pPr marL="800100" lvl="1" indent="-228600" algn="l">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Dividing dataset into train and test</a:t>
            </a:r>
          </a:p>
          <a:p>
            <a:pPr marL="800100" lvl="1" indent="-228600" algn="l">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Feature engineering – choosing the best features for each model</a:t>
            </a:r>
          </a:p>
          <a:p>
            <a:pPr marL="800100" lvl="1" indent="-228600" algn="l">
              <a:lnSpc>
                <a:spcPct val="1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Choosing the best models</a:t>
            </a:r>
          </a:p>
          <a:p>
            <a:pPr indent="-228600">
              <a:lnSpc>
                <a:spcPct val="100000"/>
              </a:lnSpc>
              <a:buFont typeface="Arial" panose="020B0604020202020204" pitchFamily="34" charset="0"/>
              <a:buChar char="•"/>
            </a:pPr>
            <a:endParaRPr lang="en-US" sz="1700" dirty="0"/>
          </a:p>
        </p:txBody>
      </p:sp>
      <p:pic>
        <p:nvPicPr>
          <p:cNvPr id="4" name="Picture 3" descr="display stock information on LED screen">
            <a:extLst>
              <a:ext uri="{FF2B5EF4-FFF2-40B4-BE49-F238E27FC236}">
                <a16:creationId xmlns:a16="http://schemas.microsoft.com/office/drawing/2014/main" id="{1484E460-CF01-8C94-CAA9-2CE1BB133534}"/>
              </a:ext>
            </a:extLst>
          </p:cNvPr>
          <p:cNvPicPr>
            <a:picLocks noChangeAspect="1"/>
          </p:cNvPicPr>
          <p:nvPr/>
        </p:nvPicPr>
        <p:blipFill>
          <a:blip r:embed="rId3"/>
          <a:srcRect l="20005" r="-1" b="-1"/>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103325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2000"/>
                                  </p:stCondLst>
                                  <p:iterate type="lt">
                                    <p:tmPct val="10000"/>
                                  </p:iterate>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400"/>
                                        <p:tgtEl>
                                          <p:spTgt spid="3">
                                            <p:txEl>
                                              <p:pRg st="2" end="2"/>
                                            </p:txEl>
                                          </p:spTgt>
                                        </p:tgtEl>
                                      </p:cBhvr>
                                    </p:animEffect>
                                  </p:childTnLst>
                                </p:cTn>
                              </p:par>
                              <p:par>
                                <p:cTn id="19" presetID="10" presetClass="entr" presetSubtype="0" fill="hold" grpId="0" nodeType="withEffect">
                                  <p:stCondLst>
                                    <p:cond delay="2000"/>
                                  </p:stCondLst>
                                  <p:iterate type="lt">
                                    <p:tmPct val="10000"/>
                                  </p:iterate>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400"/>
                                        <p:tgtEl>
                                          <p:spTgt spid="3">
                                            <p:txEl>
                                              <p:pRg st="3" end="3"/>
                                            </p:txEl>
                                          </p:spTgt>
                                        </p:tgtEl>
                                      </p:cBhvr>
                                    </p:animEffect>
                                  </p:childTnLst>
                                </p:cTn>
                              </p:par>
                              <p:par>
                                <p:cTn id="22" presetID="10" presetClass="entr" presetSubtype="0" fill="hold" grpId="0" nodeType="withEffect">
                                  <p:stCondLst>
                                    <p:cond delay="2000"/>
                                  </p:stCondLst>
                                  <p:iterate type="lt">
                                    <p:tmPct val="10000"/>
                                  </p:iterate>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400"/>
                                        <p:tgtEl>
                                          <p:spTgt spid="3">
                                            <p:txEl>
                                              <p:pRg st="4" end="4"/>
                                            </p:txEl>
                                          </p:spTgt>
                                        </p:tgtEl>
                                      </p:cBhvr>
                                    </p:animEffect>
                                  </p:childTnLst>
                                </p:cTn>
                              </p:par>
                              <p:par>
                                <p:cTn id="25" presetID="10" presetClass="entr" presetSubtype="0" fill="hold" grpId="0" nodeType="withEffect">
                                  <p:stCondLst>
                                    <p:cond delay="2000"/>
                                  </p:stCondLst>
                                  <p:iterate type="lt">
                                    <p:tmPct val="10000"/>
                                  </p:iterate>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400"/>
                                        <p:tgtEl>
                                          <p:spTgt spid="3">
                                            <p:txEl>
                                              <p:pRg st="5" end="5"/>
                                            </p:txEl>
                                          </p:spTgt>
                                        </p:tgtEl>
                                      </p:cBhvr>
                                    </p:animEffect>
                                  </p:childTnLst>
                                </p:cTn>
                              </p:par>
                              <p:par>
                                <p:cTn id="28" presetID="10" presetClass="entr" presetSubtype="0" fill="hold" grpId="0" nodeType="withEffect">
                                  <p:stCondLst>
                                    <p:cond delay="2000"/>
                                  </p:stCondLst>
                                  <p:iterate type="lt">
                                    <p:tmPct val="10000"/>
                                  </p:iterate>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400"/>
                                        <p:tgtEl>
                                          <p:spTgt spid="3">
                                            <p:txEl>
                                              <p:pRg st="6" end="6"/>
                                            </p:txEl>
                                          </p:spTgt>
                                        </p:tgtEl>
                                      </p:cBhvr>
                                    </p:animEffect>
                                  </p:childTnLst>
                                </p:cTn>
                              </p:par>
                              <p:par>
                                <p:cTn id="31" presetID="42" presetClass="entr" presetSubtype="0" fill="hold" grpId="1" nodeType="withEffect">
                                  <p:stCondLst>
                                    <p:cond delay="250"/>
                                  </p:stCondLst>
                                  <p:iterate type="lt">
                                    <p:tmPct val="10000"/>
                                  </p:iterate>
                                  <p:childTnLst>
                                    <p:set>
                                      <p:cBhvr>
                                        <p:cTn id="32" dur="1" fill="hold">
                                          <p:stCondLst>
                                            <p:cond delay="0"/>
                                          </p:stCondLst>
                                        </p:cTn>
                                        <p:tgtEl>
                                          <p:spTgt spid="3"/>
                                        </p:tgtEl>
                                        <p:attrNameLst>
                                          <p:attrName>style.visibility</p:attrName>
                                        </p:attrNameLst>
                                      </p:cBhvr>
                                      <p:to>
                                        <p:strVal val="visible"/>
                                      </p:to>
                                    </p:set>
                                    <p:animEffect transition="in" filter="fade">
                                      <p:cBhvr>
                                        <p:cTn id="33" dur="250"/>
                                        <p:tgtEl>
                                          <p:spTgt spid="3"/>
                                        </p:tgtEl>
                                      </p:cBhvr>
                                    </p:animEffect>
                                    <p:anim calcmode="lin" valueType="num">
                                      <p:cBhvr>
                                        <p:cTn id="34" dur="250" fill="hold"/>
                                        <p:tgtEl>
                                          <p:spTgt spid="3"/>
                                        </p:tgtEl>
                                        <p:attrNameLst>
                                          <p:attrName>ppt_x</p:attrName>
                                        </p:attrNameLst>
                                      </p:cBhvr>
                                      <p:tavLst>
                                        <p:tav tm="0">
                                          <p:val>
                                            <p:strVal val="#ppt_x"/>
                                          </p:val>
                                        </p:tav>
                                        <p:tav tm="100000">
                                          <p:val>
                                            <p:strVal val="#ppt_x"/>
                                          </p:val>
                                        </p:tav>
                                      </p:tavLst>
                                    </p:anim>
                                    <p:anim calcmode="lin" valueType="num">
                                      <p:cBhvr>
                                        <p:cTn id="3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049A8A-1CA0-4509-D656-BC00EEB5DDBF}"/>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5914B4-8F6C-2BC8-9012-344BFEAFD6D8}"/>
              </a:ext>
            </a:extLst>
          </p:cNvPr>
          <p:cNvSpPr>
            <a:spLocks noGrp="1"/>
          </p:cNvSpPr>
          <p:nvPr>
            <p:ph type="ctrTitle"/>
          </p:nvPr>
        </p:nvSpPr>
        <p:spPr>
          <a:xfrm>
            <a:off x="700088" y="909637"/>
            <a:ext cx="6400800" cy="1307592"/>
          </a:xfrm>
        </p:spPr>
        <p:txBody>
          <a:bodyPr vert="horz" lIns="91440" tIns="45720" rIns="91440" bIns="45720" rtlCol="0" anchor="t">
            <a:normAutofit/>
          </a:bodyPr>
          <a:lstStyle/>
          <a:p>
            <a:r>
              <a:rPr lang="en-US" sz="4000" dirty="0"/>
              <a:t>PROCESS</a:t>
            </a:r>
          </a:p>
        </p:txBody>
      </p:sp>
      <p:cxnSp>
        <p:nvCxnSpPr>
          <p:cNvPr id="15" name="Straight Connector 14">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ED9ABCF2-2F6A-34E9-8308-61EC20EA2538}"/>
              </a:ext>
            </a:extLst>
          </p:cNvPr>
          <p:cNvSpPr>
            <a:spLocks noGrp="1"/>
          </p:cNvSpPr>
          <p:nvPr>
            <p:ph type="subTitle" idx="1"/>
          </p:nvPr>
        </p:nvSpPr>
        <p:spPr>
          <a:xfrm>
            <a:off x="700088" y="1447801"/>
            <a:ext cx="6639826" cy="4514087"/>
          </a:xfrm>
        </p:spPr>
        <p:txBody>
          <a:bodyPr vert="horz" lIns="91440" tIns="45720" rIns="91440" bIns="45720" rtlCol="0">
            <a:normAutofit/>
          </a:bodyPr>
          <a:lstStyle/>
          <a:p>
            <a:pPr indent="-228600">
              <a:lnSpc>
                <a:spcPct val="100000"/>
              </a:lnSpc>
              <a:buFont typeface="Arial" panose="020B0604020202020204" pitchFamily="34" charset="0"/>
              <a:buChar char="•"/>
            </a:pPr>
            <a:endParaRPr lang="en-US" sz="1000" dirty="0"/>
          </a:p>
        </p:txBody>
      </p:sp>
      <p:pic>
        <p:nvPicPr>
          <p:cNvPr id="4" name="Picture 3" descr="display stock information on LED screen">
            <a:extLst>
              <a:ext uri="{FF2B5EF4-FFF2-40B4-BE49-F238E27FC236}">
                <a16:creationId xmlns:a16="http://schemas.microsoft.com/office/drawing/2014/main" id="{71B1CB1C-D641-FD9F-1E43-413A73F36ABB}"/>
              </a:ext>
            </a:extLst>
          </p:cNvPr>
          <p:cNvPicPr>
            <a:picLocks noChangeAspect="1"/>
          </p:cNvPicPr>
          <p:nvPr/>
        </p:nvPicPr>
        <p:blipFill>
          <a:blip r:embed="rId3"/>
          <a:srcRect l="54599" r="4569" b="2"/>
          <a:stretch>
            <a:fillRect/>
          </a:stretch>
        </p:blipFill>
        <p:spPr>
          <a:xfrm>
            <a:off x="8262686" y="890873"/>
            <a:ext cx="3129213" cy="5115369"/>
          </a:xfrm>
          <a:prstGeom prst="rect">
            <a:avLst/>
          </a:prstGeom>
        </p:spPr>
      </p:pic>
      <p:cxnSp>
        <p:nvCxnSpPr>
          <p:cNvPr id="17" name="Straight Connector 16">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5">
            <a:extLst>
              <a:ext uri="{FF2B5EF4-FFF2-40B4-BE49-F238E27FC236}">
                <a16:creationId xmlns:a16="http://schemas.microsoft.com/office/drawing/2014/main" id="{DEC789A2-00A7-37D9-EBD5-11641FC74FF0}"/>
              </a:ext>
            </a:extLst>
          </p:cNvPr>
          <p:cNvGraphicFramePr>
            <a:graphicFrameLocks/>
          </p:cNvGraphicFramePr>
          <p:nvPr>
            <p:extLst>
              <p:ext uri="{D42A27DB-BD31-4B8C-83A1-F6EECF244321}">
                <p14:modId xmlns:p14="http://schemas.microsoft.com/office/powerpoint/2010/main" val="2651045322"/>
              </p:ext>
            </p:extLst>
          </p:nvPr>
        </p:nvGraphicFramePr>
        <p:xfrm>
          <a:off x="855662" y="1143000"/>
          <a:ext cx="7602537" cy="4648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lide Number Placeholder 3">
            <a:extLst>
              <a:ext uri="{FF2B5EF4-FFF2-40B4-BE49-F238E27FC236}">
                <a16:creationId xmlns:a16="http://schemas.microsoft.com/office/drawing/2014/main" id="{776B6FCA-83D1-937B-0E0A-7ADE88A45E6F}"/>
              </a:ext>
            </a:extLst>
          </p:cNvPr>
          <p:cNvSpPr>
            <a:spLocks noGrp="1"/>
          </p:cNvSpPr>
          <p:nvPr>
            <p:ph type="sldNum" sz="quarter" idx="12"/>
          </p:nvPr>
        </p:nvSpPr>
        <p:spPr>
          <a:xfrm>
            <a:off x="7707241" y="5883275"/>
            <a:ext cx="578317" cy="365125"/>
          </a:xfrm>
        </p:spPr>
        <p:txBody>
          <a:bodyPr/>
          <a:lstStyle/>
          <a:p>
            <a:fld id="{60E31820-40EB-4752-BF5C-5CDC15760999}" type="slidenum">
              <a:rPr lang="en-US" smtClean="0"/>
              <a:t>5</a:t>
            </a:fld>
            <a:endParaRPr lang="en-US"/>
          </a:p>
        </p:txBody>
      </p:sp>
      <p:sp>
        <p:nvSpPr>
          <p:cNvPr id="7" name="Title 1">
            <a:extLst>
              <a:ext uri="{FF2B5EF4-FFF2-40B4-BE49-F238E27FC236}">
                <a16:creationId xmlns:a16="http://schemas.microsoft.com/office/drawing/2014/main" id="{76E11DBD-E078-D8FC-0D05-90A770121295}"/>
              </a:ext>
            </a:extLst>
          </p:cNvPr>
          <p:cNvSpPr txBox="1">
            <a:spLocks/>
          </p:cNvSpPr>
          <p:nvPr/>
        </p:nvSpPr>
        <p:spPr>
          <a:xfrm>
            <a:off x="0" y="0"/>
            <a:ext cx="9144000" cy="699655"/>
          </a:xfrm>
          <a:prstGeom prst="rect">
            <a:avLst/>
          </a:prstGeom>
          <a:solidFill>
            <a:schemeClr val="bg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cap="none" dirty="0">
                <a:latin typeface="Calibri" panose="020F0502020204030204" pitchFamily="34" charset="0"/>
              </a:rPr>
              <a:t>Process</a:t>
            </a:r>
          </a:p>
        </p:txBody>
      </p:sp>
    </p:spTree>
    <p:extLst>
      <p:ext uri="{BB962C8B-B14F-4D97-AF65-F5344CB8AC3E}">
        <p14:creationId xmlns:p14="http://schemas.microsoft.com/office/powerpoint/2010/main" val="3186580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ED06-59C2-D9E4-C624-DAE3B50E8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A0D9E-F6AE-B5B3-F7C1-504E982B71D1}"/>
              </a:ext>
            </a:extLst>
          </p:cNvPr>
          <p:cNvSpPr>
            <a:spLocks noGrp="1"/>
          </p:cNvSpPr>
          <p:nvPr>
            <p:ph type="ctrTitle"/>
          </p:nvPr>
        </p:nvSpPr>
        <p:spPr>
          <a:xfrm>
            <a:off x="715383" y="118873"/>
            <a:ext cx="3799763" cy="1473200"/>
          </a:xfrm>
        </p:spPr>
        <p:txBody>
          <a:bodyPr vert="horz" lIns="91440" tIns="45720" rIns="91440" bIns="45720" rtlCol="0" anchor="t">
            <a:normAutofit/>
          </a:bodyPr>
          <a:lstStyle/>
          <a:p>
            <a:r>
              <a:rPr lang="en-US" sz="3600" dirty="0"/>
              <a:t>DATA</a:t>
            </a:r>
          </a:p>
        </p:txBody>
      </p:sp>
      <p:sp>
        <p:nvSpPr>
          <p:cNvPr id="3" name="Subtitle 2">
            <a:extLst>
              <a:ext uri="{FF2B5EF4-FFF2-40B4-BE49-F238E27FC236}">
                <a16:creationId xmlns:a16="http://schemas.microsoft.com/office/drawing/2014/main" id="{166FCE1E-D415-AEF1-B166-5E4771A0C361}"/>
              </a:ext>
            </a:extLst>
          </p:cNvPr>
          <p:cNvSpPr>
            <a:spLocks noGrp="1"/>
          </p:cNvSpPr>
          <p:nvPr>
            <p:ph type="subTitle" idx="1"/>
          </p:nvPr>
        </p:nvSpPr>
        <p:spPr>
          <a:xfrm>
            <a:off x="704088" y="1292773"/>
            <a:ext cx="4414450" cy="4424855"/>
          </a:xfrm>
        </p:spPr>
        <p:txBody>
          <a:bodyPr vert="horz" lIns="91440" tIns="45720" rIns="91440" bIns="45720" rtlCol="0">
            <a:normAutofit fontScale="62500" lnSpcReduction="20000"/>
          </a:bodyPr>
          <a:lstStyle/>
          <a:p>
            <a:r>
              <a:rPr lang="en-US" sz="4500" dirty="0">
                <a:latin typeface="Calibri" panose="020F0502020204030204" pitchFamily="34" charset="0"/>
                <a:cs typeface="Calibri" panose="020F0502020204030204" pitchFamily="34" charset="0"/>
              </a:rPr>
              <a:t>Original Data Set : </a:t>
            </a:r>
          </a:p>
          <a:p>
            <a:pPr marL="1143000" lvl="1" indent="-685800" algn="l">
              <a:buFont typeface="Arial" panose="020B0604020202020204" pitchFamily="34" charset="0"/>
              <a:buChar char="•"/>
            </a:pPr>
            <a:r>
              <a:rPr lang="en-US" sz="4500" dirty="0">
                <a:latin typeface="Calibri" panose="020F0502020204030204" pitchFamily="34" charset="0"/>
                <a:cs typeface="Calibri" panose="020F0502020204030204" pitchFamily="34" charset="0"/>
              </a:rPr>
              <a:t>10.000 rows and 28 columns (7 categorical and 21 continuous) </a:t>
            </a:r>
          </a:p>
          <a:p>
            <a:pPr marL="1143000" lvl="1" indent="-685800" algn="l">
              <a:buFont typeface="Arial" panose="020B0604020202020204" pitchFamily="34" charset="0"/>
              <a:buChar char="•"/>
            </a:pPr>
            <a:r>
              <a:rPr lang="en-US" sz="4500" dirty="0">
                <a:latin typeface="Calibri" panose="020F0502020204030204" pitchFamily="34" charset="0"/>
                <a:cs typeface="Calibri" panose="020F0502020204030204" pitchFamily="34" charset="0"/>
              </a:rPr>
              <a:t>Default probability 13%</a:t>
            </a:r>
          </a:p>
          <a:p>
            <a:r>
              <a:rPr lang="en-US" sz="4500" dirty="0">
                <a:latin typeface="Calibri" panose="020F0502020204030204" pitchFamily="34" charset="0"/>
                <a:cs typeface="Calibri" panose="020F0502020204030204" pitchFamily="34" charset="0"/>
              </a:rPr>
              <a:t>After transformation</a:t>
            </a:r>
          </a:p>
          <a:p>
            <a:pPr marL="685800" indent="-685800">
              <a:buFont typeface="Arial" panose="020B0604020202020204" pitchFamily="34" charset="0"/>
              <a:buChar char="•"/>
            </a:pPr>
            <a:r>
              <a:rPr lang="en-US" sz="4800" dirty="0">
                <a:latin typeface="Calibri" panose="020F0502020204030204" pitchFamily="34" charset="0"/>
                <a:cs typeface="Calibri" panose="020F0502020204030204" pitchFamily="34" charset="0"/>
              </a:rPr>
              <a:t>9999 rows and 180 columns </a:t>
            </a:r>
            <a:r>
              <a:rPr lang="en-US" sz="4500" dirty="0">
                <a:latin typeface="Calibri" panose="020F0502020204030204" pitchFamily="34" charset="0"/>
                <a:cs typeface="Calibri" panose="020F0502020204030204" pitchFamily="34" charset="0"/>
              </a:rPr>
              <a:t>	</a:t>
            </a:r>
          </a:p>
          <a:p>
            <a:pPr indent="-228600">
              <a:lnSpc>
                <a:spcPct val="100000"/>
              </a:lnSpc>
              <a:buFont typeface="Arial" panose="020B0604020202020204" pitchFamily="34" charset="0"/>
              <a:buChar char="•"/>
            </a:pPr>
            <a:endParaRPr lang="en-US" sz="1700" dirty="0"/>
          </a:p>
        </p:txBody>
      </p:sp>
      <p:pic>
        <p:nvPicPr>
          <p:cNvPr id="4" name="Picture 3" descr="display stock information on LED screen">
            <a:extLst>
              <a:ext uri="{FF2B5EF4-FFF2-40B4-BE49-F238E27FC236}">
                <a16:creationId xmlns:a16="http://schemas.microsoft.com/office/drawing/2014/main" id="{74FF180B-DB72-F883-5CAB-B00EC6A99C37}"/>
              </a:ext>
            </a:extLst>
          </p:cNvPr>
          <p:cNvPicPr>
            <a:picLocks noChangeAspect="1"/>
          </p:cNvPicPr>
          <p:nvPr/>
        </p:nvPicPr>
        <p:blipFill>
          <a:blip r:embed="rId3"/>
          <a:srcRect l="20005" r="-1" b="-1"/>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408791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2000"/>
                                  </p:stCondLst>
                                  <p:iterate type="lt">
                                    <p:tmPct val="10000"/>
                                  </p:iterate>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4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2000"/>
                                  </p:stCondLst>
                                  <p:iterate type="lt">
                                    <p:tmPct val="10000"/>
                                  </p:iterate>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400"/>
                                        <p:tgtEl>
                                          <p:spTgt spid="3">
                                            <p:txEl>
                                              <p:pRg st="4" end="4"/>
                                            </p:txEl>
                                          </p:spTgt>
                                        </p:tgtEl>
                                      </p:cBhvr>
                                    </p:animEffect>
                                  </p:childTnLst>
                                </p:cTn>
                              </p:par>
                              <p:par>
                                <p:cTn id="27" presetID="42" presetClass="entr" presetSubtype="0" fill="hold" grpId="1" nodeType="withEffect">
                                  <p:stCondLst>
                                    <p:cond delay="250"/>
                                  </p:stCondLst>
                                  <p:iterate type="lt">
                                    <p:tmPct val="10000"/>
                                  </p:iterate>
                                  <p:childTnLst>
                                    <p:set>
                                      <p:cBhvr>
                                        <p:cTn id="28" dur="1" fill="hold">
                                          <p:stCondLst>
                                            <p:cond delay="0"/>
                                          </p:stCondLst>
                                        </p:cTn>
                                        <p:tgtEl>
                                          <p:spTgt spid="3"/>
                                        </p:tgtEl>
                                        <p:attrNameLst>
                                          <p:attrName>style.visibility</p:attrName>
                                        </p:attrNameLst>
                                      </p:cBhvr>
                                      <p:to>
                                        <p:strVal val="visible"/>
                                      </p:to>
                                    </p:set>
                                    <p:animEffect transition="in" filter="fade">
                                      <p:cBhvr>
                                        <p:cTn id="29" dur="250"/>
                                        <p:tgtEl>
                                          <p:spTgt spid="3"/>
                                        </p:tgtEl>
                                      </p:cBhvr>
                                    </p:animEffect>
                                    <p:anim calcmode="lin" valueType="num">
                                      <p:cBhvr>
                                        <p:cTn id="30" dur="250" fill="hold"/>
                                        <p:tgtEl>
                                          <p:spTgt spid="3"/>
                                        </p:tgtEl>
                                        <p:attrNameLst>
                                          <p:attrName>ppt_x</p:attrName>
                                        </p:attrNameLst>
                                      </p:cBhvr>
                                      <p:tavLst>
                                        <p:tav tm="0">
                                          <p:val>
                                            <p:strVal val="#ppt_x"/>
                                          </p:val>
                                        </p:tav>
                                        <p:tav tm="100000">
                                          <p:val>
                                            <p:strVal val="#ppt_x"/>
                                          </p:val>
                                        </p:tav>
                                      </p:tavLst>
                                    </p:anim>
                                    <p:anim calcmode="lin" valueType="num">
                                      <p:cBhvr>
                                        <p:cTn id="31"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0DB720-CBD4-B405-2635-177E5DDA1FF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2E2F6D9-F9F0-47A2-A074-0A6B79B647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5DF4B1-F551-4918-A8AC-57E79CC4F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690A6-055F-388D-A1AD-9CE79548AD32}"/>
              </a:ext>
            </a:extLst>
          </p:cNvPr>
          <p:cNvSpPr>
            <a:spLocks noGrp="1"/>
          </p:cNvSpPr>
          <p:nvPr>
            <p:ph type="ctrTitle"/>
          </p:nvPr>
        </p:nvSpPr>
        <p:spPr>
          <a:xfrm>
            <a:off x="704088" y="871758"/>
            <a:ext cx="3534686" cy="3871143"/>
          </a:xfrm>
        </p:spPr>
        <p:txBody>
          <a:bodyPr vert="horz" lIns="91440" tIns="45720" rIns="91440" bIns="45720" rtlCol="0">
            <a:normAutofit/>
          </a:bodyPr>
          <a:lstStyle/>
          <a:p>
            <a:r>
              <a:rPr lang="en-US" sz="4000" dirty="0">
                <a:solidFill>
                  <a:schemeClr val="bg1"/>
                </a:solidFill>
              </a:rPr>
              <a:t>DATA</a:t>
            </a:r>
          </a:p>
        </p:txBody>
      </p:sp>
      <p:sp>
        <p:nvSpPr>
          <p:cNvPr id="3" name="Subtitle 2">
            <a:extLst>
              <a:ext uri="{FF2B5EF4-FFF2-40B4-BE49-F238E27FC236}">
                <a16:creationId xmlns:a16="http://schemas.microsoft.com/office/drawing/2014/main" id="{BFB54FFC-76A5-D4F8-0F53-F4A8DC6AA7E3}"/>
              </a:ext>
            </a:extLst>
          </p:cNvPr>
          <p:cNvSpPr>
            <a:spLocks noGrp="1"/>
          </p:cNvSpPr>
          <p:nvPr>
            <p:ph type="subTitle" idx="1"/>
          </p:nvPr>
        </p:nvSpPr>
        <p:spPr>
          <a:xfrm>
            <a:off x="751713" y="944972"/>
            <a:ext cx="3487061" cy="1005657"/>
          </a:xfrm>
        </p:spPr>
        <p:txBody>
          <a:bodyPr vert="horz" lIns="91440" tIns="45720" rIns="91440" bIns="45720" rtlCol="0">
            <a:normAutofit/>
          </a:bodyPr>
          <a:lstStyle/>
          <a:p>
            <a:pPr indent="-228600">
              <a:buFont typeface="Arial" panose="020B0604020202020204" pitchFamily="34" charset="0"/>
              <a:buChar char="•"/>
            </a:pPr>
            <a:r>
              <a:rPr lang="en-US" dirty="0">
                <a:solidFill>
                  <a:schemeClr val="bg1"/>
                </a:solidFill>
                <a:latin typeface="Calibri" panose="020F0502020204030204" pitchFamily="34" charset="0"/>
                <a:cs typeface="Calibri" panose="020F0502020204030204" pitchFamily="34" charset="0"/>
              </a:rPr>
              <a:t>Missing values</a:t>
            </a:r>
          </a:p>
        </p:txBody>
      </p:sp>
      <p:cxnSp>
        <p:nvCxnSpPr>
          <p:cNvPr id="16" name="Straight Connector 15">
            <a:extLst>
              <a:ext uri="{FF2B5EF4-FFF2-40B4-BE49-F238E27FC236}">
                <a16:creationId xmlns:a16="http://schemas.microsoft.com/office/drawing/2014/main" id="{20EEADAF-D8D3-450B-A46D-DE8E54173E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display stock information on LED screen">
            <a:extLst>
              <a:ext uri="{FF2B5EF4-FFF2-40B4-BE49-F238E27FC236}">
                <a16:creationId xmlns:a16="http://schemas.microsoft.com/office/drawing/2014/main" id="{906BB108-63FD-33D8-6ED6-DD40B588FDED}"/>
              </a:ext>
            </a:extLst>
          </p:cNvPr>
          <p:cNvPicPr>
            <a:picLocks noChangeAspect="1"/>
          </p:cNvPicPr>
          <p:nvPr/>
        </p:nvPicPr>
        <p:blipFill>
          <a:blip r:embed="rId3"/>
          <a:srcRect l="42110" r="22104" b="-2"/>
          <a:stretch>
            <a:fillRect/>
          </a:stretch>
        </p:blipFill>
        <p:spPr>
          <a:xfrm>
            <a:off x="4876800" y="-1"/>
            <a:ext cx="3676649" cy="6858001"/>
          </a:xfrm>
          <a:prstGeom prst="rect">
            <a:avLst/>
          </a:prstGeom>
        </p:spPr>
      </p:pic>
      <p:pic>
        <p:nvPicPr>
          <p:cNvPr id="8" name="Picture 7">
            <a:extLst>
              <a:ext uri="{FF2B5EF4-FFF2-40B4-BE49-F238E27FC236}">
                <a16:creationId xmlns:a16="http://schemas.microsoft.com/office/drawing/2014/main" id="{21C8A40A-B1AF-CB3B-5FFD-191A98B5F1EE}"/>
              </a:ext>
            </a:extLst>
          </p:cNvPr>
          <p:cNvPicPr>
            <a:picLocks noChangeAspect="1"/>
          </p:cNvPicPr>
          <p:nvPr/>
        </p:nvPicPr>
        <p:blipFill>
          <a:blip r:embed="rId4"/>
          <a:stretch>
            <a:fillRect/>
          </a:stretch>
        </p:blipFill>
        <p:spPr>
          <a:xfrm>
            <a:off x="7969508" y="323849"/>
            <a:ext cx="3975100" cy="6210300"/>
          </a:xfrm>
          <a:prstGeom prst="rect">
            <a:avLst/>
          </a:prstGeom>
        </p:spPr>
      </p:pic>
    </p:spTree>
    <p:extLst>
      <p:ext uri="{BB962C8B-B14F-4D97-AF65-F5344CB8AC3E}">
        <p14:creationId xmlns:p14="http://schemas.microsoft.com/office/powerpoint/2010/main" val="130920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470E6-41B7-436B-BBDE-F7771076C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93D9C-5AEB-4100-AE87-EB3DEA1D0EBF}"/>
              </a:ext>
            </a:extLst>
          </p:cNvPr>
          <p:cNvSpPr>
            <a:spLocks noGrp="1"/>
          </p:cNvSpPr>
          <p:nvPr>
            <p:ph type="ctrTitle"/>
          </p:nvPr>
        </p:nvSpPr>
        <p:spPr>
          <a:xfrm>
            <a:off x="704088" y="93279"/>
            <a:ext cx="3799763" cy="1473200"/>
          </a:xfrm>
        </p:spPr>
        <p:txBody>
          <a:bodyPr vert="horz" lIns="91440" tIns="45720" rIns="91440" bIns="45720" rtlCol="0" anchor="t">
            <a:normAutofit/>
          </a:bodyPr>
          <a:lstStyle/>
          <a:p>
            <a:r>
              <a:rPr lang="en-US" sz="3600" dirty="0"/>
              <a:t>Missing data</a:t>
            </a:r>
          </a:p>
        </p:txBody>
      </p:sp>
      <p:sp>
        <p:nvSpPr>
          <p:cNvPr id="3" name="Subtitle 2">
            <a:extLst>
              <a:ext uri="{FF2B5EF4-FFF2-40B4-BE49-F238E27FC236}">
                <a16:creationId xmlns:a16="http://schemas.microsoft.com/office/drawing/2014/main" id="{1BB0C464-96F4-E1E9-BC9D-C44078DAB690}"/>
              </a:ext>
            </a:extLst>
          </p:cNvPr>
          <p:cNvSpPr>
            <a:spLocks noGrp="1"/>
          </p:cNvSpPr>
          <p:nvPr>
            <p:ph type="subTitle" idx="1"/>
          </p:nvPr>
        </p:nvSpPr>
        <p:spPr>
          <a:xfrm>
            <a:off x="704088" y="1841157"/>
            <a:ext cx="6474478" cy="4065657"/>
          </a:xfrm>
        </p:spPr>
        <p:txBody>
          <a:bodyPr vert="horz" lIns="91440" tIns="45720" rIns="91440" bIns="45720" rtlCol="0">
            <a:normAutofit fontScale="25000" lnSpcReduction="20000"/>
          </a:bodyPr>
          <a:lstStyle/>
          <a:p>
            <a:endParaRPr lang="en-US" sz="5600" dirty="0">
              <a:latin typeface="Calibri" panose="020F0502020204030204" pitchFamily="34" charset="0"/>
              <a:cs typeface="Calibri" panose="020F0502020204030204" pitchFamily="34" charset="0"/>
            </a:endParaRPr>
          </a:p>
          <a:p>
            <a:r>
              <a:rPr lang="en-US" sz="5600" dirty="0">
                <a:latin typeface="Calibri" panose="020F0502020204030204" pitchFamily="34" charset="0"/>
                <a:cs typeface="Calibri" panose="020F0502020204030204" pitchFamily="34" charset="0"/>
              </a:rPr>
              <a:t>We can divide features with missing values into a few groups:</a:t>
            </a:r>
          </a:p>
          <a:p>
            <a:pPr marL="685800" indent="-685800">
              <a:buFont typeface="Arial" panose="020B0604020202020204" pitchFamily="34" charset="0"/>
              <a:buChar char="•"/>
            </a:pPr>
            <a:r>
              <a:rPr lang="en-US" sz="5600" dirty="0">
                <a:latin typeface="Calibri" panose="020F0502020204030204" pitchFamily="34" charset="0"/>
                <a:cs typeface="Calibri" panose="020F0502020204030204" pitchFamily="34" charset="0"/>
              </a:rPr>
              <a:t>Features that most likely won't bring much into our model, like </a:t>
            </a:r>
            <a:r>
              <a:rPr lang="en-US" sz="5600" i="1" dirty="0" err="1">
                <a:latin typeface="Calibri" panose="020F0502020204030204" pitchFamily="34" charset="0"/>
                <a:cs typeface="Calibri" panose="020F0502020204030204" pitchFamily="34" charset="0"/>
              </a:rPr>
              <a:t>emp_title</a:t>
            </a:r>
            <a:r>
              <a:rPr lang="en-US" sz="5600" dirty="0">
                <a:latin typeface="Calibri" panose="020F0502020204030204" pitchFamily="34" charset="0"/>
                <a:cs typeface="Calibri" panose="020F0502020204030204" pitchFamily="34" charset="0"/>
              </a:rPr>
              <a:t> or </a:t>
            </a:r>
            <a:r>
              <a:rPr lang="en-US" sz="5600" i="1" dirty="0">
                <a:latin typeface="Calibri" panose="020F0502020204030204" pitchFamily="34" charset="0"/>
                <a:cs typeface="Calibri" panose="020F0502020204030204" pitchFamily="34" charset="0"/>
              </a:rPr>
              <a:t>Notes</a:t>
            </a:r>
            <a:r>
              <a:rPr lang="en-US" sz="5600" dirty="0">
                <a:latin typeface="Calibri" panose="020F0502020204030204" pitchFamily="34" charset="0"/>
                <a:cs typeface="Calibri" panose="020F0502020204030204" pitchFamily="34" charset="0"/>
              </a:rPr>
              <a:t>, so I won't bother with replacing those missing values</a:t>
            </a:r>
          </a:p>
          <a:p>
            <a:pPr marL="685800" indent="-685800">
              <a:buFont typeface="Arial" panose="020B0604020202020204" pitchFamily="34" charset="0"/>
              <a:buChar char="•"/>
            </a:pPr>
            <a:r>
              <a:rPr lang="en-US" sz="5600" dirty="0">
                <a:latin typeface="Calibri" panose="020F0502020204030204" pitchFamily="34" charset="0"/>
                <a:cs typeface="Calibri" panose="020F0502020204030204" pitchFamily="34" charset="0"/>
              </a:rPr>
              <a:t>Features that don't have </a:t>
            </a:r>
            <a:r>
              <a:rPr lang="en-US" sz="5600" dirty="0" err="1">
                <a:latin typeface="Calibri" panose="020F0502020204030204" pitchFamily="34" charset="0"/>
                <a:cs typeface="Calibri" panose="020F0502020204030204" pitchFamily="34" charset="0"/>
              </a:rPr>
              <a:t>NaN</a:t>
            </a:r>
            <a:r>
              <a:rPr lang="en-US" sz="5600" dirty="0">
                <a:latin typeface="Calibri" panose="020F0502020204030204" pitchFamily="34" charset="0"/>
                <a:cs typeface="Calibri" panose="020F0502020204030204" pitchFamily="34" charset="0"/>
              </a:rPr>
              <a:t> (missing values) but have a different values instead (like </a:t>
            </a:r>
            <a:r>
              <a:rPr lang="en-US" sz="5600" dirty="0" err="1">
                <a:latin typeface="Calibri" panose="020F0502020204030204" pitchFamily="34" charset="0"/>
                <a:cs typeface="Calibri" panose="020F0502020204030204" pitchFamily="34" charset="0"/>
              </a:rPr>
              <a:t>na</a:t>
            </a:r>
            <a:r>
              <a:rPr lang="en-US" sz="5600" dirty="0">
                <a:latin typeface="Calibri" panose="020F0502020204030204" pitchFamily="34" charset="0"/>
                <a:cs typeface="Calibri" panose="020F0502020204030204" pitchFamily="34" charset="0"/>
              </a:rPr>
              <a:t>) for example </a:t>
            </a:r>
            <a:r>
              <a:rPr lang="en-US" sz="5600" i="1" dirty="0" err="1">
                <a:latin typeface="Calibri" panose="020F0502020204030204" pitchFamily="34" charset="0"/>
                <a:cs typeface="Calibri" panose="020F0502020204030204" pitchFamily="34" charset="0"/>
              </a:rPr>
              <a:t>emp_length</a:t>
            </a:r>
            <a:r>
              <a:rPr lang="en-US" sz="5600" dirty="0">
                <a:latin typeface="Calibri" panose="020F0502020204030204" pitchFamily="34" charset="0"/>
                <a:cs typeface="Calibri" panose="020F0502020204030204" pitchFamily="34" charset="0"/>
              </a:rPr>
              <a:t> - impute the median</a:t>
            </a:r>
          </a:p>
          <a:p>
            <a:pPr marL="685800" indent="-685800">
              <a:buFont typeface="Arial" panose="020B0604020202020204" pitchFamily="34" charset="0"/>
              <a:buChar char="•"/>
            </a:pPr>
            <a:r>
              <a:rPr lang="en-US" sz="5600" dirty="0">
                <a:latin typeface="Calibri" panose="020F0502020204030204" pitchFamily="34" charset="0"/>
                <a:cs typeface="Calibri" panose="020F0502020204030204" pitchFamily="34" charset="0"/>
              </a:rPr>
              <a:t>Features that have high percentage of </a:t>
            </a:r>
            <a:r>
              <a:rPr lang="en-US" sz="5600" dirty="0" err="1">
                <a:latin typeface="Calibri" panose="020F0502020204030204" pitchFamily="34" charset="0"/>
                <a:cs typeface="Calibri" panose="020F0502020204030204" pitchFamily="34" charset="0"/>
              </a:rPr>
              <a:t>NaN</a:t>
            </a:r>
            <a:r>
              <a:rPr lang="en-US" sz="5600" dirty="0">
                <a:latin typeface="Calibri" panose="020F0502020204030204" pitchFamily="34" charset="0"/>
                <a:cs typeface="Calibri" panose="020F0502020204030204" pitchFamily="34" charset="0"/>
              </a:rPr>
              <a:t> ( </a:t>
            </a:r>
            <a:r>
              <a:rPr lang="en-US" sz="5600" i="1" dirty="0" err="1">
                <a:latin typeface="Calibri" panose="020F0502020204030204" pitchFamily="34" charset="0"/>
                <a:cs typeface="Calibri" panose="020F0502020204030204" pitchFamily="34" charset="0"/>
              </a:rPr>
              <a:t>mths_since_last_delinq</a:t>
            </a:r>
            <a:r>
              <a:rPr lang="en-US" sz="5600" dirty="0">
                <a:latin typeface="Calibri" panose="020F0502020204030204" pitchFamily="34" charset="0"/>
                <a:cs typeface="Calibri" panose="020F0502020204030204" pitchFamily="34" charset="0"/>
              </a:rPr>
              <a:t> or </a:t>
            </a:r>
            <a:r>
              <a:rPr lang="en-US" sz="5600" i="1" dirty="0" err="1">
                <a:latin typeface="Calibri" panose="020F0502020204030204" pitchFamily="34" charset="0"/>
                <a:cs typeface="Calibri" panose="020F0502020204030204" pitchFamily="34" charset="0"/>
              </a:rPr>
              <a:t>mths_since_last_record</a:t>
            </a:r>
            <a:r>
              <a:rPr lang="en-US" sz="5600" dirty="0">
                <a:latin typeface="Calibri" panose="020F0502020204030204" pitchFamily="34" charset="0"/>
                <a:cs typeface="Calibri" panose="020F0502020204030204" pitchFamily="34" charset="0"/>
              </a:rPr>
              <a:t>) - will address it further</a:t>
            </a:r>
          </a:p>
          <a:p>
            <a:pPr marL="685800" indent="-685800">
              <a:buFont typeface="Arial" panose="020B0604020202020204" pitchFamily="34" charset="0"/>
              <a:buChar char="•"/>
            </a:pPr>
            <a:r>
              <a:rPr lang="en-US" sz="5600" dirty="0">
                <a:latin typeface="Calibri" panose="020F0502020204030204" pitchFamily="34" charset="0"/>
                <a:cs typeface="Calibri" panose="020F0502020204030204" pitchFamily="34" charset="0"/>
              </a:rPr>
              <a:t>Features that need more investigation for the best imputation methods - either numbers (mean or median) - </a:t>
            </a:r>
            <a:r>
              <a:rPr lang="en-US" sz="5600" i="1" dirty="0">
                <a:latin typeface="Calibri" panose="020F0502020204030204" pitchFamily="34" charset="0"/>
                <a:cs typeface="Calibri" panose="020F0502020204030204" pitchFamily="34" charset="0"/>
              </a:rPr>
              <a:t>delinq_2yrs</a:t>
            </a:r>
            <a:r>
              <a:rPr lang="en-US" sz="5600" dirty="0">
                <a:latin typeface="Calibri" panose="020F0502020204030204" pitchFamily="34" charset="0"/>
                <a:cs typeface="Calibri" panose="020F0502020204030204" pitchFamily="34" charset="0"/>
              </a:rPr>
              <a:t>, </a:t>
            </a:r>
            <a:r>
              <a:rPr lang="en-US" sz="5600" i="1" dirty="0" err="1">
                <a:latin typeface="Calibri" panose="020F0502020204030204" pitchFamily="34" charset="0"/>
                <a:cs typeface="Calibri" panose="020F0502020204030204" pitchFamily="34" charset="0"/>
              </a:rPr>
              <a:t>pub_rec</a:t>
            </a:r>
            <a:r>
              <a:rPr lang="en-US" sz="5600" dirty="0">
                <a:latin typeface="Calibri" panose="020F0502020204030204" pitchFamily="34" charset="0"/>
                <a:cs typeface="Calibri" panose="020F0502020204030204" pitchFamily="34" charset="0"/>
              </a:rPr>
              <a:t>, </a:t>
            </a:r>
            <a:r>
              <a:rPr lang="en-US" sz="5600" i="1" dirty="0" err="1">
                <a:latin typeface="Calibri" panose="020F0502020204030204" pitchFamily="34" charset="0"/>
                <a:cs typeface="Calibri" panose="020F0502020204030204" pitchFamily="34" charset="0"/>
              </a:rPr>
              <a:t>revol_util</a:t>
            </a:r>
            <a:r>
              <a:rPr lang="en-US" sz="5600" dirty="0">
                <a:latin typeface="Calibri" panose="020F0502020204030204" pitchFamily="34" charset="0"/>
                <a:cs typeface="Calibri" panose="020F0502020204030204" pitchFamily="34" charset="0"/>
              </a:rPr>
              <a:t>, </a:t>
            </a:r>
            <a:r>
              <a:rPr lang="en-US" sz="5600" i="1" dirty="0" err="1">
                <a:latin typeface="Calibri" panose="020F0502020204030204" pitchFamily="34" charset="0"/>
                <a:cs typeface="Calibri" panose="020F0502020204030204" pitchFamily="34" charset="0"/>
              </a:rPr>
              <a:t>total_acc</a:t>
            </a:r>
            <a:r>
              <a:rPr lang="en-US" sz="5600" dirty="0">
                <a:latin typeface="Calibri" panose="020F0502020204030204" pitchFamily="34" charset="0"/>
                <a:cs typeface="Calibri" panose="020F0502020204030204" pitchFamily="34" charset="0"/>
              </a:rPr>
              <a:t>, </a:t>
            </a:r>
            <a:r>
              <a:rPr lang="en-US" sz="5600" i="1" dirty="0">
                <a:latin typeface="Calibri" panose="020F0502020204030204" pitchFamily="34" charset="0"/>
                <a:cs typeface="Calibri" panose="020F0502020204030204" pitchFamily="34" charset="0"/>
              </a:rPr>
              <a:t>collections_12_mths_ex_med</a:t>
            </a:r>
            <a:endParaRPr lang="en-US" sz="5600" dirty="0">
              <a:latin typeface="Calibri" panose="020F0502020204030204" pitchFamily="34" charset="0"/>
              <a:cs typeface="Calibri" panose="020F0502020204030204" pitchFamily="34" charset="0"/>
            </a:endParaRPr>
          </a:p>
          <a:p>
            <a:pPr marL="685800" indent="-685800">
              <a:buFont typeface="Arial" panose="020B0604020202020204" pitchFamily="34" charset="0"/>
              <a:buChar char="•"/>
            </a:pPr>
            <a:r>
              <a:rPr lang="en-US" sz="5600" dirty="0">
                <a:latin typeface="Calibri" panose="020F0502020204030204" pitchFamily="34" charset="0"/>
                <a:cs typeface="Calibri" panose="020F0502020204030204" pitchFamily="34" charset="0"/>
              </a:rPr>
              <a:t>Features that have only a few observations missing (0.05 % of the data - </a:t>
            </a:r>
            <a:r>
              <a:rPr lang="en-US" sz="5600" i="1" dirty="0">
                <a:latin typeface="Calibri" panose="020F0502020204030204" pitchFamily="34" charset="0"/>
                <a:cs typeface="Calibri" panose="020F0502020204030204" pitchFamily="34" charset="0"/>
              </a:rPr>
              <a:t>purpose</a:t>
            </a:r>
            <a:r>
              <a:rPr lang="en-US" sz="5600" dirty="0">
                <a:latin typeface="Calibri" panose="020F0502020204030204" pitchFamily="34" charset="0"/>
                <a:cs typeface="Calibri" panose="020F0502020204030204" pitchFamily="34" charset="0"/>
              </a:rPr>
              <a:t>, </a:t>
            </a:r>
            <a:r>
              <a:rPr lang="en-US" sz="5600" i="1" dirty="0">
                <a:latin typeface="Calibri" panose="020F0502020204030204" pitchFamily="34" charset="0"/>
                <a:cs typeface="Calibri" panose="020F0502020204030204" pitchFamily="34" charset="0"/>
              </a:rPr>
              <a:t>delinq_2yrs</a:t>
            </a:r>
            <a:r>
              <a:rPr lang="en-US" sz="5600" dirty="0">
                <a:latin typeface="Calibri" panose="020F0502020204030204" pitchFamily="34" charset="0"/>
                <a:cs typeface="Calibri" panose="020F0502020204030204" pitchFamily="34" charset="0"/>
              </a:rPr>
              <a:t>, </a:t>
            </a:r>
            <a:r>
              <a:rPr lang="en-US" sz="5600" i="1" dirty="0" err="1">
                <a:latin typeface="Calibri" panose="020F0502020204030204" pitchFamily="34" charset="0"/>
                <a:cs typeface="Calibri" panose="020F0502020204030204" pitchFamily="34" charset="0"/>
              </a:rPr>
              <a:t>earliest_cr_line</a:t>
            </a:r>
            <a:r>
              <a:rPr lang="en-US" sz="5600" dirty="0">
                <a:latin typeface="Calibri" panose="020F0502020204030204" pitchFamily="34" charset="0"/>
                <a:cs typeface="Calibri" panose="020F0502020204030204" pitchFamily="34" charset="0"/>
              </a:rPr>
              <a:t>, </a:t>
            </a:r>
            <a:r>
              <a:rPr lang="en-US" sz="5600" i="1" dirty="0">
                <a:latin typeface="Calibri" panose="020F0502020204030204" pitchFamily="34" charset="0"/>
                <a:cs typeface="Calibri" panose="020F0502020204030204" pitchFamily="34" charset="0"/>
              </a:rPr>
              <a:t>inq_last_6mths</a:t>
            </a:r>
            <a:r>
              <a:rPr lang="en-US" sz="5600" dirty="0">
                <a:latin typeface="Calibri" panose="020F0502020204030204" pitchFamily="34" charset="0"/>
                <a:cs typeface="Calibri" panose="020F0502020204030204" pitchFamily="34" charset="0"/>
              </a:rPr>
              <a:t>, </a:t>
            </a:r>
            <a:r>
              <a:rPr lang="en-US" sz="5600" i="1" dirty="0" err="1">
                <a:latin typeface="Calibri" panose="020F0502020204030204" pitchFamily="34" charset="0"/>
                <a:cs typeface="Calibri" panose="020F0502020204030204" pitchFamily="34" charset="0"/>
              </a:rPr>
              <a:t>total_acc</a:t>
            </a:r>
            <a:r>
              <a:rPr lang="en-US" sz="5600" dirty="0">
                <a:latin typeface="Calibri" panose="020F0502020204030204" pitchFamily="34" charset="0"/>
                <a:cs typeface="Calibri" panose="020F0502020204030204" pitchFamily="34" charset="0"/>
              </a:rPr>
              <a:t>)</a:t>
            </a:r>
          </a:p>
          <a:p>
            <a:r>
              <a:rPr lang="en-US" sz="5600" dirty="0">
                <a:latin typeface="Calibri" panose="020F0502020204030204" pitchFamily="34" charset="0"/>
                <a:cs typeface="Calibri" panose="020F0502020204030204" pitchFamily="34" charset="0"/>
              </a:rPr>
              <a:t>Important thing to remember when imputing anything else than 0, like mean or median is that it should be mean or median from the test or train dataset appropriately. For simplicity I am going to use median from the whole data set, however I am risking a data leakage in this case.</a:t>
            </a:r>
          </a:p>
          <a:p>
            <a:r>
              <a:rPr lang="en-US" sz="4500" dirty="0">
                <a:latin typeface="Calibri" panose="020F0502020204030204" pitchFamily="34" charset="0"/>
                <a:cs typeface="Calibri" panose="020F0502020204030204" pitchFamily="34" charset="0"/>
              </a:rPr>
              <a:t> </a:t>
            </a:r>
          </a:p>
          <a:p>
            <a:pPr indent="-228600">
              <a:lnSpc>
                <a:spcPct val="100000"/>
              </a:lnSpc>
              <a:buFont typeface="Arial" panose="020B0604020202020204" pitchFamily="34" charset="0"/>
              <a:buChar char="•"/>
            </a:pPr>
            <a:endParaRPr lang="en-US" sz="1700" dirty="0"/>
          </a:p>
        </p:txBody>
      </p:sp>
      <p:pic>
        <p:nvPicPr>
          <p:cNvPr id="4" name="Picture 3" descr="display stock information on LED screen">
            <a:extLst>
              <a:ext uri="{FF2B5EF4-FFF2-40B4-BE49-F238E27FC236}">
                <a16:creationId xmlns:a16="http://schemas.microsoft.com/office/drawing/2014/main" id="{5D285CB3-B135-B30D-B75F-E2009BBDA0AB}"/>
              </a:ext>
            </a:extLst>
          </p:cNvPr>
          <p:cNvPicPr>
            <a:picLocks noChangeAspect="1"/>
          </p:cNvPicPr>
          <p:nvPr/>
        </p:nvPicPr>
        <p:blipFill>
          <a:blip r:embed="rId3"/>
          <a:srcRect l="20005" r="-1" b="-1"/>
          <a:stretch>
            <a:fillRect/>
          </a:stretch>
        </p:blipFill>
        <p:spPr>
          <a:xfrm>
            <a:off x="7178566" y="735286"/>
            <a:ext cx="4634494" cy="5419642"/>
          </a:xfrm>
          <a:prstGeom prst="rect">
            <a:avLst/>
          </a:prstGeom>
        </p:spPr>
      </p:pic>
      <p:pic>
        <p:nvPicPr>
          <p:cNvPr id="6" name="Picture 5">
            <a:extLst>
              <a:ext uri="{FF2B5EF4-FFF2-40B4-BE49-F238E27FC236}">
                <a16:creationId xmlns:a16="http://schemas.microsoft.com/office/drawing/2014/main" id="{C6C71715-8973-F5BA-90B8-49ACF2DCA408}"/>
              </a:ext>
            </a:extLst>
          </p:cNvPr>
          <p:cNvPicPr>
            <a:picLocks noChangeAspect="1"/>
          </p:cNvPicPr>
          <p:nvPr/>
        </p:nvPicPr>
        <p:blipFill>
          <a:blip r:embed="rId4"/>
          <a:stretch>
            <a:fillRect/>
          </a:stretch>
        </p:blipFill>
        <p:spPr>
          <a:xfrm>
            <a:off x="8308197" y="829879"/>
            <a:ext cx="3179715" cy="4967670"/>
          </a:xfrm>
          <a:prstGeom prst="rect">
            <a:avLst/>
          </a:prstGeom>
        </p:spPr>
      </p:pic>
    </p:spTree>
    <p:extLst>
      <p:ext uri="{BB962C8B-B14F-4D97-AF65-F5344CB8AC3E}">
        <p14:creationId xmlns:p14="http://schemas.microsoft.com/office/powerpoint/2010/main" val="124679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400"/>
                                        <p:tgtEl>
                                          <p:spTgt spid="3">
                                            <p:txEl>
                                              <p:pRg st="2" end="2"/>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400"/>
                                        <p:tgtEl>
                                          <p:spTgt spid="3">
                                            <p:txEl>
                                              <p:pRg st="3" end="3"/>
                                            </p:txEl>
                                          </p:spTgt>
                                        </p:tgtEl>
                                      </p:cBhvr>
                                    </p:animEffect>
                                  </p:childTnLst>
                                </p:cTn>
                              </p:par>
                              <p:par>
                                <p:cTn id="17" presetID="10" presetClass="entr" presetSubtype="0" fill="hold" grpId="0" nodeType="withEffect">
                                  <p:stCondLst>
                                    <p:cond delay="2000"/>
                                  </p:stCondLst>
                                  <p:iterate type="lt">
                                    <p:tmPct val="1000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400"/>
                                        <p:tgtEl>
                                          <p:spTgt spid="3">
                                            <p:txEl>
                                              <p:pRg st="4" end="4"/>
                                            </p:txEl>
                                          </p:spTgt>
                                        </p:tgtEl>
                                      </p:cBhvr>
                                    </p:animEffect>
                                  </p:childTnLst>
                                </p:cTn>
                              </p:par>
                              <p:par>
                                <p:cTn id="20" presetID="10" presetClass="entr" presetSubtype="0" fill="hold" grpId="0" nodeType="withEffect">
                                  <p:stCondLst>
                                    <p:cond delay="2000"/>
                                  </p:stCondLst>
                                  <p:iterate type="lt">
                                    <p:tmPct val="10000"/>
                                  </p:iterate>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400"/>
                                        <p:tgtEl>
                                          <p:spTgt spid="3">
                                            <p:txEl>
                                              <p:pRg st="5" end="5"/>
                                            </p:txEl>
                                          </p:spTgt>
                                        </p:tgtEl>
                                      </p:cBhvr>
                                    </p:animEffect>
                                  </p:childTnLst>
                                </p:cTn>
                              </p:par>
                              <p:par>
                                <p:cTn id="23" presetID="10" presetClass="entr" presetSubtype="0" fill="hold" grpId="0" nodeType="withEffect">
                                  <p:stCondLst>
                                    <p:cond delay="2000"/>
                                  </p:stCondLst>
                                  <p:iterate type="lt">
                                    <p:tmPct val="10000"/>
                                  </p:iterate>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400"/>
                                        <p:tgtEl>
                                          <p:spTgt spid="3">
                                            <p:txEl>
                                              <p:pRg st="6" end="6"/>
                                            </p:txEl>
                                          </p:spTgt>
                                        </p:tgtEl>
                                      </p:cBhvr>
                                    </p:animEffect>
                                  </p:childTnLst>
                                </p:cTn>
                              </p:par>
                              <p:par>
                                <p:cTn id="26" presetID="10" presetClass="entr" presetSubtype="0" fill="hold" grpId="0" nodeType="withEffect">
                                  <p:stCondLst>
                                    <p:cond delay="2000"/>
                                  </p:stCondLst>
                                  <p:iterate type="lt">
                                    <p:tmPct val="10000"/>
                                  </p:iterate>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400"/>
                                        <p:tgtEl>
                                          <p:spTgt spid="3">
                                            <p:txEl>
                                              <p:pRg st="7" end="7"/>
                                            </p:txEl>
                                          </p:spTgt>
                                        </p:tgtEl>
                                      </p:cBhvr>
                                    </p:animEffect>
                                  </p:childTnLst>
                                </p:cTn>
                              </p:par>
                              <p:par>
                                <p:cTn id="29" presetID="10" presetClass="entr" presetSubtype="0" fill="hold" grpId="0" nodeType="withEffect">
                                  <p:stCondLst>
                                    <p:cond delay="2000"/>
                                  </p:stCondLst>
                                  <p:iterate type="lt">
                                    <p:tmPct val="10000"/>
                                  </p:iterate>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400"/>
                                        <p:tgtEl>
                                          <p:spTgt spid="3">
                                            <p:txEl>
                                              <p:pRg st="8" end="8"/>
                                            </p:txEl>
                                          </p:spTgt>
                                        </p:tgtEl>
                                      </p:cBhvr>
                                    </p:animEffect>
                                  </p:childTnLst>
                                </p:cTn>
                              </p:par>
                              <p:par>
                                <p:cTn id="32" presetID="42" presetClass="entr" presetSubtype="0" fill="hold" grpId="1" nodeType="withEffect">
                                  <p:stCondLst>
                                    <p:cond delay="250"/>
                                  </p:stCondLst>
                                  <p:iterate type="lt">
                                    <p:tmPct val="10000"/>
                                  </p:iterate>
                                  <p:childTnLst>
                                    <p:set>
                                      <p:cBhvr>
                                        <p:cTn id="33" dur="1" fill="hold">
                                          <p:stCondLst>
                                            <p:cond delay="0"/>
                                          </p:stCondLst>
                                        </p:cTn>
                                        <p:tgtEl>
                                          <p:spTgt spid="3"/>
                                        </p:tgtEl>
                                        <p:attrNameLst>
                                          <p:attrName>style.visibility</p:attrName>
                                        </p:attrNameLst>
                                      </p:cBhvr>
                                      <p:to>
                                        <p:strVal val="visible"/>
                                      </p:to>
                                    </p:set>
                                    <p:animEffect transition="in" filter="fade">
                                      <p:cBhvr>
                                        <p:cTn id="34" dur="250"/>
                                        <p:tgtEl>
                                          <p:spTgt spid="3"/>
                                        </p:tgtEl>
                                      </p:cBhvr>
                                    </p:animEffect>
                                    <p:anim calcmode="lin" valueType="num">
                                      <p:cBhvr>
                                        <p:cTn id="35" dur="250" fill="hold"/>
                                        <p:tgtEl>
                                          <p:spTgt spid="3"/>
                                        </p:tgtEl>
                                        <p:attrNameLst>
                                          <p:attrName>ppt_x</p:attrName>
                                        </p:attrNameLst>
                                      </p:cBhvr>
                                      <p:tavLst>
                                        <p:tav tm="0">
                                          <p:val>
                                            <p:strVal val="#ppt_x"/>
                                          </p:val>
                                        </p:tav>
                                        <p:tav tm="100000">
                                          <p:val>
                                            <p:strVal val="#ppt_x"/>
                                          </p:val>
                                        </p:tav>
                                      </p:tavLst>
                                    </p:anim>
                                    <p:anim calcmode="lin" valueType="num">
                                      <p:cBhvr>
                                        <p:cTn id="36"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38221-920F-A7F0-FED3-46E0A753E86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display stock information on LED screen">
            <a:extLst>
              <a:ext uri="{FF2B5EF4-FFF2-40B4-BE49-F238E27FC236}">
                <a16:creationId xmlns:a16="http://schemas.microsoft.com/office/drawing/2014/main" id="{84E22586-196B-8010-326C-089EC8997521}"/>
              </a:ext>
            </a:extLst>
          </p:cNvPr>
          <p:cNvPicPr>
            <a:picLocks noChangeAspect="1"/>
          </p:cNvPicPr>
          <p:nvPr/>
        </p:nvPicPr>
        <p:blipFill>
          <a:blip r:embed="rId3"/>
          <a:srcRect l="9091" t="23391"/>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E2016666-DD91-2279-8DD2-915CA0EF7C35}"/>
              </a:ext>
            </a:extLst>
          </p:cNvPr>
          <p:cNvSpPr>
            <a:spLocks noGrp="1"/>
          </p:cNvSpPr>
          <p:nvPr>
            <p:ph type="ctrTitle"/>
          </p:nvPr>
        </p:nvSpPr>
        <p:spPr>
          <a:xfrm>
            <a:off x="217398" y="142169"/>
            <a:ext cx="7983068" cy="974347"/>
          </a:xfrm>
          <a:ln>
            <a:noFill/>
          </a:ln>
        </p:spPr>
        <p:txBody>
          <a:bodyPr anchor="ctr">
            <a:normAutofit/>
          </a:bodyPr>
          <a:lstStyle/>
          <a:p>
            <a:pPr>
              <a:lnSpc>
                <a:spcPct val="90000"/>
              </a:lnSpc>
            </a:pPr>
            <a:r>
              <a:rPr lang="en-US" sz="3100" dirty="0"/>
              <a:t>Data descriptive statistics</a:t>
            </a:r>
          </a:p>
        </p:txBody>
      </p:sp>
      <p:sp>
        <p:nvSpPr>
          <p:cNvPr id="3" name="Subtitle 2">
            <a:extLst>
              <a:ext uri="{FF2B5EF4-FFF2-40B4-BE49-F238E27FC236}">
                <a16:creationId xmlns:a16="http://schemas.microsoft.com/office/drawing/2014/main" id="{C0438FCD-F89B-BD52-7753-F4D75FA36AE7}"/>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7" name="Picture 6">
            <a:extLst>
              <a:ext uri="{FF2B5EF4-FFF2-40B4-BE49-F238E27FC236}">
                <a16:creationId xmlns:a16="http://schemas.microsoft.com/office/drawing/2014/main" id="{97F646FB-6CE2-79F8-ED66-F1944F6AF727}"/>
              </a:ext>
            </a:extLst>
          </p:cNvPr>
          <p:cNvPicPr>
            <a:picLocks noChangeAspect="1"/>
          </p:cNvPicPr>
          <p:nvPr/>
        </p:nvPicPr>
        <p:blipFill>
          <a:blip r:embed="rId4"/>
          <a:stretch>
            <a:fillRect/>
          </a:stretch>
        </p:blipFill>
        <p:spPr>
          <a:xfrm>
            <a:off x="2349500" y="990600"/>
            <a:ext cx="7493000" cy="4876800"/>
          </a:xfrm>
          <a:prstGeom prst="rect">
            <a:avLst/>
          </a:prstGeom>
        </p:spPr>
      </p:pic>
    </p:spTree>
    <p:extLst>
      <p:ext uri="{BB962C8B-B14F-4D97-AF65-F5344CB8AC3E}">
        <p14:creationId xmlns:p14="http://schemas.microsoft.com/office/powerpoint/2010/main" val="34702295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EFB63A-ED99-105C-4B2F-3F2D8A3DF59F}"/>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0350F-4F31-B243-3E67-E482235555ED}"/>
              </a:ext>
            </a:extLst>
          </p:cNvPr>
          <p:cNvSpPr>
            <a:spLocks noGrp="1"/>
          </p:cNvSpPr>
          <p:nvPr>
            <p:ph type="ctrTitle"/>
          </p:nvPr>
        </p:nvSpPr>
        <p:spPr>
          <a:xfrm>
            <a:off x="6317742" y="135838"/>
            <a:ext cx="4800600" cy="760266"/>
          </a:xfrm>
        </p:spPr>
        <p:txBody>
          <a:bodyPr vert="horz" lIns="91440" tIns="45720" rIns="91440" bIns="45720" rtlCol="0" anchor="t">
            <a:normAutofit/>
          </a:bodyPr>
          <a:lstStyle/>
          <a:p>
            <a:pPr>
              <a:lnSpc>
                <a:spcPct val="90000"/>
              </a:lnSpc>
            </a:pPr>
            <a:r>
              <a:rPr lang="en-US" sz="4000" dirty="0"/>
              <a:t>Data – features</a:t>
            </a:r>
          </a:p>
        </p:txBody>
      </p:sp>
      <p:pic>
        <p:nvPicPr>
          <p:cNvPr id="4" name="Picture 3" descr="display stock information on LED screen">
            <a:extLst>
              <a:ext uri="{FF2B5EF4-FFF2-40B4-BE49-F238E27FC236}">
                <a16:creationId xmlns:a16="http://schemas.microsoft.com/office/drawing/2014/main" id="{29013B55-FBAC-4A2D-A08D-DB718B059548}"/>
              </a:ext>
            </a:extLst>
          </p:cNvPr>
          <p:cNvPicPr>
            <a:picLocks noChangeAspect="1"/>
          </p:cNvPicPr>
          <p:nvPr/>
        </p:nvPicPr>
        <p:blipFill>
          <a:blip r:embed="rId3"/>
          <a:srcRect l="41172" r="-1" b="-1"/>
          <a:stretch>
            <a:fillRect/>
          </a:stretch>
        </p:blipFill>
        <p:spPr>
          <a:xfrm>
            <a:off x="20" y="10"/>
            <a:ext cx="6044164" cy="6857990"/>
          </a:xfrm>
          <a:prstGeom prst="rect">
            <a:avLst/>
          </a:prstGeom>
        </p:spPr>
      </p:pic>
      <p:cxnSp>
        <p:nvCxnSpPr>
          <p:cNvPr id="24" name="Straight Connector 23">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D375DF6-E012-49B1-8CC7-2BD76EC8B721}"/>
              </a:ext>
            </a:extLst>
          </p:cNvPr>
          <p:cNvSpPr txBox="1"/>
          <p:nvPr/>
        </p:nvSpPr>
        <p:spPr>
          <a:xfrm>
            <a:off x="6696186" y="1031941"/>
            <a:ext cx="4800600" cy="4958953"/>
          </a:xfrm>
          <a:prstGeom prst="rect">
            <a:avLst/>
          </a:prstGeom>
        </p:spPr>
        <p:txBody>
          <a:bodyPr vert="horz" lIns="91440" tIns="45720" rIns="91440" bIns="45720" rtlCol="0">
            <a:noAutofit/>
          </a:bodyPr>
          <a:lstStyle/>
          <a:p>
            <a:pPr>
              <a:spcAft>
                <a:spcPts val="600"/>
              </a:spcAft>
            </a:pPr>
            <a:r>
              <a:rPr lang="en-US" sz="1600" b="0" i="0" dirty="0">
                <a:effectLst/>
                <a:latin typeface="Calibri" panose="020F0502020204030204" pitchFamily="34" charset="0"/>
                <a:cs typeface="Calibri" panose="020F0502020204030204" pitchFamily="34" charset="0"/>
              </a:rPr>
              <a:t>Interesting feature's</a:t>
            </a:r>
            <a:r>
              <a:rPr lang="en-US" sz="1600" dirty="0">
                <a:latin typeface="Calibri" panose="020F0502020204030204" pitchFamily="34" charset="0"/>
                <a:cs typeface="Calibri" panose="020F0502020204030204" pitchFamily="34" charset="0"/>
              </a:rPr>
              <a:t> </a:t>
            </a:r>
            <a:r>
              <a:rPr lang="en-US" sz="1600" b="0" i="0" dirty="0">
                <a:effectLst/>
                <a:latin typeface="Calibri" panose="020F0502020204030204" pitchFamily="34" charset="0"/>
                <a:cs typeface="Calibri" panose="020F0502020204030204" pitchFamily="34" charset="0"/>
              </a:rPr>
              <a:t>properties:</a:t>
            </a:r>
          </a:p>
          <a:p>
            <a:pPr marL="285750" indent="-228600">
              <a:spcAft>
                <a:spcPts val="600"/>
              </a:spcAft>
              <a:buFont typeface="Arial" panose="020B0604020202020204" pitchFamily="34" charset="0"/>
              <a:buChar char="•"/>
            </a:pPr>
            <a:r>
              <a:rPr lang="en-US" sz="1600" b="0" i="1" dirty="0">
                <a:effectLst/>
                <a:latin typeface="Calibri" panose="020F0502020204030204" pitchFamily="34" charset="0"/>
                <a:cs typeface="Calibri" panose="020F0502020204030204" pitchFamily="34" charset="0"/>
              </a:rPr>
              <a:t>collections_12_mths_ex_med</a:t>
            </a:r>
            <a:r>
              <a:rPr lang="en-US" sz="1600" b="0" i="0" dirty="0">
                <a:effectLst/>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a:t>
            </a:r>
            <a:r>
              <a:rPr lang="en-US" sz="1600" b="0" i="0" dirty="0">
                <a:effectLst/>
                <a:latin typeface="Calibri" panose="020F0502020204030204" pitchFamily="34" charset="0"/>
                <a:cs typeface="Calibri" panose="020F0502020204030204" pitchFamily="34" charset="0"/>
              </a:rPr>
              <a:t> all 0 with some missing values, </a:t>
            </a:r>
            <a:r>
              <a:rPr lang="en-US" sz="1600" b="0" i="0" dirty="0" err="1">
                <a:effectLst/>
                <a:latin typeface="Calibri" panose="020F0502020204030204" pitchFamily="34" charset="0"/>
                <a:cs typeface="Calibri" panose="020F0502020204030204" pitchFamily="34" charset="0"/>
              </a:rPr>
              <a:t>dopping</a:t>
            </a:r>
            <a:endParaRPr lang="en-US" sz="1600" b="0" i="0" dirty="0">
              <a:effectLst/>
              <a:latin typeface="Calibri" panose="020F0502020204030204" pitchFamily="34" charset="0"/>
              <a:cs typeface="Calibri" panose="020F0502020204030204" pitchFamily="34" charset="0"/>
            </a:endParaRP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verification_status</a:t>
            </a:r>
            <a:r>
              <a:rPr lang="en-US" sz="1600" b="0" i="0" dirty="0">
                <a:effectLst/>
                <a:latin typeface="Calibri" panose="020F0502020204030204" pitchFamily="34" charset="0"/>
                <a:cs typeface="Calibri" panose="020F0502020204030204" pitchFamily="34" charset="0"/>
              </a:rPr>
              <a:t> can be a </a:t>
            </a:r>
            <a:r>
              <a:rPr lang="en-US" sz="1600" b="0" i="0" dirty="0" err="1">
                <a:effectLst/>
                <a:latin typeface="Calibri" panose="020F0502020204030204" pitchFamily="34" charset="0"/>
                <a:cs typeface="Calibri" panose="020F0502020204030204" pitchFamily="34" charset="0"/>
              </a:rPr>
              <a:t>boolean</a:t>
            </a:r>
            <a:r>
              <a:rPr lang="en-US" sz="1600" b="0" i="0" dirty="0">
                <a:effectLst/>
                <a:latin typeface="Calibri" panose="020F0502020204030204" pitchFamily="34" charset="0"/>
                <a:cs typeface="Calibri" panose="020F0502020204030204" pitchFamily="34" charset="0"/>
              </a:rPr>
              <a:t> 0 and 1 variables</a:t>
            </a: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pymnt_plan</a:t>
            </a:r>
            <a:r>
              <a:rPr lang="en-US" sz="1600" b="0" i="0" dirty="0">
                <a:effectLst/>
                <a:latin typeface="Calibri" panose="020F0502020204030204" pitchFamily="34" charset="0"/>
                <a:cs typeface="Calibri" panose="020F0502020204030204" pitchFamily="34" charset="0"/>
              </a:rPr>
              <a:t> can be a </a:t>
            </a:r>
            <a:r>
              <a:rPr lang="en-US" sz="1600" b="0" i="0" dirty="0" err="1">
                <a:effectLst/>
                <a:latin typeface="Calibri" panose="020F0502020204030204" pitchFamily="34" charset="0"/>
                <a:cs typeface="Calibri" panose="020F0502020204030204" pitchFamily="34" charset="0"/>
              </a:rPr>
              <a:t>boolean</a:t>
            </a:r>
            <a:r>
              <a:rPr lang="en-US" sz="1600" b="0" i="0" dirty="0">
                <a:effectLst/>
                <a:latin typeface="Calibri" panose="020F0502020204030204" pitchFamily="34" charset="0"/>
                <a:cs typeface="Calibri" panose="020F0502020204030204" pitchFamily="34" charset="0"/>
              </a:rPr>
              <a:t> 0 and 1 variables</a:t>
            </a: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purpose_cat</a:t>
            </a:r>
            <a:r>
              <a:rPr lang="en-US" sz="1600" b="0" i="0" dirty="0">
                <a:effectLst/>
                <a:latin typeface="Calibri" panose="020F0502020204030204" pitchFamily="34" charset="0"/>
                <a:cs typeface="Calibri" panose="020F0502020204030204" pitchFamily="34" charset="0"/>
              </a:rPr>
              <a:t> can be divided into 2 features: </a:t>
            </a:r>
            <a:r>
              <a:rPr lang="en-US" sz="1600" b="0" i="0" dirty="0" err="1">
                <a:effectLst/>
                <a:latin typeface="Calibri" panose="020F0502020204030204" pitchFamily="34" charset="0"/>
                <a:cs typeface="Calibri" panose="020F0502020204030204" pitchFamily="34" charset="0"/>
              </a:rPr>
              <a:t>purpose_cat</a:t>
            </a:r>
            <a:r>
              <a:rPr lang="en-US" sz="1600" b="0" i="0" dirty="0">
                <a:effectLst/>
                <a:latin typeface="Calibri" panose="020F0502020204030204" pitchFamily="34" charset="0"/>
                <a:cs typeface="Calibri" panose="020F0502020204030204" pitchFamily="34" charset="0"/>
              </a:rPr>
              <a:t> (categorical) and </a:t>
            </a:r>
            <a:r>
              <a:rPr lang="en-US" sz="1600" b="0" i="0" dirty="0" err="1">
                <a:effectLst/>
                <a:latin typeface="Calibri" panose="020F0502020204030204" pitchFamily="34" charset="0"/>
                <a:cs typeface="Calibri" panose="020F0502020204030204" pitchFamily="34" charset="0"/>
              </a:rPr>
              <a:t>small_business</a:t>
            </a:r>
            <a:r>
              <a:rPr lang="en-US" sz="1600" b="0" i="0" dirty="0">
                <a:effectLst/>
                <a:latin typeface="Calibri" panose="020F0502020204030204" pitchFamily="34" charset="0"/>
                <a:cs typeface="Calibri" panose="020F0502020204030204" pitchFamily="34" charset="0"/>
              </a:rPr>
              <a:t> (</a:t>
            </a:r>
            <a:r>
              <a:rPr lang="en-US" sz="1600" b="0" i="0" dirty="0" err="1">
                <a:effectLst/>
                <a:latin typeface="Calibri" panose="020F0502020204030204" pitchFamily="34" charset="0"/>
                <a:cs typeface="Calibri" panose="020F0502020204030204" pitchFamily="34" charset="0"/>
              </a:rPr>
              <a:t>boolean</a:t>
            </a:r>
            <a:r>
              <a:rPr lang="en-US" sz="1600" b="0" i="0" dirty="0">
                <a:effectLst/>
                <a:latin typeface="Calibri" panose="020F0502020204030204" pitchFamily="34" charset="0"/>
                <a:cs typeface="Calibri" panose="020F0502020204030204" pitchFamily="34" charset="0"/>
              </a:rPr>
              <a:t>)</a:t>
            </a: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debt_to_income</a:t>
            </a:r>
            <a:r>
              <a:rPr lang="en-US" sz="1600" b="0" i="0" dirty="0">
                <a:effectLst/>
                <a:latin typeface="Calibri" panose="020F0502020204030204" pitchFamily="34" charset="0"/>
                <a:cs typeface="Calibri" panose="020F0502020204030204" pitchFamily="34" charset="0"/>
              </a:rPr>
              <a:t> can be divided into brackets, but for now I'll leave it as a numerical variable</a:t>
            </a: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policy_code</a:t>
            </a:r>
            <a:r>
              <a:rPr lang="en-US" sz="1600" b="0" i="0" dirty="0">
                <a:effectLst/>
                <a:latin typeface="Calibri" panose="020F0502020204030204" pitchFamily="34" charset="0"/>
                <a:cs typeface="Calibri" panose="020F0502020204030204" pitchFamily="34" charset="0"/>
              </a:rPr>
              <a:t> could be converted into either numerical variable if there is an order in policy code PC1, PC2 or kept as categorical variables (that will need one hot encoding) if there's no particular order.</a:t>
            </a:r>
          </a:p>
          <a:p>
            <a:pPr marL="285750" indent="-228600">
              <a:spcAft>
                <a:spcPts val="600"/>
              </a:spcAft>
              <a:buFont typeface="Arial" panose="020B0604020202020204" pitchFamily="34" charset="0"/>
              <a:buChar char="•"/>
            </a:pPr>
            <a:r>
              <a:rPr lang="en-US" sz="1600" b="0" i="1" dirty="0" err="1">
                <a:effectLst/>
                <a:latin typeface="Calibri" panose="020F0502020204030204" pitchFamily="34" charset="0"/>
                <a:cs typeface="Calibri" panose="020F0502020204030204" pitchFamily="34" charset="0"/>
              </a:rPr>
              <a:t>zip_code</a:t>
            </a:r>
            <a:r>
              <a:rPr lang="en-US" sz="1600" b="0" i="0" dirty="0">
                <a:effectLst/>
                <a:latin typeface="Calibri" panose="020F0502020204030204" pitchFamily="34" charset="0"/>
                <a:cs typeface="Calibri" panose="020F0502020204030204" pitchFamily="34" charset="0"/>
              </a:rPr>
              <a:t> should also be converted - will focus on this later as</a:t>
            </a:r>
          </a:p>
        </p:txBody>
      </p:sp>
      <p:cxnSp>
        <p:nvCxnSpPr>
          <p:cNvPr id="25" name="Straight Connector 24">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28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FC6BC-6AE5-BFE8-8123-0EA6AC07A8C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58FB2-DCE8-C4E1-5D6F-BDCC84F3BC7C}"/>
              </a:ext>
            </a:extLst>
          </p:cNvPr>
          <p:cNvSpPr>
            <a:spLocks noGrp="1"/>
          </p:cNvSpPr>
          <p:nvPr>
            <p:ph type="ctrTitle"/>
          </p:nvPr>
        </p:nvSpPr>
        <p:spPr>
          <a:xfrm>
            <a:off x="700088" y="909637"/>
            <a:ext cx="4392302" cy="1316736"/>
          </a:xfrm>
        </p:spPr>
        <p:txBody>
          <a:bodyPr vert="horz" lIns="91440" tIns="45720" rIns="91440" bIns="45720" rtlCol="0" anchor="t">
            <a:normAutofit/>
          </a:bodyPr>
          <a:lstStyle/>
          <a:p>
            <a:r>
              <a:rPr lang="en-US" sz="3700" b="1"/>
              <a:t>Exploratory Data Analysis (EDA)</a:t>
            </a:r>
            <a:endParaRPr lang="en-US" sz="3700"/>
          </a:p>
        </p:txBody>
      </p:sp>
      <p:cxnSp>
        <p:nvCxnSpPr>
          <p:cNvPr id="19" name="Straight Connector 18">
            <a:extLst>
              <a:ext uri="{FF2B5EF4-FFF2-40B4-BE49-F238E27FC236}">
                <a16:creationId xmlns:a16="http://schemas.microsoft.com/office/drawing/2014/main" id="{B37A8173-5995-449D-8387-03E42038B9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7231C01-DAA2-5F75-522E-9588C0A0A79B}"/>
              </a:ext>
            </a:extLst>
          </p:cNvPr>
          <p:cNvSpPr txBox="1"/>
          <p:nvPr/>
        </p:nvSpPr>
        <p:spPr>
          <a:xfrm>
            <a:off x="700088" y="2226373"/>
            <a:ext cx="4392302" cy="3721985"/>
          </a:xfrm>
          <a:prstGeom prst="rect">
            <a:avLst/>
          </a:prstGeom>
        </p:spPr>
        <p:txBody>
          <a:bodyPr vert="horz" lIns="91440" tIns="45720" rIns="91440" bIns="45720" rtlCol="0">
            <a:normAutofit/>
          </a:bodyPr>
          <a:lstStyle/>
          <a:p>
            <a:pPr marL="285750" indent="-228600">
              <a:spcAft>
                <a:spcPts val="600"/>
              </a:spcAft>
              <a:buFont typeface="Arial" panose="020B0604020202020204" pitchFamily="34" charset="0"/>
              <a:buChar char="•"/>
            </a:pPr>
            <a:r>
              <a:rPr lang="en-US" sz="1700" b="0" i="0" dirty="0">
                <a:effectLst/>
                <a:latin typeface="Calibri" panose="020F0502020204030204" pitchFamily="34" charset="0"/>
                <a:cs typeface="Calibri" panose="020F0502020204030204" pitchFamily="34" charset="0"/>
              </a:rPr>
              <a:t>We can see from the pie chart that the data set is </a:t>
            </a:r>
            <a:r>
              <a:rPr lang="en-US" sz="1700" b="1" i="0" dirty="0">
                <a:effectLst/>
                <a:latin typeface="Calibri" panose="020F0502020204030204" pitchFamily="34" charset="0"/>
                <a:cs typeface="Calibri" panose="020F0502020204030204" pitchFamily="34" charset="0"/>
              </a:rPr>
              <a:t>unbalanced</a:t>
            </a:r>
            <a:r>
              <a:rPr lang="en-US" sz="1700" b="0" i="0" dirty="0">
                <a:effectLst/>
                <a:latin typeface="Calibri" panose="020F0502020204030204" pitchFamily="34" charset="0"/>
                <a:cs typeface="Calibri" panose="020F0502020204030204" pitchFamily="34" charset="0"/>
              </a:rPr>
              <a:t> -&gt; out of 10000 people, only ~ 13% are "bad", so only 13% have a high probability of default.</a:t>
            </a:r>
          </a:p>
          <a:p>
            <a:pPr marL="285750" indent="-228600">
              <a:spcAft>
                <a:spcPts val="600"/>
              </a:spcAft>
              <a:buFont typeface="Arial" panose="020B0604020202020204" pitchFamily="34" charset="0"/>
              <a:buChar char="•"/>
            </a:pPr>
            <a:r>
              <a:rPr lang="en-US" sz="1700" b="0" i="0" dirty="0">
                <a:effectLst/>
                <a:latin typeface="Calibri" panose="020F0502020204030204" pitchFamily="34" charset="0"/>
                <a:cs typeface="Calibri" panose="020F0502020204030204" pitchFamily="34" charset="0"/>
              </a:rPr>
              <a:t>For the modeling purpose, I would highly suggest creating another data set that's balanced-&gt; 50% of it would be Yes (or 1) for </a:t>
            </a:r>
            <a:r>
              <a:rPr lang="en-US" sz="1700" b="1" i="1" dirty="0" err="1">
                <a:effectLst/>
                <a:latin typeface="Calibri" panose="020F0502020204030204" pitchFamily="34" charset="0"/>
                <a:cs typeface="Calibri" panose="020F0502020204030204" pitchFamily="34" charset="0"/>
              </a:rPr>
              <a:t>is_bad</a:t>
            </a:r>
            <a:r>
              <a:rPr lang="en-US" sz="1700" b="0" i="0" dirty="0">
                <a:effectLst/>
                <a:latin typeface="Calibri" panose="020F0502020204030204" pitchFamily="34" charset="0"/>
                <a:cs typeface="Calibri" panose="020F0502020204030204" pitchFamily="34" charset="0"/>
              </a:rPr>
              <a:t>.</a:t>
            </a:r>
          </a:p>
          <a:p>
            <a:pPr marL="285750" indent="-228600">
              <a:spcAft>
                <a:spcPts val="600"/>
              </a:spcAft>
              <a:buFont typeface="Arial" panose="020B0604020202020204" pitchFamily="34" charset="0"/>
              <a:buChar char="•"/>
            </a:pPr>
            <a:r>
              <a:rPr lang="en-US" sz="1700" b="0" i="0" dirty="0">
                <a:effectLst/>
                <a:latin typeface="Calibri" panose="020F0502020204030204" pitchFamily="34" charset="0"/>
                <a:cs typeface="Calibri" panose="020F0502020204030204" pitchFamily="34" charset="0"/>
              </a:rPr>
              <a:t>By checking the distribution of </a:t>
            </a:r>
            <a:r>
              <a:rPr lang="en-US" sz="1700" b="1" i="1" dirty="0" err="1">
                <a:effectLst/>
                <a:latin typeface="Calibri" panose="020F0502020204030204" pitchFamily="34" charset="0"/>
                <a:cs typeface="Calibri" panose="020F0502020204030204" pitchFamily="34" charset="0"/>
              </a:rPr>
              <a:t>is_bad</a:t>
            </a:r>
            <a:r>
              <a:rPr lang="en-US" sz="1700" b="0" i="0" dirty="0">
                <a:effectLst/>
                <a:latin typeface="Calibri" panose="020F0502020204030204" pitchFamily="34" charset="0"/>
                <a:cs typeface="Calibri" panose="020F0502020204030204" pitchFamily="34" charset="0"/>
              </a:rPr>
              <a:t> -&gt; </a:t>
            </a:r>
            <a:r>
              <a:rPr lang="en-US" sz="1700" b="1" i="0" dirty="0">
                <a:effectLst/>
                <a:latin typeface="Calibri" panose="020F0502020204030204" pitchFamily="34" charset="0"/>
                <a:cs typeface="Calibri" panose="020F0502020204030204" pitchFamily="34" charset="0"/>
              </a:rPr>
              <a:t>baseline accuracy </a:t>
            </a:r>
            <a:r>
              <a:rPr lang="en-US" sz="1700" b="0" i="0" dirty="0">
                <a:effectLst/>
                <a:latin typeface="Calibri" panose="020F0502020204030204" pitchFamily="34" charset="0"/>
                <a:cs typeface="Calibri" panose="020F0502020204030204" pitchFamily="34" charset="0"/>
              </a:rPr>
              <a:t>- anything lower than 87.1% is less than guessing just from the data (without the model we can assume that 87.1 % of candidates won't default).</a:t>
            </a:r>
          </a:p>
        </p:txBody>
      </p:sp>
      <p:pic>
        <p:nvPicPr>
          <p:cNvPr id="5" name="Picture 4">
            <a:extLst>
              <a:ext uri="{FF2B5EF4-FFF2-40B4-BE49-F238E27FC236}">
                <a16:creationId xmlns:a16="http://schemas.microsoft.com/office/drawing/2014/main" id="{D1162855-BAFF-5F17-4AF7-2FE5CB622B14}"/>
              </a:ext>
            </a:extLst>
          </p:cNvPr>
          <p:cNvPicPr>
            <a:picLocks noChangeAspect="1"/>
          </p:cNvPicPr>
          <p:nvPr/>
        </p:nvPicPr>
        <p:blipFill>
          <a:blip r:embed="rId3"/>
          <a:stretch>
            <a:fillRect/>
          </a:stretch>
        </p:blipFill>
        <p:spPr>
          <a:xfrm>
            <a:off x="4872224" y="4428294"/>
            <a:ext cx="1638780" cy="1518281"/>
          </a:xfrm>
          <a:prstGeom prst="rect">
            <a:avLst/>
          </a:prstGeom>
        </p:spPr>
      </p:pic>
      <p:pic>
        <p:nvPicPr>
          <p:cNvPr id="4" name="Picture 3" descr="display stock information on LED screen">
            <a:extLst>
              <a:ext uri="{FF2B5EF4-FFF2-40B4-BE49-F238E27FC236}">
                <a16:creationId xmlns:a16="http://schemas.microsoft.com/office/drawing/2014/main" id="{C4F54851-73C6-7A15-50D9-09E2A2E9F5AA}"/>
              </a:ext>
            </a:extLst>
          </p:cNvPr>
          <p:cNvPicPr>
            <a:picLocks noChangeAspect="1"/>
          </p:cNvPicPr>
          <p:nvPr/>
        </p:nvPicPr>
        <p:blipFill>
          <a:blip r:embed="rId4"/>
          <a:srcRect l="42912" r="1738" b="-1"/>
          <a:stretch>
            <a:fillRect/>
          </a:stretch>
        </p:blipFill>
        <p:spPr>
          <a:xfrm>
            <a:off x="9828252" y="758564"/>
            <a:ext cx="3210081" cy="5358233"/>
          </a:xfrm>
          <a:prstGeom prst="rect">
            <a:avLst/>
          </a:prstGeom>
        </p:spPr>
      </p:pic>
      <p:pic>
        <p:nvPicPr>
          <p:cNvPr id="3" name="Picture 2">
            <a:extLst>
              <a:ext uri="{FF2B5EF4-FFF2-40B4-BE49-F238E27FC236}">
                <a16:creationId xmlns:a16="http://schemas.microsoft.com/office/drawing/2014/main" id="{8122E751-BD50-99CC-721C-38FC6E1B8E53}"/>
              </a:ext>
            </a:extLst>
          </p:cNvPr>
          <p:cNvPicPr>
            <a:picLocks noChangeAspect="1"/>
          </p:cNvPicPr>
          <p:nvPr/>
        </p:nvPicPr>
        <p:blipFill>
          <a:blip r:embed="rId5"/>
          <a:stretch>
            <a:fillRect/>
          </a:stretch>
        </p:blipFill>
        <p:spPr>
          <a:xfrm>
            <a:off x="5590797" y="765534"/>
            <a:ext cx="3997579" cy="3942391"/>
          </a:xfrm>
          <a:prstGeom prst="rect">
            <a:avLst/>
          </a:prstGeom>
        </p:spPr>
      </p:pic>
      <p:cxnSp>
        <p:nvCxnSpPr>
          <p:cNvPr id="21" name="Straight Connector 20">
            <a:extLst>
              <a:ext uri="{FF2B5EF4-FFF2-40B4-BE49-F238E27FC236}">
                <a16:creationId xmlns:a16="http://schemas.microsoft.com/office/drawing/2014/main" id="{F807C003-86ED-40E4-BC07-74FB68F286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07D780E-B7E4-4DCA-6134-79753BC0B17B}"/>
              </a:ext>
            </a:extLst>
          </p:cNvPr>
          <p:cNvSpPr txBox="1"/>
          <p:nvPr/>
        </p:nvSpPr>
        <p:spPr>
          <a:xfrm>
            <a:off x="6290838" y="2236843"/>
            <a:ext cx="5201121" cy="3931920"/>
          </a:xfrm>
          <a:prstGeom prst="rect">
            <a:avLst/>
          </a:prstGeom>
        </p:spPr>
        <p:txBody>
          <a:bodyPr vert="horz" lIns="91440" tIns="45720" rIns="91440" bIns="45720" rtlCol="0">
            <a:normAutofit/>
          </a:bodyPr>
          <a:lstStyle/>
          <a:p>
            <a:pPr indent="-228600">
              <a:spcAft>
                <a:spcPts val="600"/>
              </a:spcAft>
              <a:buFont typeface="Arial" panose="020B0604020202020204" pitchFamily="34" charset="0"/>
              <a:buChar char="•"/>
            </a:pPr>
            <a:endParaRPr lang="en-US" sz="1400" b="0" i="0" dirty="0">
              <a:effectLst/>
            </a:endParaRPr>
          </a:p>
        </p:txBody>
      </p:sp>
    </p:spTree>
    <p:extLst>
      <p:ext uri="{BB962C8B-B14F-4D97-AF65-F5344CB8AC3E}">
        <p14:creationId xmlns:p14="http://schemas.microsoft.com/office/powerpoint/2010/main" val="207395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C057-6BC2-661C-6BC2-49AC59A6B551}"/>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841A6121-09C0-DF03-EF52-95978EC425FD}"/>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AB99AB97-D229-191E-F6CE-97C7D936433E}"/>
              </a:ext>
            </a:extLst>
          </p:cNvPr>
          <p:cNvSpPr>
            <a:spLocks noGrp="1"/>
          </p:cNvSpPr>
          <p:nvPr>
            <p:ph type="ctrTitle"/>
          </p:nvPr>
        </p:nvSpPr>
        <p:spPr>
          <a:xfrm>
            <a:off x="217398" y="142169"/>
            <a:ext cx="7983068" cy="974347"/>
          </a:xfrm>
          <a:ln>
            <a:noFill/>
          </a:ln>
        </p:spPr>
        <p:txBody>
          <a:bodyPr anchor="ctr">
            <a:normAutofit/>
          </a:bodyPr>
          <a:lstStyle/>
          <a:p>
            <a:pPr>
              <a:lnSpc>
                <a:spcPct val="90000"/>
              </a:lnSpc>
            </a:pPr>
            <a:r>
              <a:rPr lang="en-US" sz="3100" dirty="0">
                <a:solidFill>
                  <a:schemeClr val="bg1"/>
                </a:solidFill>
              </a:rPr>
              <a:t>Data - Correlations</a:t>
            </a:r>
          </a:p>
        </p:txBody>
      </p:sp>
      <p:sp>
        <p:nvSpPr>
          <p:cNvPr id="3" name="Subtitle 2">
            <a:extLst>
              <a:ext uri="{FF2B5EF4-FFF2-40B4-BE49-F238E27FC236}">
                <a16:creationId xmlns:a16="http://schemas.microsoft.com/office/drawing/2014/main" id="{385FAFD0-CE89-6DE5-18E2-DABF22242181}"/>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6" name="Picture 5">
            <a:extLst>
              <a:ext uri="{FF2B5EF4-FFF2-40B4-BE49-F238E27FC236}">
                <a16:creationId xmlns:a16="http://schemas.microsoft.com/office/drawing/2014/main" id="{DD0D9D01-2E7A-798F-9444-E962E23FCF60}"/>
              </a:ext>
            </a:extLst>
          </p:cNvPr>
          <p:cNvPicPr>
            <a:picLocks noChangeAspect="1"/>
          </p:cNvPicPr>
          <p:nvPr/>
        </p:nvPicPr>
        <p:blipFill>
          <a:blip r:embed="rId4"/>
          <a:stretch>
            <a:fillRect/>
          </a:stretch>
        </p:blipFill>
        <p:spPr>
          <a:xfrm>
            <a:off x="1655290" y="1116516"/>
            <a:ext cx="8881420" cy="4844410"/>
          </a:xfrm>
          <a:prstGeom prst="rect">
            <a:avLst/>
          </a:prstGeom>
        </p:spPr>
      </p:pic>
    </p:spTree>
    <p:extLst>
      <p:ext uri="{BB962C8B-B14F-4D97-AF65-F5344CB8AC3E}">
        <p14:creationId xmlns:p14="http://schemas.microsoft.com/office/powerpoint/2010/main" val="339612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DAA47-1D37-B53A-C2EF-01484B874631}"/>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E0836D-E1B2-E76F-BB89-C0883D16B40B}"/>
              </a:ext>
            </a:extLst>
          </p:cNvPr>
          <p:cNvSpPr>
            <a:spLocks noGrp="1"/>
          </p:cNvSpPr>
          <p:nvPr>
            <p:ph type="ctrTitle"/>
          </p:nvPr>
        </p:nvSpPr>
        <p:spPr>
          <a:xfrm>
            <a:off x="704087" y="98855"/>
            <a:ext cx="4800600" cy="616364"/>
          </a:xfrm>
        </p:spPr>
        <p:txBody>
          <a:bodyPr vert="horz" lIns="91440" tIns="45720" rIns="91440" bIns="45720" rtlCol="0" anchor="t">
            <a:normAutofit fontScale="90000"/>
          </a:bodyPr>
          <a:lstStyle/>
          <a:p>
            <a:pPr>
              <a:lnSpc>
                <a:spcPct val="90000"/>
              </a:lnSpc>
            </a:pPr>
            <a:r>
              <a:rPr lang="en-US" sz="4000" dirty="0"/>
              <a:t>Data - Correlations</a:t>
            </a:r>
          </a:p>
        </p:txBody>
      </p:sp>
      <p:cxnSp>
        <p:nvCxnSpPr>
          <p:cNvPr id="18" name="Straight Connector 17">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F3D1120-D5E5-5330-37F9-62882738BB18}"/>
              </a:ext>
            </a:extLst>
          </p:cNvPr>
          <p:cNvSpPr txBox="1"/>
          <p:nvPr/>
        </p:nvSpPr>
        <p:spPr>
          <a:xfrm>
            <a:off x="367862" y="1050324"/>
            <a:ext cx="5779953" cy="4911564"/>
          </a:xfrm>
          <a:prstGeom prst="rect">
            <a:avLst/>
          </a:prstGeom>
        </p:spPr>
        <p:txBody>
          <a:bodyPr vert="horz" lIns="91440" tIns="45720" rIns="91440" bIns="45720" rtlCol="0">
            <a:noAutofit/>
          </a:bodyPr>
          <a:lstStyle/>
          <a:p>
            <a:pPr indent="-228600">
              <a:spcAft>
                <a:spcPts val="600"/>
              </a:spcAft>
              <a:buFont typeface="Arial" panose="020B0604020202020204" pitchFamily="34" charset="0"/>
              <a:buChar char="•"/>
            </a:pPr>
            <a:r>
              <a:rPr lang="en-US" sz="1400" b="1" i="0" dirty="0">
                <a:effectLst/>
                <a:latin typeface="Calibri" panose="020F0502020204030204" pitchFamily="34" charset="0"/>
                <a:cs typeface="Calibri" panose="020F0502020204030204" pitchFamily="34" charset="0"/>
              </a:rPr>
              <a:t>feature</a:t>
            </a:r>
            <a:r>
              <a:rPr lang="en-US" sz="1400" b="0" i="0" dirty="0">
                <a:effectLst/>
                <a:latin typeface="Calibri" panose="020F0502020204030204" pitchFamily="34" charset="0"/>
                <a:cs typeface="Calibri" panose="020F0502020204030204" pitchFamily="34" charset="0"/>
              </a:rPr>
              <a:t> — the predictor being tested against your target (</a:t>
            </a:r>
            <a:r>
              <a:rPr lang="en-US" sz="1400" b="0" i="0" dirty="0" err="1">
                <a:effectLst/>
                <a:latin typeface="Calibri" panose="020F0502020204030204" pitchFamily="34" charset="0"/>
                <a:cs typeface="Calibri" panose="020F0502020204030204" pitchFamily="34" charset="0"/>
              </a:rPr>
              <a:t>is_bad</a:t>
            </a:r>
            <a:r>
              <a:rPr lang="en-US" sz="1400" b="0" i="0" dirty="0">
                <a:effectLst/>
                <a:latin typeface="Calibri" panose="020F0502020204030204" pitchFamily="34" charset="0"/>
                <a:cs typeface="Calibri" panose="020F0502020204030204" pitchFamily="34" charset="0"/>
              </a:rPr>
              <a:t>).</a:t>
            </a:r>
          </a:p>
          <a:p>
            <a:pPr indent="-228600">
              <a:spcAft>
                <a:spcPts val="600"/>
              </a:spcAft>
              <a:buFont typeface="Arial" panose="020B0604020202020204" pitchFamily="34" charset="0"/>
              <a:buChar char="•"/>
            </a:pPr>
            <a:r>
              <a:rPr lang="en-US" sz="1400" b="1" i="0" dirty="0" err="1">
                <a:effectLst/>
                <a:latin typeface="Calibri" panose="020F0502020204030204" pitchFamily="34" charset="0"/>
                <a:cs typeface="Calibri" panose="020F0502020204030204" pitchFamily="34" charset="0"/>
              </a:rPr>
              <a:t>pearson_r</a:t>
            </a:r>
            <a:r>
              <a:rPr lang="en-US" sz="1400" b="0" i="0" dirty="0">
                <a:effectLst/>
                <a:latin typeface="Calibri" panose="020F0502020204030204" pitchFamily="34" charset="0"/>
                <a:cs typeface="Calibri" panose="020F0502020204030204" pitchFamily="34" charset="0"/>
              </a:rPr>
              <a:t> — Pearson correlation coefficient (linear association)</a:t>
            </a:r>
          </a:p>
          <a:p>
            <a:pPr lvl="1" indent="-228600">
              <a:spcAft>
                <a:spcPts val="600"/>
              </a:spcAft>
              <a:buFont typeface="Arial" panose="020B0604020202020204" pitchFamily="34" charset="0"/>
              <a:buChar char="•"/>
            </a:pPr>
            <a:r>
              <a:rPr lang="en-US" sz="1400" b="0" i="0" dirty="0">
                <a:effectLst/>
                <a:latin typeface="Calibri" panose="020F0502020204030204" pitchFamily="34" charset="0"/>
                <a:cs typeface="Calibri" panose="020F0502020204030204" pitchFamily="34" charset="0"/>
              </a:rPr>
              <a:t>range [-1, 1]</a:t>
            </a:r>
          </a:p>
          <a:p>
            <a:pPr marL="742950" lvl="1" indent="-228600">
              <a:spcAft>
                <a:spcPts val="600"/>
              </a:spcAft>
              <a:buFont typeface="Arial" panose="020B0604020202020204" pitchFamily="34" charset="0"/>
              <a:buChar char="•"/>
            </a:pPr>
            <a:r>
              <a:rPr lang="en-US" sz="1400" b="1" i="0" dirty="0">
                <a:effectLst/>
                <a:latin typeface="Calibri" panose="020F0502020204030204" pitchFamily="34" charset="0"/>
                <a:cs typeface="Calibri" panose="020F0502020204030204" pitchFamily="34" charset="0"/>
              </a:rPr>
              <a:t>Sign</a:t>
            </a:r>
            <a:r>
              <a:rPr lang="en-US" sz="1400" b="0" i="0" dirty="0">
                <a:effectLst/>
                <a:latin typeface="Calibri" panose="020F0502020204030204" pitchFamily="34" charset="0"/>
                <a:cs typeface="Calibri" panose="020F0502020204030204" pitchFamily="34" charset="0"/>
              </a:rPr>
              <a:t>: + means as the feature increases, </a:t>
            </a:r>
            <a:r>
              <a:rPr lang="en-US" sz="1400" b="0" i="0" dirty="0" err="1">
                <a:effectLst/>
                <a:latin typeface="Calibri" panose="020F0502020204030204" pitchFamily="34" charset="0"/>
                <a:cs typeface="Calibri" panose="020F0502020204030204" pitchFamily="34" charset="0"/>
              </a:rPr>
              <a:t>is_bad</a:t>
            </a:r>
            <a:r>
              <a:rPr lang="en-US" sz="1400" b="0" i="0" dirty="0">
                <a:effectLst/>
                <a:latin typeface="Calibri" panose="020F0502020204030204" pitchFamily="34" charset="0"/>
                <a:cs typeface="Calibri" panose="020F0502020204030204" pitchFamily="34" charset="0"/>
              </a:rPr>
              <a:t> tends to increase; - means the opposite.</a:t>
            </a:r>
          </a:p>
          <a:p>
            <a:pPr marL="742950" lvl="1" indent="-228600">
              <a:spcAft>
                <a:spcPts val="600"/>
              </a:spcAft>
              <a:buFont typeface="Arial" panose="020B0604020202020204" pitchFamily="34" charset="0"/>
              <a:buChar char="•"/>
            </a:pPr>
            <a:r>
              <a:rPr lang="en-US" sz="1400" b="1" i="0" dirty="0">
                <a:effectLst/>
                <a:latin typeface="Calibri" panose="020F0502020204030204" pitchFamily="34" charset="0"/>
                <a:cs typeface="Calibri" panose="020F0502020204030204" pitchFamily="34" charset="0"/>
              </a:rPr>
              <a:t>Magnitude</a:t>
            </a:r>
            <a:r>
              <a:rPr lang="en-US" sz="1400" b="0" i="0" dirty="0">
                <a:effectLst/>
                <a:latin typeface="Calibri" panose="020F0502020204030204" pitchFamily="34" charset="0"/>
                <a:cs typeface="Calibri" panose="020F0502020204030204" pitchFamily="34" charset="0"/>
              </a:rPr>
              <a:t>: |r| close to 0 = weak; ~0.1 small, ~0.3 medium, ~0.5+ large (rough Cohen-style rule of thumb).</a:t>
            </a:r>
          </a:p>
          <a:p>
            <a:pPr indent="-228600">
              <a:spcAft>
                <a:spcPts val="600"/>
              </a:spcAft>
              <a:buFont typeface="Arial" panose="020B0604020202020204" pitchFamily="34" charset="0"/>
              <a:buChar char="•"/>
            </a:pPr>
            <a:r>
              <a:rPr lang="en-US" sz="1400" b="1" i="0" dirty="0" err="1">
                <a:effectLst/>
                <a:latin typeface="Calibri" panose="020F0502020204030204" pitchFamily="34" charset="0"/>
                <a:cs typeface="Calibri" panose="020F0502020204030204" pitchFamily="34" charset="0"/>
              </a:rPr>
              <a:t>pearson_p</a:t>
            </a:r>
            <a:r>
              <a:rPr lang="en-US" sz="1400" b="0" i="0" dirty="0">
                <a:effectLst/>
                <a:latin typeface="Calibri" panose="020F0502020204030204" pitchFamily="34" charset="0"/>
                <a:cs typeface="Calibri" panose="020F0502020204030204" pitchFamily="34" charset="0"/>
              </a:rPr>
              <a:t> — p-value for the null hypothesis r = 0 (two-sided). Very small p means the observed r is unlikely under “no linear association.” With large n, even tiny r can be “statistically significant.”</a:t>
            </a:r>
          </a:p>
          <a:p>
            <a:pPr indent="-228600">
              <a:spcAft>
                <a:spcPts val="600"/>
              </a:spcAft>
              <a:buFont typeface="Arial" panose="020B0604020202020204" pitchFamily="34" charset="0"/>
              <a:buChar char="•"/>
            </a:pPr>
            <a:r>
              <a:rPr lang="en-US" sz="1400" b="1" i="0" dirty="0" err="1">
                <a:effectLst/>
                <a:latin typeface="Calibri" panose="020F0502020204030204" pitchFamily="34" charset="0"/>
                <a:cs typeface="Calibri" panose="020F0502020204030204" pitchFamily="34" charset="0"/>
              </a:rPr>
              <a:t>spearman_rho</a:t>
            </a:r>
            <a:r>
              <a:rPr lang="en-US" sz="1400" b="0" i="0" dirty="0">
                <a:effectLst/>
                <a:latin typeface="Calibri" panose="020F0502020204030204" pitchFamily="34" charset="0"/>
                <a:cs typeface="Calibri" panose="020F0502020204030204" pitchFamily="34" charset="0"/>
              </a:rPr>
              <a:t> — Spearman rank correlation (monotonic association),[-1, 1]. Less sensitive to outliers and linearity; compares ranks instead of raw values.</a:t>
            </a:r>
          </a:p>
          <a:p>
            <a:pPr indent="-228600">
              <a:spcAft>
                <a:spcPts val="600"/>
              </a:spcAft>
              <a:buFont typeface="Arial" panose="020B0604020202020204" pitchFamily="34" charset="0"/>
              <a:buChar char="•"/>
            </a:pPr>
            <a:r>
              <a:rPr lang="en-US" sz="1400" b="1" i="0" dirty="0" err="1">
                <a:effectLst/>
                <a:latin typeface="Calibri" panose="020F0502020204030204" pitchFamily="34" charset="0"/>
                <a:cs typeface="Calibri" panose="020F0502020204030204" pitchFamily="34" charset="0"/>
              </a:rPr>
              <a:t>spearman_p</a:t>
            </a:r>
            <a:r>
              <a:rPr lang="en-US" sz="1400" b="0" i="0" dirty="0">
                <a:effectLst/>
                <a:latin typeface="Calibri" panose="020F0502020204030204" pitchFamily="34" charset="0"/>
                <a:cs typeface="Calibri" panose="020F0502020204030204" pitchFamily="34" charset="0"/>
              </a:rPr>
              <a:t> — p-value for the null hypothesis </a:t>
            </a:r>
            <a:r>
              <a:rPr lang="en-US" sz="1400" b="0" i="0" dirty="0" err="1">
                <a:effectLst/>
                <a:latin typeface="Calibri" panose="020F0502020204030204" pitchFamily="34" charset="0"/>
                <a:cs typeface="Calibri" panose="020F0502020204030204" pitchFamily="34" charset="0"/>
              </a:rPr>
              <a:t>ρ</a:t>
            </a:r>
            <a:r>
              <a:rPr lang="en-US" sz="1400" b="0" i="0" dirty="0">
                <a:effectLst/>
                <a:latin typeface="Calibri" panose="020F0502020204030204" pitchFamily="34" charset="0"/>
                <a:cs typeface="Calibri" panose="020F0502020204030204" pitchFamily="34" charset="0"/>
              </a:rPr>
              <a:t> = 0 (two-sided).</a:t>
            </a:r>
          </a:p>
          <a:p>
            <a:pPr indent="-228600">
              <a:spcAft>
                <a:spcPts val="600"/>
              </a:spcAft>
              <a:buFont typeface="Arial" panose="020B0604020202020204" pitchFamily="34" charset="0"/>
              <a:buChar char="•"/>
            </a:pPr>
            <a:r>
              <a:rPr lang="en-US" sz="1400" b="1" i="0" dirty="0">
                <a:effectLst/>
                <a:latin typeface="Calibri" panose="020F0502020204030204" pitchFamily="34" charset="0"/>
                <a:cs typeface="Calibri" panose="020F0502020204030204" pitchFamily="34" charset="0"/>
              </a:rPr>
              <a:t>n</a:t>
            </a:r>
            <a:r>
              <a:rPr lang="en-US" sz="1400" b="0" i="0" dirty="0">
                <a:effectLst/>
                <a:latin typeface="Calibri" panose="020F0502020204030204" pitchFamily="34" charset="0"/>
                <a:cs typeface="Calibri" panose="020F0502020204030204" pitchFamily="34" charset="0"/>
              </a:rPr>
              <a:t> — number of rows used in the calculation (after joint </a:t>
            </a:r>
            <a:r>
              <a:rPr lang="en-US" sz="1400" b="0" i="0" dirty="0" err="1">
                <a:effectLst/>
                <a:latin typeface="Calibri" panose="020F0502020204030204" pitchFamily="34" charset="0"/>
                <a:cs typeface="Calibri" panose="020F0502020204030204" pitchFamily="34" charset="0"/>
              </a:rPr>
              <a:t>NaN</a:t>
            </a:r>
            <a:r>
              <a:rPr lang="en-US" sz="1400" b="0" i="0" dirty="0">
                <a:effectLst/>
                <a:latin typeface="Calibri" panose="020F0502020204030204" pitchFamily="34" charset="0"/>
                <a:cs typeface="Calibri" panose="020F0502020204030204" pitchFamily="34" charset="0"/>
              </a:rPr>
              <a:t> filtering).</a:t>
            </a:r>
          </a:p>
          <a:p>
            <a:pPr indent="-228600">
              <a:spcAft>
                <a:spcPts val="600"/>
              </a:spcAft>
              <a:buFont typeface="Arial" panose="020B0604020202020204" pitchFamily="34" charset="0"/>
              <a:buChar char="•"/>
            </a:pPr>
            <a:r>
              <a:rPr lang="en-US" sz="1400" b="1" i="0" dirty="0">
                <a:effectLst/>
                <a:latin typeface="Calibri" panose="020F0502020204030204" pitchFamily="34" charset="0"/>
                <a:cs typeface="Calibri" panose="020F0502020204030204" pitchFamily="34" charset="0"/>
              </a:rPr>
              <a:t>note</a:t>
            </a:r>
            <a:r>
              <a:rPr lang="en-US" sz="1400" b="0" i="0" dirty="0">
                <a:effectLst/>
                <a:latin typeface="Calibri" panose="020F0502020204030204" pitchFamily="34" charset="0"/>
                <a:cs typeface="Calibri" panose="020F0502020204030204" pitchFamily="34" charset="0"/>
              </a:rPr>
              <a:t> — diagnostic flag (e.g., “non-numeric”, “constant/insufficient”, etc.). Blank means no issue.</a:t>
            </a:r>
          </a:p>
        </p:txBody>
      </p:sp>
      <p:cxnSp>
        <p:nvCxnSpPr>
          <p:cNvPr id="20" name="Straight Connector 19">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display stock information on LED screen">
            <a:extLst>
              <a:ext uri="{FF2B5EF4-FFF2-40B4-BE49-F238E27FC236}">
                <a16:creationId xmlns:a16="http://schemas.microsoft.com/office/drawing/2014/main" id="{A1753B15-14B7-2E2E-59B0-47D9E8FDB8B4}"/>
              </a:ext>
            </a:extLst>
          </p:cNvPr>
          <p:cNvPicPr>
            <a:picLocks noChangeAspect="1"/>
          </p:cNvPicPr>
          <p:nvPr/>
        </p:nvPicPr>
        <p:blipFill>
          <a:blip r:embed="rId3"/>
          <a:srcRect l="25131" r="16039" b="-1"/>
          <a:stretch>
            <a:fillRect/>
          </a:stretch>
        </p:blipFill>
        <p:spPr>
          <a:xfrm>
            <a:off x="6147807" y="0"/>
            <a:ext cx="6044193" cy="6858000"/>
          </a:xfrm>
          <a:prstGeom prst="rect">
            <a:avLst/>
          </a:prstGeom>
        </p:spPr>
      </p:pic>
    </p:spTree>
    <p:extLst>
      <p:ext uri="{BB962C8B-B14F-4D97-AF65-F5344CB8AC3E}">
        <p14:creationId xmlns:p14="http://schemas.microsoft.com/office/powerpoint/2010/main" val="90958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ED10F-28F2-7564-35D4-73D2A275C314}"/>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319A51ED-AE54-D1AE-ABA8-0B0AAD4F09E2}"/>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CDFB96C3-98EC-629A-CB18-026EB610C976}"/>
              </a:ext>
            </a:extLst>
          </p:cNvPr>
          <p:cNvSpPr>
            <a:spLocks noGrp="1"/>
          </p:cNvSpPr>
          <p:nvPr>
            <p:ph type="ctrTitle"/>
          </p:nvPr>
        </p:nvSpPr>
        <p:spPr>
          <a:xfrm>
            <a:off x="217398" y="142169"/>
            <a:ext cx="7983068" cy="974347"/>
          </a:xfrm>
          <a:ln>
            <a:noFill/>
          </a:ln>
        </p:spPr>
        <p:txBody>
          <a:bodyPr anchor="ctr">
            <a:normAutofit/>
          </a:bodyPr>
          <a:lstStyle/>
          <a:p>
            <a:pPr>
              <a:lnSpc>
                <a:spcPct val="90000"/>
              </a:lnSpc>
            </a:pPr>
            <a:r>
              <a:rPr lang="en-US" sz="3100" dirty="0">
                <a:solidFill>
                  <a:schemeClr val="bg1"/>
                </a:solidFill>
              </a:rPr>
              <a:t>Data - Correlations</a:t>
            </a:r>
          </a:p>
        </p:txBody>
      </p:sp>
      <p:sp>
        <p:nvSpPr>
          <p:cNvPr id="3" name="Subtitle 2">
            <a:extLst>
              <a:ext uri="{FF2B5EF4-FFF2-40B4-BE49-F238E27FC236}">
                <a16:creationId xmlns:a16="http://schemas.microsoft.com/office/drawing/2014/main" id="{A800EA5C-31F9-014A-782B-6EFFFEB582B1}"/>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7" name="Picture 6">
            <a:extLst>
              <a:ext uri="{FF2B5EF4-FFF2-40B4-BE49-F238E27FC236}">
                <a16:creationId xmlns:a16="http://schemas.microsoft.com/office/drawing/2014/main" id="{C00CCAB0-AD1B-8083-982A-A3BD82A49DE4}"/>
              </a:ext>
            </a:extLst>
          </p:cNvPr>
          <p:cNvPicPr>
            <a:picLocks noChangeAspect="1"/>
          </p:cNvPicPr>
          <p:nvPr/>
        </p:nvPicPr>
        <p:blipFill>
          <a:blip r:embed="rId4"/>
          <a:stretch>
            <a:fillRect/>
          </a:stretch>
        </p:blipFill>
        <p:spPr>
          <a:xfrm>
            <a:off x="2209799" y="1164771"/>
            <a:ext cx="8944421" cy="5211315"/>
          </a:xfrm>
          <a:prstGeom prst="rect">
            <a:avLst/>
          </a:prstGeom>
        </p:spPr>
      </p:pic>
    </p:spTree>
    <p:extLst>
      <p:ext uri="{BB962C8B-B14F-4D97-AF65-F5344CB8AC3E}">
        <p14:creationId xmlns:p14="http://schemas.microsoft.com/office/powerpoint/2010/main" val="204131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687D3DFC-A584-A944-AD30-3167A2E41EE6}"/>
              </a:ext>
            </a:extLst>
          </p:cNvPr>
          <p:cNvSpPr>
            <a:spLocks noGrp="1"/>
          </p:cNvSpPr>
          <p:nvPr>
            <p:ph type="title"/>
          </p:nvPr>
        </p:nvSpPr>
        <p:spPr>
          <a:xfrm>
            <a:off x="8652507" y="1358671"/>
            <a:ext cx="2843711" cy="1493327"/>
          </a:xfrm>
        </p:spPr>
        <p:txBody>
          <a:bodyPr anchor="ctr">
            <a:normAutofit/>
          </a:bodyPr>
          <a:lstStyle/>
          <a:p>
            <a:r>
              <a:rPr lang="en-US" sz="1800" dirty="0">
                <a:latin typeface="Calibri" panose="020F0502020204030204" pitchFamily="34" charset="0"/>
                <a:cs typeface="Calibri" panose="020F0502020204030204" pitchFamily="34" charset="0"/>
              </a:rPr>
              <a:t>FEATURES -  CORRELATION MATRIX</a:t>
            </a:r>
            <a:br>
              <a:rPr lang="en-US" sz="1800" dirty="0">
                <a:latin typeface="Calibri" panose="020F0502020204030204" pitchFamily="34" charset="0"/>
                <a:cs typeface="Calibri" panose="020F0502020204030204" pitchFamily="34" charset="0"/>
              </a:rPr>
            </a:br>
            <a:endParaRPr lang="en-US" sz="3600" dirty="0"/>
          </a:p>
        </p:txBody>
      </p:sp>
      <p:pic>
        <p:nvPicPr>
          <p:cNvPr id="5122" name="Picture 2" descr="A screenshot of a computer screen&#10;&#10;Description automatically generated">
            <a:extLst>
              <a:ext uri="{FF2B5EF4-FFF2-40B4-BE49-F238E27FC236}">
                <a16:creationId xmlns:a16="http://schemas.microsoft.com/office/drawing/2014/main" id="{B8EC5063-FCE6-DD11-72F2-862C1EA187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6713"/>
          <a:stretch>
            <a:fillRect/>
          </a:stretch>
        </p:blipFill>
        <p:spPr bwMode="auto">
          <a:xfrm>
            <a:off x="298080" y="10520"/>
            <a:ext cx="8056345"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5129" name="Straight Connector 5128">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41170" y="1172935"/>
            <a:ext cx="2653318"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1" name="Straight Connector 5130">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41170" y="3105667"/>
            <a:ext cx="265331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14D9CBF-CBF6-361C-DE2A-546994EC394D}"/>
              </a:ext>
            </a:extLst>
          </p:cNvPr>
          <p:cNvSpPr>
            <a:spLocks noGrp="1"/>
          </p:cNvSpPr>
          <p:nvPr>
            <p:ph idx="1"/>
          </p:nvPr>
        </p:nvSpPr>
        <p:spPr>
          <a:xfrm>
            <a:off x="8652509" y="3359338"/>
            <a:ext cx="2843711" cy="2862072"/>
          </a:xfrm>
        </p:spPr>
        <p:txBody>
          <a:bodyPr>
            <a:normAutofit/>
          </a:bodyPr>
          <a:lstStyle/>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139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C8033-9664-6CFF-ECA9-A00BF0B3D722}"/>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CA3F4552-FC7C-67F6-7700-0F1B6159642B}"/>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BBDF5FF8-4A69-F526-960D-A6D91595AC46}"/>
              </a:ext>
            </a:extLst>
          </p:cNvPr>
          <p:cNvSpPr>
            <a:spLocks noGrp="1"/>
          </p:cNvSpPr>
          <p:nvPr>
            <p:ph type="ctrTitle"/>
          </p:nvPr>
        </p:nvSpPr>
        <p:spPr>
          <a:xfrm>
            <a:off x="240029" y="262712"/>
            <a:ext cx="5721773" cy="648467"/>
          </a:xfrm>
          <a:ln>
            <a:noFill/>
          </a:ln>
        </p:spPr>
        <p:txBody>
          <a:bodyPr anchor="ctr">
            <a:normAutofit/>
          </a:bodyPr>
          <a:lstStyle/>
          <a:p>
            <a:pPr>
              <a:lnSpc>
                <a:spcPct val="90000"/>
              </a:lnSpc>
            </a:pPr>
            <a:r>
              <a:rPr lang="en-US" sz="3100" dirty="0">
                <a:solidFill>
                  <a:schemeClr val="bg1"/>
                </a:solidFill>
              </a:rPr>
              <a:t>FEARURES – SMALL_BUSINESS</a:t>
            </a:r>
          </a:p>
        </p:txBody>
      </p:sp>
      <p:sp>
        <p:nvSpPr>
          <p:cNvPr id="3" name="Subtitle 2">
            <a:extLst>
              <a:ext uri="{FF2B5EF4-FFF2-40B4-BE49-F238E27FC236}">
                <a16:creationId xmlns:a16="http://schemas.microsoft.com/office/drawing/2014/main" id="{46CF6D7B-CE9A-30D2-0B75-4833E4170A3A}"/>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7170" name="Picture 2">
            <a:extLst>
              <a:ext uri="{FF2B5EF4-FFF2-40B4-BE49-F238E27FC236}">
                <a16:creationId xmlns:a16="http://schemas.microsoft.com/office/drawing/2014/main" id="{CE46E69B-05D6-B029-3AFB-3C4DD42BA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504" y="911179"/>
            <a:ext cx="5048663" cy="39368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BF4DAA5-1FAB-EDB3-4F37-C0E47764C220}"/>
              </a:ext>
            </a:extLst>
          </p:cNvPr>
          <p:cNvPicPr>
            <a:picLocks noChangeAspect="1"/>
          </p:cNvPicPr>
          <p:nvPr/>
        </p:nvPicPr>
        <p:blipFill>
          <a:blip r:embed="rId5"/>
          <a:stretch>
            <a:fillRect/>
          </a:stretch>
        </p:blipFill>
        <p:spPr>
          <a:xfrm>
            <a:off x="2510934" y="5296310"/>
            <a:ext cx="5961802" cy="812800"/>
          </a:xfrm>
          <a:prstGeom prst="rect">
            <a:avLst/>
          </a:prstGeom>
        </p:spPr>
      </p:pic>
    </p:spTree>
    <p:extLst>
      <p:ext uri="{BB962C8B-B14F-4D97-AF65-F5344CB8AC3E}">
        <p14:creationId xmlns:p14="http://schemas.microsoft.com/office/powerpoint/2010/main" val="216497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E10F8-3502-38B5-DB94-85337BF7E0FF}"/>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45D3E06E-D5A3-6FB6-DB8B-D50BF2DB5F1C}"/>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58D010FC-855F-8BB7-37E9-9CB50670AB8D}"/>
              </a:ext>
            </a:extLst>
          </p:cNvPr>
          <p:cNvSpPr>
            <a:spLocks noGrp="1"/>
          </p:cNvSpPr>
          <p:nvPr>
            <p:ph type="ctrTitle"/>
          </p:nvPr>
        </p:nvSpPr>
        <p:spPr>
          <a:xfrm>
            <a:off x="7519364" y="446276"/>
            <a:ext cx="5201022" cy="648467"/>
          </a:xfrm>
          <a:ln>
            <a:noFill/>
          </a:ln>
        </p:spPr>
        <p:txBody>
          <a:bodyPr anchor="ctr">
            <a:normAutofit fontScale="90000"/>
          </a:bodyPr>
          <a:lstStyle/>
          <a:p>
            <a:pPr>
              <a:lnSpc>
                <a:spcPct val="90000"/>
              </a:lnSpc>
            </a:pPr>
            <a:r>
              <a:rPr lang="en-US" sz="3100" dirty="0">
                <a:solidFill>
                  <a:schemeClr val="bg1"/>
                </a:solidFill>
              </a:rPr>
              <a:t>FEARURES – </a:t>
            </a:r>
            <a:r>
              <a:rPr lang="en-US" sz="3100" dirty="0" err="1">
                <a:solidFill>
                  <a:schemeClr val="bg1"/>
                </a:solidFill>
              </a:rPr>
              <a:t>purpose_CAT_NEW</a:t>
            </a:r>
            <a:endParaRPr lang="en-US" sz="3100" dirty="0">
              <a:solidFill>
                <a:schemeClr val="bg1"/>
              </a:solidFill>
            </a:endParaRPr>
          </a:p>
        </p:txBody>
      </p:sp>
      <p:sp>
        <p:nvSpPr>
          <p:cNvPr id="3" name="Subtitle 2">
            <a:extLst>
              <a:ext uri="{FF2B5EF4-FFF2-40B4-BE49-F238E27FC236}">
                <a16:creationId xmlns:a16="http://schemas.microsoft.com/office/drawing/2014/main" id="{7F991298-0842-F3D7-A911-E52543B761A9}"/>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5" name="Picture 4">
            <a:extLst>
              <a:ext uri="{FF2B5EF4-FFF2-40B4-BE49-F238E27FC236}">
                <a16:creationId xmlns:a16="http://schemas.microsoft.com/office/drawing/2014/main" id="{86C51C39-2E3D-7810-D78E-AE8BE990AD50}"/>
              </a:ext>
            </a:extLst>
          </p:cNvPr>
          <p:cNvPicPr>
            <a:picLocks noChangeAspect="1"/>
          </p:cNvPicPr>
          <p:nvPr/>
        </p:nvPicPr>
        <p:blipFill>
          <a:blip r:embed="rId4"/>
          <a:stretch>
            <a:fillRect/>
          </a:stretch>
        </p:blipFill>
        <p:spPr>
          <a:xfrm>
            <a:off x="6709698" y="2064908"/>
            <a:ext cx="5482281" cy="3314700"/>
          </a:xfrm>
          <a:prstGeom prst="rect">
            <a:avLst/>
          </a:prstGeom>
        </p:spPr>
      </p:pic>
      <p:pic>
        <p:nvPicPr>
          <p:cNvPr id="10242" name="Picture 2">
            <a:extLst>
              <a:ext uri="{FF2B5EF4-FFF2-40B4-BE49-F238E27FC236}">
                <a16:creationId xmlns:a16="http://schemas.microsoft.com/office/drawing/2014/main" id="{01662216-A33A-263C-52B5-EC4C4F5ED5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509" y="214295"/>
            <a:ext cx="6593189" cy="415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2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3DDCE-0F68-F101-6E4E-9FC052E99E37}"/>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75C9F141-F7C4-3A1C-5107-051D496641A8}"/>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0092C0E5-EC25-8E7B-D4CC-704A15972F95}"/>
              </a:ext>
            </a:extLst>
          </p:cNvPr>
          <p:cNvSpPr>
            <a:spLocks noGrp="1"/>
          </p:cNvSpPr>
          <p:nvPr>
            <p:ph type="ctrTitle"/>
          </p:nvPr>
        </p:nvSpPr>
        <p:spPr>
          <a:xfrm>
            <a:off x="7519364" y="446276"/>
            <a:ext cx="5201022" cy="648467"/>
          </a:xfrm>
          <a:ln>
            <a:noFill/>
          </a:ln>
        </p:spPr>
        <p:txBody>
          <a:bodyPr anchor="ctr">
            <a:normAutofit fontScale="90000"/>
          </a:bodyPr>
          <a:lstStyle/>
          <a:p>
            <a:pPr>
              <a:lnSpc>
                <a:spcPct val="90000"/>
              </a:lnSpc>
            </a:pPr>
            <a:r>
              <a:rPr lang="en-US" sz="3100" dirty="0">
                <a:solidFill>
                  <a:schemeClr val="bg1"/>
                </a:solidFill>
              </a:rPr>
              <a:t>FEARURES – </a:t>
            </a:r>
            <a:r>
              <a:rPr lang="en-US" sz="3100" dirty="0" err="1">
                <a:solidFill>
                  <a:schemeClr val="bg1"/>
                </a:solidFill>
              </a:rPr>
              <a:t>purpose_CAT_NEW</a:t>
            </a:r>
            <a:endParaRPr lang="en-US" sz="3100" dirty="0">
              <a:solidFill>
                <a:schemeClr val="bg1"/>
              </a:solidFill>
            </a:endParaRPr>
          </a:p>
        </p:txBody>
      </p:sp>
      <p:sp>
        <p:nvSpPr>
          <p:cNvPr id="3" name="Subtitle 2">
            <a:extLst>
              <a:ext uri="{FF2B5EF4-FFF2-40B4-BE49-F238E27FC236}">
                <a16:creationId xmlns:a16="http://schemas.microsoft.com/office/drawing/2014/main" id="{FDFD0007-3D49-AF1C-9F9D-1FA14D37290A}"/>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16386" name="Picture 2">
            <a:extLst>
              <a:ext uri="{FF2B5EF4-FFF2-40B4-BE49-F238E27FC236}">
                <a16:creationId xmlns:a16="http://schemas.microsoft.com/office/drawing/2014/main" id="{414797E4-DBC3-7242-403A-B78F7D9DA5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556" y="142159"/>
            <a:ext cx="11495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53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B05A-45BA-2FA1-8848-1F03AF8F66F9}"/>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5277B675-F7D7-5F4E-BF6D-245FF67A106F}"/>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DA1F7D40-9044-20AA-889E-C37D33EC15F9}"/>
              </a:ext>
            </a:extLst>
          </p:cNvPr>
          <p:cNvSpPr>
            <a:spLocks noGrp="1"/>
          </p:cNvSpPr>
          <p:nvPr>
            <p:ph type="ctrTitle"/>
          </p:nvPr>
        </p:nvSpPr>
        <p:spPr>
          <a:xfrm>
            <a:off x="5076919" y="234155"/>
            <a:ext cx="7209272" cy="648467"/>
          </a:xfrm>
          <a:ln>
            <a:noFill/>
          </a:ln>
        </p:spPr>
        <p:txBody>
          <a:bodyPr anchor="ctr">
            <a:normAutofit/>
          </a:bodyPr>
          <a:lstStyle/>
          <a:p>
            <a:pPr>
              <a:lnSpc>
                <a:spcPct val="90000"/>
              </a:lnSpc>
            </a:pPr>
            <a:r>
              <a:rPr lang="en-US" sz="3100" dirty="0">
                <a:solidFill>
                  <a:schemeClr val="bg1"/>
                </a:solidFill>
              </a:rPr>
              <a:t>FEARURES – </a:t>
            </a:r>
            <a:r>
              <a:rPr lang="en-US" sz="3100" dirty="0" err="1">
                <a:solidFill>
                  <a:schemeClr val="bg1"/>
                </a:solidFill>
              </a:rPr>
              <a:t>emp_length_num</a:t>
            </a:r>
            <a:endParaRPr lang="en-US" sz="3100" dirty="0">
              <a:solidFill>
                <a:schemeClr val="bg1"/>
              </a:solidFill>
            </a:endParaRPr>
          </a:p>
        </p:txBody>
      </p:sp>
      <p:sp>
        <p:nvSpPr>
          <p:cNvPr id="3" name="Subtitle 2">
            <a:extLst>
              <a:ext uri="{FF2B5EF4-FFF2-40B4-BE49-F238E27FC236}">
                <a16:creationId xmlns:a16="http://schemas.microsoft.com/office/drawing/2014/main" id="{8052B81C-6700-FBFE-8C7D-CA3CCE05500C}"/>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6" name="Picture 14">
            <a:extLst>
              <a:ext uri="{FF2B5EF4-FFF2-40B4-BE49-F238E27FC236}">
                <a16:creationId xmlns:a16="http://schemas.microsoft.com/office/drawing/2014/main" id="{94800F68-DE10-04D7-3480-2AA647840D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8638" y="795602"/>
            <a:ext cx="4775697" cy="35568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A59713F-1B97-DAD5-D3EC-CD9D8BE348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089" y="142169"/>
            <a:ext cx="4083565" cy="40752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a:extLst>
              <a:ext uri="{FF2B5EF4-FFF2-40B4-BE49-F238E27FC236}">
                <a16:creationId xmlns:a16="http://schemas.microsoft.com/office/drawing/2014/main" id="{FF71FACD-4E1D-F5BB-D0C9-9A88A36668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2302" y="4267005"/>
            <a:ext cx="3489234" cy="2683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78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CB42-44D4-EE98-829E-8CAAC4EE06C7}"/>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516749B7-3AAB-126D-2753-B86D7635B53B}"/>
              </a:ext>
            </a:extLst>
          </p:cNvPr>
          <p:cNvPicPr>
            <a:picLocks noChangeAspect="1"/>
          </p:cNvPicPr>
          <p:nvPr/>
        </p:nvPicPr>
        <p:blipFill>
          <a:blip r:embed="rId3"/>
          <a:srcRect l="9091" t="23391"/>
          <a:stretch>
            <a:fillRect/>
          </a:stretch>
        </p:blipFill>
        <p:spPr>
          <a:xfrm>
            <a:off x="-185314" y="180943"/>
            <a:ext cx="12191979" cy="6857990"/>
          </a:xfrm>
          <a:prstGeom prst="rect">
            <a:avLst/>
          </a:prstGeom>
        </p:spPr>
      </p:pic>
      <p:sp>
        <p:nvSpPr>
          <p:cNvPr id="2" name="Title 1">
            <a:extLst>
              <a:ext uri="{FF2B5EF4-FFF2-40B4-BE49-F238E27FC236}">
                <a16:creationId xmlns:a16="http://schemas.microsoft.com/office/drawing/2014/main" id="{1E1C9740-98F4-A136-8226-DC919184AB6E}"/>
              </a:ext>
            </a:extLst>
          </p:cNvPr>
          <p:cNvSpPr>
            <a:spLocks noGrp="1"/>
          </p:cNvSpPr>
          <p:nvPr>
            <p:ph type="ctrTitle"/>
          </p:nvPr>
        </p:nvSpPr>
        <p:spPr>
          <a:xfrm>
            <a:off x="4843849" y="446276"/>
            <a:ext cx="7876537" cy="648467"/>
          </a:xfrm>
          <a:ln>
            <a:noFill/>
          </a:ln>
        </p:spPr>
        <p:txBody>
          <a:bodyPr anchor="ctr">
            <a:normAutofit/>
          </a:bodyPr>
          <a:lstStyle/>
          <a:p>
            <a:pPr>
              <a:lnSpc>
                <a:spcPct val="90000"/>
              </a:lnSpc>
            </a:pPr>
            <a:r>
              <a:rPr lang="en-US" sz="3100" dirty="0">
                <a:solidFill>
                  <a:schemeClr val="bg1"/>
                </a:solidFill>
              </a:rPr>
              <a:t>FEARURES – </a:t>
            </a:r>
            <a:r>
              <a:rPr lang="en-US" sz="3100" dirty="0" err="1">
                <a:solidFill>
                  <a:schemeClr val="bg1"/>
                </a:solidFill>
              </a:rPr>
              <a:t>annual_INC</a:t>
            </a:r>
            <a:endParaRPr lang="en-US" sz="3100" dirty="0">
              <a:solidFill>
                <a:schemeClr val="bg1"/>
              </a:solidFill>
            </a:endParaRPr>
          </a:p>
        </p:txBody>
      </p:sp>
      <p:sp>
        <p:nvSpPr>
          <p:cNvPr id="3" name="Subtitle 2">
            <a:extLst>
              <a:ext uri="{FF2B5EF4-FFF2-40B4-BE49-F238E27FC236}">
                <a16:creationId xmlns:a16="http://schemas.microsoft.com/office/drawing/2014/main" id="{9A27BD3B-40E6-9F79-E3F2-04B57FF37D8B}"/>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12292" name="Picture 4">
            <a:extLst>
              <a:ext uri="{FF2B5EF4-FFF2-40B4-BE49-F238E27FC236}">
                <a16:creationId xmlns:a16="http://schemas.microsoft.com/office/drawing/2014/main" id="{07C93600-5572-AE02-0982-84872F3986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335" y="1415253"/>
            <a:ext cx="5352607" cy="43118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8">
            <a:extLst>
              <a:ext uri="{FF2B5EF4-FFF2-40B4-BE49-F238E27FC236}">
                <a16:creationId xmlns:a16="http://schemas.microsoft.com/office/drawing/2014/main" id="{A1A82ADE-948E-ACC9-2097-A1C01C67B8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8196" y="1433297"/>
            <a:ext cx="5929974" cy="4293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86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210E6-75EE-F6E4-EA5B-E264E092CA0B}"/>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856FFBDC-3E8E-E0FF-0371-C04301C18DD2}"/>
              </a:ext>
            </a:extLst>
          </p:cNvPr>
          <p:cNvPicPr>
            <a:picLocks noChangeAspect="1"/>
          </p:cNvPicPr>
          <p:nvPr/>
        </p:nvPicPr>
        <p:blipFill>
          <a:blip r:embed="rId3"/>
          <a:srcRect l="9091" t="23391"/>
          <a:stretch>
            <a:fillRect/>
          </a:stretch>
        </p:blipFill>
        <p:spPr>
          <a:xfrm>
            <a:off x="21" y="142169"/>
            <a:ext cx="12191979" cy="6857990"/>
          </a:xfrm>
          <a:prstGeom prst="rect">
            <a:avLst/>
          </a:prstGeom>
        </p:spPr>
      </p:pic>
      <p:sp>
        <p:nvSpPr>
          <p:cNvPr id="2" name="Title 1">
            <a:extLst>
              <a:ext uri="{FF2B5EF4-FFF2-40B4-BE49-F238E27FC236}">
                <a16:creationId xmlns:a16="http://schemas.microsoft.com/office/drawing/2014/main" id="{273B138B-3AC9-66BB-AD4C-11153D73B61F}"/>
              </a:ext>
            </a:extLst>
          </p:cNvPr>
          <p:cNvSpPr>
            <a:spLocks noGrp="1"/>
          </p:cNvSpPr>
          <p:nvPr>
            <p:ph type="ctrTitle"/>
          </p:nvPr>
        </p:nvSpPr>
        <p:spPr>
          <a:xfrm>
            <a:off x="6474941" y="446276"/>
            <a:ext cx="6245445" cy="648467"/>
          </a:xfrm>
          <a:ln>
            <a:noFill/>
          </a:ln>
        </p:spPr>
        <p:txBody>
          <a:bodyPr anchor="ctr">
            <a:normAutofit/>
          </a:bodyPr>
          <a:lstStyle/>
          <a:p>
            <a:pPr>
              <a:lnSpc>
                <a:spcPct val="90000"/>
              </a:lnSpc>
            </a:pPr>
            <a:r>
              <a:rPr lang="en-US" sz="3100" dirty="0">
                <a:solidFill>
                  <a:schemeClr val="bg1"/>
                </a:solidFill>
              </a:rPr>
              <a:t>FEARURES – </a:t>
            </a:r>
            <a:r>
              <a:rPr lang="en-US" sz="3100" dirty="0" err="1">
                <a:solidFill>
                  <a:schemeClr val="bg1"/>
                </a:solidFill>
              </a:rPr>
              <a:t>debt_TO_INCOME</a:t>
            </a:r>
            <a:endParaRPr lang="en-US" sz="3100" dirty="0">
              <a:solidFill>
                <a:schemeClr val="bg1"/>
              </a:solidFill>
            </a:endParaRPr>
          </a:p>
        </p:txBody>
      </p:sp>
      <p:sp>
        <p:nvSpPr>
          <p:cNvPr id="3" name="Subtitle 2">
            <a:extLst>
              <a:ext uri="{FF2B5EF4-FFF2-40B4-BE49-F238E27FC236}">
                <a16:creationId xmlns:a16="http://schemas.microsoft.com/office/drawing/2014/main" id="{23435CC4-3102-AEEA-087B-670E3214E98B}"/>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14338" name="Picture 2">
            <a:extLst>
              <a:ext uri="{FF2B5EF4-FFF2-40B4-BE49-F238E27FC236}">
                <a16:creationId xmlns:a16="http://schemas.microsoft.com/office/drawing/2014/main" id="{325A1934-39EB-9F9E-AF3C-0728A6E3A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269" y="1717590"/>
            <a:ext cx="5514367" cy="41070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0">
            <a:extLst>
              <a:ext uri="{FF2B5EF4-FFF2-40B4-BE49-F238E27FC236}">
                <a16:creationId xmlns:a16="http://schemas.microsoft.com/office/drawing/2014/main" id="{8F4DAF49-A45F-FDBF-5E34-B8F167272B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6808" y="1839141"/>
            <a:ext cx="4504058" cy="3464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35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BF0A83-3285-1E43-17BF-796A704DB9FC}"/>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815123-784C-CEC3-3F0C-737823B3280D}"/>
              </a:ext>
            </a:extLst>
          </p:cNvPr>
          <p:cNvSpPr>
            <a:spLocks noGrp="1"/>
          </p:cNvSpPr>
          <p:nvPr>
            <p:ph type="ctrTitle"/>
          </p:nvPr>
        </p:nvSpPr>
        <p:spPr>
          <a:xfrm>
            <a:off x="704088" y="914400"/>
            <a:ext cx="5195889" cy="1316736"/>
          </a:xfrm>
        </p:spPr>
        <p:txBody>
          <a:bodyPr vert="horz" lIns="91440" tIns="45720" rIns="91440" bIns="45720" rtlCol="0" anchor="t">
            <a:normAutofit/>
          </a:bodyPr>
          <a:lstStyle/>
          <a:p>
            <a:r>
              <a:rPr lang="en-US" sz="4000"/>
              <a:t>METHODOLOGY</a:t>
            </a:r>
          </a:p>
        </p:txBody>
      </p:sp>
      <p:cxnSp>
        <p:nvCxnSpPr>
          <p:cNvPr id="17" name="Straight Connector 16">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8F7436F-9A23-6332-23F9-AD09DF479332}"/>
              </a:ext>
            </a:extLst>
          </p:cNvPr>
          <p:cNvSpPr txBox="1"/>
          <p:nvPr/>
        </p:nvSpPr>
        <p:spPr>
          <a:xfrm>
            <a:off x="388777" y="1618699"/>
            <a:ext cx="5195889" cy="3931920"/>
          </a:xfrm>
          <a:prstGeom prst="rect">
            <a:avLst/>
          </a:prstGeom>
        </p:spPr>
        <p:txBody>
          <a:bodyPr vert="horz" lIns="91440" tIns="45720" rIns="91440" bIns="45720" rtlCol="0">
            <a:noAutofit/>
          </a:bodyPr>
          <a:lstStyle/>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Preliminary data analysis</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Explanatory Data Analysis</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Feature engineering</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Fitting model</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Choosing the best model</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Hyper parameters tuning</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Testing Model</a:t>
            </a:r>
          </a:p>
          <a:p>
            <a:pPr marL="628650" lvl="1" indent="-228600">
              <a:spcAft>
                <a:spcPts val="600"/>
              </a:spcAft>
              <a:buFont typeface="Arial" panose="020B0604020202020204" pitchFamily="34" charset="0"/>
              <a:buChar char="•"/>
            </a:pPr>
            <a:endParaRPr lang="en-US" sz="1600" i="0" dirty="0">
              <a:latin typeface="Calibri" panose="020F0502020204030204" pitchFamily="34" charset="0"/>
              <a:cs typeface="Calibri" panose="020F0502020204030204" pitchFamily="34" charset="0"/>
            </a:endParaRPr>
          </a:p>
          <a:p>
            <a:pPr marL="628650" lvl="1" indent="-228600">
              <a:spcAft>
                <a:spcPts val="600"/>
              </a:spcAft>
              <a:buFont typeface="Arial" panose="020B0604020202020204" pitchFamily="34" charset="0"/>
              <a:buChar char="•"/>
            </a:pPr>
            <a:r>
              <a:rPr lang="en-US" sz="1600" i="0" dirty="0">
                <a:latin typeface="Calibri" panose="020F0502020204030204" pitchFamily="34" charset="0"/>
                <a:cs typeface="Calibri" panose="020F0502020204030204" pitchFamily="34" charset="0"/>
              </a:rPr>
              <a:t>Model Deployment</a:t>
            </a:r>
          </a:p>
        </p:txBody>
      </p:sp>
      <p:pic>
        <p:nvPicPr>
          <p:cNvPr id="4" name="Picture 3" descr="display stock information on LED screen">
            <a:extLst>
              <a:ext uri="{FF2B5EF4-FFF2-40B4-BE49-F238E27FC236}">
                <a16:creationId xmlns:a16="http://schemas.microsoft.com/office/drawing/2014/main" id="{4BC3279B-E9FD-15BF-2F10-15577F3D22F1}"/>
              </a:ext>
            </a:extLst>
          </p:cNvPr>
          <p:cNvPicPr>
            <a:picLocks noChangeAspect="1"/>
          </p:cNvPicPr>
          <p:nvPr/>
        </p:nvPicPr>
        <p:blipFill>
          <a:blip r:embed="rId3"/>
          <a:srcRect l="26460" r="17367" b="-2"/>
          <a:stretch>
            <a:fillRect/>
          </a:stretch>
        </p:blipFill>
        <p:spPr>
          <a:xfrm>
            <a:off x="6420752" y="-1"/>
            <a:ext cx="5771248" cy="6857999"/>
          </a:xfrm>
          <a:prstGeom prst="rect">
            <a:avLst/>
          </a:prstGeom>
        </p:spPr>
      </p:pic>
    </p:spTree>
    <p:extLst>
      <p:ext uri="{BB962C8B-B14F-4D97-AF65-F5344CB8AC3E}">
        <p14:creationId xmlns:p14="http://schemas.microsoft.com/office/powerpoint/2010/main" val="391714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D80119-9A13-97FB-D82C-24781EC975B7}"/>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7F0A89-C8CC-B7CC-FF51-5E28B820A78E}"/>
              </a:ext>
            </a:extLst>
          </p:cNvPr>
          <p:cNvSpPr>
            <a:spLocks noGrp="1"/>
          </p:cNvSpPr>
          <p:nvPr>
            <p:ph type="ctrTitle"/>
          </p:nvPr>
        </p:nvSpPr>
        <p:spPr>
          <a:xfrm>
            <a:off x="6284749" y="909638"/>
            <a:ext cx="5201121" cy="1318062"/>
          </a:xfrm>
        </p:spPr>
        <p:txBody>
          <a:bodyPr vert="horz" lIns="91440" tIns="45720" rIns="91440" bIns="45720" rtlCol="0" anchor="t">
            <a:normAutofit/>
          </a:bodyPr>
          <a:lstStyle/>
          <a:p>
            <a:r>
              <a:rPr lang="en-US" sz="4000" dirty="0"/>
              <a:t>MODELS</a:t>
            </a:r>
          </a:p>
        </p:txBody>
      </p:sp>
      <p:pic>
        <p:nvPicPr>
          <p:cNvPr id="4" name="Picture 3" descr="display stock information on LED screen">
            <a:extLst>
              <a:ext uri="{FF2B5EF4-FFF2-40B4-BE49-F238E27FC236}">
                <a16:creationId xmlns:a16="http://schemas.microsoft.com/office/drawing/2014/main" id="{6E2F426F-7FCE-D47E-C4BD-1323121C2086}"/>
              </a:ext>
            </a:extLst>
          </p:cNvPr>
          <p:cNvPicPr>
            <a:picLocks noChangeAspect="1"/>
          </p:cNvPicPr>
          <p:nvPr/>
        </p:nvPicPr>
        <p:blipFill>
          <a:blip r:embed="rId3"/>
          <a:srcRect l="44651" r="-1" b="-1"/>
          <a:stretch>
            <a:fillRect/>
          </a:stretch>
        </p:blipFill>
        <p:spPr>
          <a:xfrm>
            <a:off x="72417" y="10"/>
            <a:ext cx="5686740" cy="6857990"/>
          </a:xfrm>
          <a:prstGeom prst="rect">
            <a:avLst/>
          </a:prstGeom>
        </p:spPr>
      </p:pic>
      <p:cxnSp>
        <p:nvCxnSpPr>
          <p:cNvPr id="17" name="Straight Connector 16">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F35DF81-0D6E-E224-6A41-A27F7FBEFBFF}"/>
              </a:ext>
            </a:extLst>
          </p:cNvPr>
          <p:cNvSpPr txBox="1"/>
          <p:nvPr/>
        </p:nvSpPr>
        <p:spPr>
          <a:xfrm>
            <a:off x="6284748" y="1879492"/>
            <a:ext cx="5201121" cy="3931920"/>
          </a:xfrm>
          <a:prstGeom prst="rect">
            <a:avLst/>
          </a:prstGeom>
        </p:spPr>
        <p:txBody>
          <a:bodyPr vert="horz" lIns="91440" tIns="45720" rIns="91440" bIns="45720" rtlCol="0">
            <a:normAutofit/>
          </a:bodyPr>
          <a:lstStyle/>
          <a:p>
            <a:pPr marL="342900" indent="-342900">
              <a:lnSpc>
                <a:spcPct val="90000"/>
              </a:lnSpc>
              <a:buFont typeface="Arial" panose="020B0604020202020204" pitchFamily="34" charset="0"/>
              <a:buChar char="•"/>
            </a:pPr>
            <a:r>
              <a:rPr lang="en-US" sz="1600" b="0" i="0" u="none" strike="noStrike" dirty="0">
                <a:effectLst/>
                <a:latin typeface="Calibri" panose="020F0502020204030204" pitchFamily="34" charset="0"/>
                <a:cs typeface="Calibri" panose="020F0502020204030204" pitchFamily="34" charset="0"/>
              </a:rPr>
              <a:t>Logistic Regression</a:t>
            </a:r>
          </a:p>
          <a:p>
            <a:pPr marL="342900" indent="-342900">
              <a:lnSpc>
                <a:spcPct val="90000"/>
              </a:lnSpc>
              <a:buFont typeface="Arial" panose="020B0604020202020204" pitchFamily="34" charset="0"/>
              <a:buChar char="•"/>
            </a:pPr>
            <a:endParaRPr lang="en-US" sz="1600" b="0" i="0" u="none" strike="noStrike" dirty="0">
              <a:effectLst/>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Decision Trees</a:t>
            </a:r>
          </a:p>
          <a:p>
            <a:pPr marL="342900" indent="-342900">
              <a:lnSpc>
                <a:spcPct val="9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b="0" i="0" u="none" strike="noStrike" dirty="0">
                <a:effectLst/>
                <a:latin typeface="Calibri" panose="020F0502020204030204" pitchFamily="34" charset="0"/>
                <a:cs typeface="Calibri" panose="020F0502020204030204" pitchFamily="34" charset="0"/>
              </a:rPr>
              <a:t>Random Forest</a:t>
            </a:r>
          </a:p>
          <a:p>
            <a:pPr marL="342900" indent="-342900">
              <a:lnSpc>
                <a:spcPct val="90000"/>
              </a:lnSpc>
              <a:buFont typeface="Arial" panose="020B0604020202020204" pitchFamily="34" charset="0"/>
              <a:buChar char="•"/>
            </a:pPr>
            <a:endParaRPr lang="en-US" sz="1600" b="0" i="0" u="none" strike="noStrike" dirty="0">
              <a:effectLst/>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Gradient Boosting</a:t>
            </a:r>
          </a:p>
          <a:p>
            <a:pPr marL="342900" indent="-342900">
              <a:lnSpc>
                <a:spcPct val="9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b="0" i="0" u="none" strike="noStrike" dirty="0">
                <a:effectLst/>
                <a:latin typeface="Calibri" panose="020F0502020204030204" pitchFamily="34" charset="0"/>
                <a:cs typeface="Calibri" panose="020F0502020204030204" pitchFamily="34" charset="0"/>
              </a:rPr>
              <a:t>Suppo</a:t>
            </a:r>
            <a:r>
              <a:rPr lang="en-US" sz="1600" dirty="0">
                <a:latin typeface="Calibri" panose="020F0502020204030204" pitchFamily="34" charset="0"/>
                <a:cs typeface="Calibri" panose="020F0502020204030204" pitchFamily="34" charset="0"/>
              </a:rPr>
              <a:t>rt Vector Machine</a:t>
            </a:r>
          </a:p>
          <a:p>
            <a:pPr marL="342900" indent="-342900">
              <a:lnSpc>
                <a:spcPct val="9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b="0" i="0" u="none" strike="noStrike" dirty="0">
                <a:effectLst/>
                <a:latin typeface="Calibri" panose="020F0502020204030204" pitchFamily="34" charset="0"/>
                <a:cs typeface="Calibri" panose="020F0502020204030204" pitchFamily="34" charset="0"/>
              </a:rPr>
              <a:t>Naïve Bayes</a:t>
            </a:r>
          </a:p>
          <a:p>
            <a:pPr marL="342900" indent="-342900">
              <a:lnSpc>
                <a:spcPct val="90000"/>
              </a:lnSpc>
              <a:buFont typeface="Arial" panose="020B0604020202020204" pitchFamily="34" charset="0"/>
              <a:buChar char="•"/>
            </a:pPr>
            <a:endParaRPr lang="en-US" sz="1600" b="0" i="0" u="none" strike="noStrike" dirty="0">
              <a:effectLst/>
              <a:latin typeface="Calibri" panose="020F0502020204030204" pitchFamily="34" charset="0"/>
              <a:cs typeface="Calibri" panose="020F0502020204030204" pitchFamily="34" charset="0"/>
            </a:endParaRPr>
          </a:p>
          <a:p>
            <a:pPr marL="342900" indent="-342900">
              <a:lnSpc>
                <a:spcPct val="90000"/>
              </a:lnSpc>
              <a:buFont typeface="Arial" panose="020B0604020202020204" pitchFamily="34" charset="0"/>
              <a:buChar char="•"/>
            </a:pPr>
            <a:r>
              <a:rPr lang="en-US" sz="1600" b="0" i="0" u="none" strike="noStrike" dirty="0">
                <a:effectLst/>
                <a:latin typeface="Calibri" panose="020F0502020204030204" pitchFamily="34" charset="0"/>
                <a:cs typeface="Calibri" panose="020F0502020204030204" pitchFamily="34" charset="0"/>
              </a:rPr>
              <a:t>K Nearest Neighbor</a:t>
            </a:r>
          </a:p>
        </p:txBody>
      </p:sp>
    </p:spTree>
    <p:extLst>
      <p:ext uri="{BB962C8B-B14F-4D97-AF65-F5344CB8AC3E}">
        <p14:creationId xmlns:p14="http://schemas.microsoft.com/office/powerpoint/2010/main" val="303979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AF815-8CAC-6E7E-DDAA-A2B468B5EC75}"/>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51823-B39E-85EB-E478-875FD87D804F}"/>
              </a:ext>
            </a:extLst>
          </p:cNvPr>
          <p:cNvSpPr>
            <a:spLocks noGrp="1"/>
          </p:cNvSpPr>
          <p:nvPr>
            <p:ph type="ctrTitle"/>
          </p:nvPr>
        </p:nvSpPr>
        <p:spPr>
          <a:xfrm>
            <a:off x="722376" y="155123"/>
            <a:ext cx="4800600" cy="538150"/>
          </a:xfrm>
        </p:spPr>
        <p:txBody>
          <a:bodyPr vert="horz" lIns="91440" tIns="45720" rIns="91440" bIns="45720" rtlCol="0" anchor="t">
            <a:normAutofit fontScale="90000"/>
          </a:bodyPr>
          <a:lstStyle/>
          <a:p>
            <a:pPr>
              <a:lnSpc>
                <a:spcPct val="90000"/>
              </a:lnSpc>
            </a:pPr>
            <a:r>
              <a:rPr lang="en-US" sz="4000" dirty="0"/>
              <a:t>models</a:t>
            </a:r>
          </a:p>
        </p:txBody>
      </p:sp>
      <p:cxnSp>
        <p:nvCxnSpPr>
          <p:cNvPr id="17" name="Straight Connector 16">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0EBF512-4F20-FB10-FC8B-FCA9C1EE3733}"/>
              </a:ext>
            </a:extLst>
          </p:cNvPr>
          <p:cNvSpPr txBox="1"/>
          <p:nvPr/>
        </p:nvSpPr>
        <p:spPr>
          <a:xfrm>
            <a:off x="704089" y="848396"/>
            <a:ext cx="5223745" cy="5113492"/>
          </a:xfrm>
          <a:prstGeom prst="rect">
            <a:avLst/>
          </a:prstGeom>
        </p:spPr>
        <p:txBody>
          <a:bodyPr vert="horz" lIns="91440" tIns="45720" rIns="91440" bIns="45720" rtlCol="0">
            <a:normAutofit fontScale="92500" lnSpcReduction="20000"/>
          </a:bodyPr>
          <a:lstStyle/>
          <a:p>
            <a:r>
              <a:rPr lang="en-US" b="1" dirty="0">
                <a:latin typeface="Calibri" panose="020F0502020204030204" pitchFamily="34" charset="0"/>
                <a:cs typeface="Calibri" panose="020F0502020204030204" pitchFamily="34" charset="0"/>
              </a:rPr>
              <a:t>Baseline – Logistic Regression</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Interpretable benchmark model</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Provides clear coefficients and odds ratios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Serves as a reference point for more complex models</a:t>
            </a:r>
          </a:p>
          <a:p>
            <a:pPr lvl="1"/>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Decision Tree</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Simple rules → easy to understand</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Mimics how underwriters make decisions (if/then rules)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Limitation: can overfit and be unstable</a:t>
            </a:r>
          </a:p>
          <a:p>
            <a:pPr lvl="1">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Ensembles (Random Forest &amp; others)</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Built on many decision trees → higher accuracy &amp; robustness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Reduce overfitting by averaging across trees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Provide feature importance for interpretability</a:t>
            </a:r>
          </a:p>
          <a:p>
            <a:pPr lvl="1"/>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Model Selection Criteria</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Compared using validation metrics (AUC, precision, recall -&gt; f1)</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Evaluated in terms of </a:t>
            </a:r>
            <a:r>
              <a:rPr lang="en-US" b="1" dirty="0">
                <a:latin typeface="Calibri" panose="020F0502020204030204" pitchFamily="34" charset="0"/>
                <a:cs typeface="Calibri" panose="020F0502020204030204" pitchFamily="34" charset="0"/>
              </a:rPr>
              <a:t>business profit impact</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Balanced explainability (tree, logistic) with accuracy (ensemble)</a:t>
            </a:r>
          </a:p>
          <a:p>
            <a:pPr lvl="1" indent="-228600">
              <a:lnSpc>
                <a:spcPct val="110000"/>
              </a:lnSpc>
              <a:spcAft>
                <a:spcPts val="600"/>
              </a:spcAft>
              <a:buFont typeface="Arial" panose="020B0604020202020204" pitchFamily="34" charset="0"/>
              <a:buChar char="•"/>
            </a:pPr>
            <a:endParaRPr lang="en-US" b="0" i="0" u="none" strike="noStrike" dirty="0">
              <a:effectLst/>
            </a:endParaRPr>
          </a:p>
        </p:txBody>
      </p:sp>
      <p:cxnSp>
        <p:nvCxnSpPr>
          <p:cNvPr id="19" name="Straight Connector 18">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display stock information on LED screen">
            <a:extLst>
              <a:ext uri="{FF2B5EF4-FFF2-40B4-BE49-F238E27FC236}">
                <a16:creationId xmlns:a16="http://schemas.microsoft.com/office/drawing/2014/main" id="{5FDA887E-0085-FA2B-3D00-77A84C58059A}"/>
              </a:ext>
            </a:extLst>
          </p:cNvPr>
          <p:cNvPicPr>
            <a:picLocks noChangeAspect="1"/>
          </p:cNvPicPr>
          <p:nvPr/>
        </p:nvPicPr>
        <p:blipFill>
          <a:blip r:embed="rId3"/>
          <a:srcRect l="41171" r="-1" b="-1"/>
          <a:stretch>
            <a:fillRect/>
          </a:stretch>
        </p:blipFill>
        <p:spPr>
          <a:xfrm>
            <a:off x="6147816" y="10"/>
            <a:ext cx="6044184" cy="6857990"/>
          </a:xfrm>
          <a:prstGeom prst="rect">
            <a:avLst/>
          </a:prstGeom>
        </p:spPr>
      </p:pic>
    </p:spTree>
    <p:extLst>
      <p:ext uri="{BB962C8B-B14F-4D97-AF65-F5344CB8AC3E}">
        <p14:creationId xmlns:p14="http://schemas.microsoft.com/office/powerpoint/2010/main" val="3943026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9B44-27D7-E2B8-6C3B-42F0F46492AF}"/>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640D04C3-4E8B-A2C6-808D-F3E3905460CC}"/>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F67EC90B-09C3-7585-58B6-A7E91428B69D}"/>
              </a:ext>
            </a:extLst>
          </p:cNvPr>
          <p:cNvSpPr>
            <a:spLocks noGrp="1"/>
          </p:cNvSpPr>
          <p:nvPr>
            <p:ph type="ctrTitle"/>
          </p:nvPr>
        </p:nvSpPr>
        <p:spPr>
          <a:xfrm>
            <a:off x="242112" y="438731"/>
            <a:ext cx="3032429" cy="974347"/>
          </a:xfrm>
          <a:ln>
            <a:noFill/>
          </a:ln>
        </p:spPr>
        <p:txBody>
          <a:bodyPr anchor="ctr">
            <a:normAutofit/>
          </a:bodyPr>
          <a:lstStyle/>
          <a:p>
            <a:pPr>
              <a:lnSpc>
                <a:spcPct val="90000"/>
              </a:lnSpc>
            </a:pPr>
            <a:r>
              <a:rPr lang="en-US" sz="3100" dirty="0">
                <a:solidFill>
                  <a:schemeClr val="bg1"/>
                </a:solidFill>
              </a:rPr>
              <a:t>Best Models</a:t>
            </a:r>
          </a:p>
        </p:txBody>
      </p:sp>
      <p:sp>
        <p:nvSpPr>
          <p:cNvPr id="3" name="Subtitle 2">
            <a:extLst>
              <a:ext uri="{FF2B5EF4-FFF2-40B4-BE49-F238E27FC236}">
                <a16:creationId xmlns:a16="http://schemas.microsoft.com/office/drawing/2014/main" id="{A2DE7B90-D15D-EEC1-CD19-537DC27A97E5}"/>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sp>
        <p:nvSpPr>
          <p:cNvPr id="9" name="TextBox 8">
            <a:extLst>
              <a:ext uri="{FF2B5EF4-FFF2-40B4-BE49-F238E27FC236}">
                <a16:creationId xmlns:a16="http://schemas.microsoft.com/office/drawing/2014/main" id="{4AA62512-9140-7959-0EFA-7E547B86D070}"/>
              </a:ext>
            </a:extLst>
          </p:cNvPr>
          <p:cNvSpPr txBox="1"/>
          <p:nvPr/>
        </p:nvSpPr>
        <p:spPr>
          <a:xfrm>
            <a:off x="242112" y="3217552"/>
            <a:ext cx="6180082" cy="1421928"/>
          </a:xfrm>
          <a:prstGeom prst="rect">
            <a:avLst/>
          </a:prstGeom>
          <a:noFill/>
        </p:spPr>
        <p:txBody>
          <a:bodyPr wrap="square">
            <a:spAutoFit/>
          </a:bodyPr>
          <a:lstStyle/>
          <a:p>
            <a:pPr marL="342900" indent="-342900">
              <a:lnSpc>
                <a:spcPct val="90000"/>
              </a:lnSpc>
              <a:buFont typeface="Arial" panose="020B0604020202020204" pitchFamily="34" charset="0"/>
              <a:buChar char="•"/>
            </a:pPr>
            <a:r>
              <a:rPr lang="en-US" sz="1600" dirty="0">
                <a:solidFill>
                  <a:schemeClr val="bg1"/>
                </a:solidFill>
                <a:latin typeface="Calibri" panose="020F0502020204030204" pitchFamily="34" charset="0"/>
                <a:cs typeface="Calibri" panose="020F0502020204030204" pitchFamily="34" charset="0"/>
              </a:rPr>
              <a:t>Balanced ]data</a:t>
            </a:r>
          </a:p>
          <a:p>
            <a:pPr marL="342900" indent="-342900">
              <a:lnSpc>
                <a:spcPct val="90000"/>
              </a:lnSpc>
              <a:buFont typeface="Arial" panose="020B0604020202020204" pitchFamily="34" charset="0"/>
              <a:buChar char="•"/>
            </a:pPr>
            <a:r>
              <a:rPr lang="en-US" sz="1600" dirty="0">
                <a:solidFill>
                  <a:schemeClr val="bg1"/>
                </a:solidFill>
                <a:latin typeface="Calibri" panose="020F0502020204030204" pitchFamily="34" charset="0"/>
                <a:cs typeface="Calibri" panose="020F0502020204030204" pitchFamily="34" charset="0"/>
              </a:rPr>
              <a:t>Ensample models </a:t>
            </a:r>
            <a:endParaRPr lang="en-US" sz="1600" b="0" i="0" u="none" strike="noStrike" dirty="0">
              <a:solidFill>
                <a:schemeClr val="bg1"/>
              </a:solidFill>
              <a:effectLst/>
              <a:latin typeface="Calibri" panose="020F0502020204030204" pitchFamily="34" charset="0"/>
              <a:cs typeface="Calibri" panose="020F0502020204030204" pitchFamily="34" charset="0"/>
            </a:endParaRPr>
          </a:p>
          <a:p>
            <a:pPr marL="800100" lvl="1" indent="-342900">
              <a:lnSpc>
                <a:spcPct val="90000"/>
              </a:lnSpc>
              <a:buFont typeface="Arial" panose="020B0604020202020204" pitchFamily="34" charset="0"/>
              <a:buChar char="•"/>
            </a:pPr>
            <a:r>
              <a:rPr lang="en-US" sz="1600" dirty="0">
                <a:solidFill>
                  <a:schemeClr val="bg1"/>
                </a:solidFill>
                <a:latin typeface="Calibri" panose="020F0502020204030204" pitchFamily="34" charset="0"/>
                <a:cs typeface="Calibri" panose="020F0502020204030204" pitchFamily="34" charset="0"/>
              </a:rPr>
              <a:t>XG Boost</a:t>
            </a:r>
          </a:p>
          <a:p>
            <a:pPr marL="800100" lvl="1" indent="-342900">
              <a:lnSpc>
                <a:spcPct val="90000"/>
              </a:lnSpc>
              <a:buFont typeface="Arial" panose="020B0604020202020204" pitchFamily="34" charset="0"/>
              <a:buChar char="•"/>
            </a:pPr>
            <a:r>
              <a:rPr lang="en-US" sz="1600" b="0" i="0" u="none" strike="noStrike" dirty="0">
                <a:solidFill>
                  <a:schemeClr val="bg1"/>
                </a:solidFill>
                <a:effectLst/>
                <a:latin typeface="Calibri" panose="020F0502020204030204" pitchFamily="34" charset="0"/>
                <a:cs typeface="Calibri" panose="020F0502020204030204" pitchFamily="34" charset="0"/>
              </a:rPr>
              <a:t>Gradient Boosting </a:t>
            </a:r>
          </a:p>
          <a:p>
            <a:pPr marL="800100" lvl="1" indent="-342900">
              <a:lnSpc>
                <a:spcPct val="90000"/>
              </a:lnSpc>
              <a:buFont typeface="Arial" panose="020B0604020202020204" pitchFamily="34" charset="0"/>
              <a:buChar char="•"/>
            </a:pPr>
            <a:r>
              <a:rPr lang="en-US" sz="1600" dirty="0">
                <a:solidFill>
                  <a:schemeClr val="bg1"/>
                </a:solidFill>
                <a:latin typeface="Calibri" panose="020F0502020204030204" pitchFamily="34" charset="0"/>
                <a:cs typeface="Calibri" panose="020F0502020204030204" pitchFamily="34" charset="0"/>
              </a:rPr>
              <a:t>Random Forest</a:t>
            </a:r>
          </a:p>
          <a:p>
            <a:pPr marL="342900" indent="-342900">
              <a:lnSpc>
                <a:spcPct val="90000"/>
              </a:lnSpc>
              <a:buFont typeface="Arial" panose="020B0604020202020204" pitchFamily="34" charset="0"/>
              <a:buChar char="•"/>
            </a:pPr>
            <a:r>
              <a:rPr lang="en-US" sz="1600" dirty="0">
                <a:solidFill>
                  <a:schemeClr val="bg1"/>
                </a:solidFill>
                <a:latin typeface="Calibri" panose="020F0502020204030204" pitchFamily="34" charset="0"/>
                <a:cs typeface="Calibri" panose="020F0502020204030204" pitchFamily="34" charset="0"/>
              </a:rPr>
              <a:t>Decision Tree</a:t>
            </a:r>
          </a:p>
        </p:txBody>
      </p:sp>
      <p:pic>
        <p:nvPicPr>
          <p:cNvPr id="5" name="Picture 4">
            <a:extLst>
              <a:ext uri="{FF2B5EF4-FFF2-40B4-BE49-F238E27FC236}">
                <a16:creationId xmlns:a16="http://schemas.microsoft.com/office/drawing/2014/main" id="{0F41498E-AFB9-2D34-26B0-8C3A66899B0B}"/>
              </a:ext>
            </a:extLst>
          </p:cNvPr>
          <p:cNvPicPr>
            <a:picLocks noChangeAspect="1"/>
          </p:cNvPicPr>
          <p:nvPr/>
        </p:nvPicPr>
        <p:blipFill>
          <a:blip r:embed="rId4"/>
          <a:stretch>
            <a:fillRect/>
          </a:stretch>
        </p:blipFill>
        <p:spPr>
          <a:xfrm>
            <a:off x="2949713" y="596348"/>
            <a:ext cx="8509606" cy="5972338"/>
          </a:xfrm>
          <a:prstGeom prst="rect">
            <a:avLst/>
          </a:prstGeom>
        </p:spPr>
      </p:pic>
    </p:spTree>
    <p:extLst>
      <p:ext uri="{BB962C8B-B14F-4D97-AF65-F5344CB8AC3E}">
        <p14:creationId xmlns:p14="http://schemas.microsoft.com/office/powerpoint/2010/main" val="56498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C3BAE-F5F0-9164-F122-28D784A969F0}"/>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7FD7C3B4-EB12-3501-1084-76B2CA9ED6A3}"/>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3EA328D3-B688-9BC5-EAC6-7CE1EC86D9CD}"/>
              </a:ext>
            </a:extLst>
          </p:cNvPr>
          <p:cNvSpPr>
            <a:spLocks noGrp="1"/>
          </p:cNvSpPr>
          <p:nvPr>
            <p:ph type="ctrTitle"/>
          </p:nvPr>
        </p:nvSpPr>
        <p:spPr>
          <a:xfrm>
            <a:off x="242112" y="438731"/>
            <a:ext cx="3032429" cy="2670450"/>
          </a:xfrm>
          <a:ln>
            <a:noFill/>
          </a:ln>
        </p:spPr>
        <p:txBody>
          <a:bodyPr anchor="ctr">
            <a:normAutofit/>
          </a:bodyPr>
          <a:lstStyle/>
          <a:p>
            <a:pPr>
              <a:lnSpc>
                <a:spcPct val="90000"/>
              </a:lnSpc>
            </a:pPr>
            <a:r>
              <a:rPr lang="en-US" sz="3100" dirty="0">
                <a:solidFill>
                  <a:schemeClr val="bg1"/>
                </a:solidFill>
              </a:rPr>
              <a:t>Best Models – SELECTED FEATURES</a:t>
            </a:r>
          </a:p>
        </p:txBody>
      </p:sp>
      <p:sp>
        <p:nvSpPr>
          <p:cNvPr id="3" name="Subtitle 2">
            <a:extLst>
              <a:ext uri="{FF2B5EF4-FFF2-40B4-BE49-F238E27FC236}">
                <a16:creationId xmlns:a16="http://schemas.microsoft.com/office/drawing/2014/main" id="{D8CC0B79-5E70-B792-CEBD-0FC6D0D19FD1}"/>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6" name="Picture 5">
            <a:extLst>
              <a:ext uri="{FF2B5EF4-FFF2-40B4-BE49-F238E27FC236}">
                <a16:creationId xmlns:a16="http://schemas.microsoft.com/office/drawing/2014/main" id="{C146CDE3-3C3F-20A5-F4A0-40639A199DE6}"/>
              </a:ext>
            </a:extLst>
          </p:cNvPr>
          <p:cNvPicPr>
            <a:picLocks noChangeAspect="1"/>
          </p:cNvPicPr>
          <p:nvPr/>
        </p:nvPicPr>
        <p:blipFill>
          <a:blip r:embed="rId4"/>
          <a:stretch>
            <a:fillRect/>
          </a:stretch>
        </p:blipFill>
        <p:spPr>
          <a:xfrm>
            <a:off x="4888672" y="4089463"/>
            <a:ext cx="6696434" cy="2042980"/>
          </a:xfrm>
          <a:prstGeom prst="rect">
            <a:avLst/>
          </a:prstGeom>
        </p:spPr>
      </p:pic>
      <p:pic>
        <p:nvPicPr>
          <p:cNvPr id="7" name="Picture 6">
            <a:extLst>
              <a:ext uri="{FF2B5EF4-FFF2-40B4-BE49-F238E27FC236}">
                <a16:creationId xmlns:a16="http://schemas.microsoft.com/office/drawing/2014/main" id="{89CDDDC8-2C05-B355-00D2-C15EDB3ED0CF}"/>
              </a:ext>
            </a:extLst>
          </p:cNvPr>
          <p:cNvPicPr>
            <a:picLocks noChangeAspect="1"/>
          </p:cNvPicPr>
          <p:nvPr/>
        </p:nvPicPr>
        <p:blipFill>
          <a:blip r:embed="rId5"/>
          <a:stretch>
            <a:fillRect/>
          </a:stretch>
        </p:blipFill>
        <p:spPr>
          <a:xfrm>
            <a:off x="5617749" y="346404"/>
            <a:ext cx="4560967" cy="3306203"/>
          </a:xfrm>
          <a:prstGeom prst="rect">
            <a:avLst/>
          </a:prstGeom>
        </p:spPr>
      </p:pic>
      <p:sp>
        <p:nvSpPr>
          <p:cNvPr id="8" name="TextBox 7">
            <a:extLst>
              <a:ext uri="{FF2B5EF4-FFF2-40B4-BE49-F238E27FC236}">
                <a16:creationId xmlns:a16="http://schemas.microsoft.com/office/drawing/2014/main" id="{81CBAE6A-CBC2-D31A-208E-02B3516B1FED}"/>
              </a:ext>
            </a:extLst>
          </p:cNvPr>
          <p:cNvSpPr txBox="1"/>
          <p:nvPr/>
        </p:nvSpPr>
        <p:spPr>
          <a:xfrm>
            <a:off x="378733" y="2824895"/>
            <a:ext cx="3775823"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latin typeface="Calibri" panose="020F0502020204030204" pitchFamily="34" charset="0"/>
                <a:cs typeface="Calibri" panose="020F0502020204030204" pitchFamily="34" charset="0"/>
              </a:rPr>
              <a:t>Selecting only meaningful features</a:t>
            </a:r>
          </a:p>
          <a:p>
            <a:pPr marL="285750" indent="-285750">
              <a:buFont typeface="Arial" panose="020B0604020202020204" pitchFamily="34" charset="0"/>
              <a:buChar char="•"/>
            </a:pPr>
            <a:endParaRPr lang="en-US" b="1"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solidFill>
                <a:latin typeface="Calibri" panose="020F0502020204030204" pitchFamily="34" charset="0"/>
                <a:cs typeface="Calibri" panose="020F0502020204030204" pitchFamily="34" charset="0"/>
              </a:rPr>
              <a:t>Logistic regression is the best models for smaller data set</a:t>
            </a:r>
          </a:p>
        </p:txBody>
      </p:sp>
    </p:spTree>
    <p:extLst>
      <p:ext uri="{BB962C8B-B14F-4D97-AF65-F5344CB8AC3E}">
        <p14:creationId xmlns:p14="http://schemas.microsoft.com/office/powerpoint/2010/main" val="263053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9FD-7D5C-0F33-F382-C543B2AAB189}"/>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5E752569-BB29-77AE-6D04-98C4EA9E5FED}"/>
              </a:ext>
            </a:extLst>
          </p:cNvPr>
          <p:cNvPicPr>
            <a:picLocks noChangeAspect="1"/>
          </p:cNvPicPr>
          <p:nvPr/>
        </p:nvPicPr>
        <p:blipFill>
          <a:blip r:embed="rId3"/>
          <a:srcRect l="9091" t="23391"/>
          <a:stretch>
            <a:fillRect/>
          </a:stretch>
        </p:blipFill>
        <p:spPr>
          <a:xfrm>
            <a:off x="21" y="10"/>
            <a:ext cx="12191979" cy="6857990"/>
          </a:xfrm>
          <a:prstGeom prst="rect">
            <a:avLst/>
          </a:prstGeom>
        </p:spPr>
      </p:pic>
      <p:sp>
        <p:nvSpPr>
          <p:cNvPr id="2" name="Title 1">
            <a:extLst>
              <a:ext uri="{FF2B5EF4-FFF2-40B4-BE49-F238E27FC236}">
                <a16:creationId xmlns:a16="http://schemas.microsoft.com/office/drawing/2014/main" id="{4CEEE2C4-2890-44F4-9246-8D4E75D635FD}"/>
              </a:ext>
            </a:extLst>
          </p:cNvPr>
          <p:cNvSpPr>
            <a:spLocks noGrp="1"/>
          </p:cNvSpPr>
          <p:nvPr>
            <p:ph type="ctrTitle"/>
          </p:nvPr>
        </p:nvSpPr>
        <p:spPr>
          <a:xfrm>
            <a:off x="121795" y="0"/>
            <a:ext cx="7917915" cy="974347"/>
          </a:xfrm>
          <a:ln>
            <a:noFill/>
          </a:ln>
        </p:spPr>
        <p:txBody>
          <a:bodyPr anchor="ctr">
            <a:normAutofit/>
          </a:bodyPr>
          <a:lstStyle/>
          <a:p>
            <a:pPr>
              <a:lnSpc>
                <a:spcPct val="90000"/>
              </a:lnSpc>
            </a:pPr>
            <a:r>
              <a:rPr lang="en-US" sz="3200" dirty="0">
                <a:solidFill>
                  <a:srgbClr val="FFFFFF"/>
                </a:solidFill>
              </a:rPr>
              <a:t>LOGISTIC REGRESSION = simple Example</a:t>
            </a:r>
            <a:endParaRPr lang="en-US" sz="3100" dirty="0">
              <a:solidFill>
                <a:schemeClr val="bg1"/>
              </a:solidFill>
            </a:endParaRPr>
          </a:p>
        </p:txBody>
      </p:sp>
      <p:sp>
        <p:nvSpPr>
          <p:cNvPr id="3" name="Subtitle 2">
            <a:extLst>
              <a:ext uri="{FF2B5EF4-FFF2-40B4-BE49-F238E27FC236}">
                <a16:creationId xmlns:a16="http://schemas.microsoft.com/office/drawing/2014/main" id="{A58BF758-3DFF-8856-C4F0-3514651DAA29}"/>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7" name="Picture 6">
            <a:extLst>
              <a:ext uri="{FF2B5EF4-FFF2-40B4-BE49-F238E27FC236}">
                <a16:creationId xmlns:a16="http://schemas.microsoft.com/office/drawing/2014/main" id="{8AA63CF2-398A-165B-3507-ACC0E7372D3C}"/>
              </a:ext>
            </a:extLst>
          </p:cNvPr>
          <p:cNvPicPr>
            <a:picLocks noChangeAspect="1"/>
          </p:cNvPicPr>
          <p:nvPr/>
        </p:nvPicPr>
        <p:blipFill>
          <a:blip r:embed="rId4"/>
          <a:stretch>
            <a:fillRect/>
          </a:stretch>
        </p:blipFill>
        <p:spPr>
          <a:xfrm>
            <a:off x="283451" y="836875"/>
            <a:ext cx="4815420" cy="2892914"/>
          </a:xfrm>
          <a:prstGeom prst="rect">
            <a:avLst/>
          </a:prstGeom>
        </p:spPr>
      </p:pic>
      <p:pic>
        <p:nvPicPr>
          <p:cNvPr id="1028" name="Picture 4">
            <a:extLst>
              <a:ext uri="{FF2B5EF4-FFF2-40B4-BE49-F238E27FC236}">
                <a16:creationId xmlns:a16="http://schemas.microsoft.com/office/drawing/2014/main" id="{587DAF94-7984-EDB4-A24C-AA1D735EA4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3935" y="836875"/>
            <a:ext cx="6223000" cy="368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3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76665-6FB4-2FAD-F527-A731DD035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6BC71-9D70-99DC-66B0-03AF7F18917B}"/>
              </a:ext>
            </a:extLst>
          </p:cNvPr>
          <p:cNvSpPr>
            <a:spLocks noGrp="1"/>
          </p:cNvSpPr>
          <p:nvPr>
            <p:ph type="ctrTitle"/>
          </p:nvPr>
        </p:nvSpPr>
        <p:spPr>
          <a:xfrm>
            <a:off x="121795" y="0"/>
            <a:ext cx="7917915" cy="974347"/>
          </a:xfrm>
          <a:ln>
            <a:noFill/>
          </a:ln>
        </p:spPr>
        <p:txBody>
          <a:bodyPr anchor="ctr">
            <a:normAutofit/>
          </a:bodyPr>
          <a:lstStyle/>
          <a:p>
            <a:pPr>
              <a:lnSpc>
                <a:spcPct val="90000"/>
              </a:lnSpc>
            </a:pPr>
            <a:r>
              <a:rPr lang="en-US" sz="3200" dirty="0">
                <a:solidFill>
                  <a:srgbClr val="FFFFFF"/>
                </a:solidFill>
              </a:rPr>
              <a:t>LOGISTIC REGRESSION = simple Example</a:t>
            </a:r>
            <a:endParaRPr lang="en-US" sz="3100" dirty="0">
              <a:solidFill>
                <a:schemeClr val="bg1"/>
              </a:solidFill>
            </a:endParaRPr>
          </a:p>
        </p:txBody>
      </p:sp>
      <p:sp>
        <p:nvSpPr>
          <p:cNvPr id="3" name="Subtitle 2">
            <a:extLst>
              <a:ext uri="{FF2B5EF4-FFF2-40B4-BE49-F238E27FC236}">
                <a16:creationId xmlns:a16="http://schemas.microsoft.com/office/drawing/2014/main" id="{C257DB5E-F440-5DF9-F62E-8023DE61CD61}"/>
              </a:ext>
            </a:extLst>
          </p:cNvPr>
          <p:cNvSpPr>
            <a:spLocks noGrp="1"/>
          </p:cNvSpPr>
          <p:nvPr>
            <p:ph type="subTitle" idx="1"/>
          </p:nvPr>
        </p:nvSpPr>
        <p:spPr>
          <a:xfrm>
            <a:off x="253983" y="853984"/>
            <a:ext cx="1881884" cy="2310321"/>
          </a:xfrm>
        </p:spPr>
        <p:txBody>
          <a:bodyPr anchor="ctr">
            <a:normAutofit/>
          </a:bodyPr>
          <a:lstStyle/>
          <a:p>
            <a:pPr algn="r"/>
            <a:r>
              <a:rPr lang="en-US" dirty="0">
                <a:latin typeface="Calibri" panose="020F0502020204030204" pitchFamily="34" charset="0"/>
                <a:cs typeface="Calibri" panose="020F0502020204030204" pitchFamily="34" charset="0"/>
              </a:rPr>
              <a:t>LOGISTIC REGRESSION </a:t>
            </a:r>
          </a:p>
          <a:p>
            <a:pPr algn="r"/>
            <a:r>
              <a:rPr lang="en-US" dirty="0">
                <a:latin typeface="Calibri" panose="020F0502020204030204" pitchFamily="34" charset="0"/>
                <a:cs typeface="Calibri" panose="020F0502020204030204" pitchFamily="34" charset="0"/>
              </a:rPr>
              <a:t>ADJUSTING THRESHOLD</a:t>
            </a:r>
          </a:p>
        </p:txBody>
      </p:sp>
      <p:pic>
        <p:nvPicPr>
          <p:cNvPr id="5124" name="Picture 4">
            <a:extLst>
              <a:ext uri="{FF2B5EF4-FFF2-40B4-BE49-F238E27FC236}">
                <a16:creationId xmlns:a16="http://schemas.microsoft.com/office/drawing/2014/main" id="{55C80DA9-62C5-0D38-7993-F9866171C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783" y="771481"/>
            <a:ext cx="5903843" cy="5385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27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42" presetClass="entr" presetSubtype="0" fill="hold" grpId="1" nodeType="withEffect">
                                  <p:stCondLst>
                                    <p:cond delay="250"/>
                                  </p:stCondLst>
                                  <p:iterate type="lt">
                                    <p:tmPct val="10000"/>
                                  </p:iterate>
                                  <p:childTnLst>
                                    <p:set>
                                      <p:cBhvr>
                                        <p:cTn id="15" dur="1" fill="hold">
                                          <p:stCondLst>
                                            <p:cond delay="0"/>
                                          </p:stCondLst>
                                        </p:cTn>
                                        <p:tgtEl>
                                          <p:spTgt spid="3"/>
                                        </p:tgtEl>
                                        <p:attrNameLst>
                                          <p:attrName>style.visibility</p:attrName>
                                        </p:attrNameLst>
                                      </p:cBhvr>
                                      <p:to>
                                        <p:strVal val="visible"/>
                                      </p:to>
                                    </p:set>
                                    <p:animEffect transition="in" filter="fade">
                                      <p:cBhvr>
                                        <p:cTn id="16" dur="250"/>
                                        <p:tgtEl>
                                          <p:spTgt spid="3"/>
                                        </p:tgtEl>
                                      </p:cBhvr>
                                    </p:animEffect>
                                    <p:anim calcmode="lin" valueType="num">
                                      <p:cBhvr>
                                        <p:cTn id="17" dur="250" fill="hold"/>
                                        <p:tgtEl>
                                          <p:spTgt spid="3"/>
                                        </p:tgtEl>
                                        <p:attrNameLst>
                                          <p:attrName>ppt_x</p:attrName>
                                        </p:attrNameLst>
                                      </p:cBhvr>
                                      <p:tavLst>
                                        <p:tav tm="0">
                                          <p:val>
                                            <p:strVal val="#ppt_x"/>
                                          </p:val>
                                        </p:tav>
                                        <p:tav tm="100000">
                                          <p:val>
                                            <p:strVal val="#ppt_x"/>
                                          </p:val>
                                        </p:tav>
                                      </p:tavLst>
                                    </p:anim>
                                    <p:anim calcmode="lin" valueType="num">
                                      <p:cBhvr>
                                        <p:cTn id="18"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C21A4-5853-3957-38F9-E184886031C6}"/>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D9CF3D3B-4BF7-7279-FF8E-9BEC413F04B7}"/>
              </a:ext>
            </a:extLst>
          </p:cNvPr>
          <p:cNvPicPr>
            <a:picLocks noChangeAspect="1"/>
          </p:cNvPicPr>
          <p:nvPr/>
        </p:nvPicPr>
        <p:blipFill>
          <a:blip r:embed="rId3"/>
          <a:srcRect l="9091" t="23391"/>
          <a:stretch>
            <a:fillRect/>
          </a:stretch>
        </p:blipFill>
        <p:spPr>
          <a:xfrm>
            <a:off x="4447" y="313377"/>
            <a:ext cx="12191979" cy="6857990"/>
          </a:xfrm>
          <a:prstGeom prst="rect">
            <a:avLst/>
          </a:prstGeom>
        </p:spPr>
      </p:pic>
      <p:sp>
        <p:nvSpPr>
          <p:cNvPr id="2" name="Title 1">
            <a:extLst>
              <a:ext uri="{FF2B5EF4-FFF2-40B4-BE49-F238E27FC236}">
                <a16:creationId xmlns:a16="http://schemas.microsoft.com/office/drawing/2014/main" id="{921BB0E1-7313-80DF-90AE-28881CEF9D44}"/>
              </a:ext>
            </a:extLst>
          </p:cNvPr>
          <p:cNvSpPr>
            <a:spLocks noGrp="1"/>
          </p:cNvSpPr>
          <p:nvPr>
            <p:ph type="ctrTitle"/>
          </p:nvPr>
        </p:nvSpPr>
        <p:spPr>
          <a:xfrm>
            <a:off x="242112" y="438731"/>
            <a:ext cx="6844470" cy="974347"/>
          </a:xfrm>
          <a:ln>
            <a:noFill/>
          </a:ln>
        </p:spPr>
        <p:txBody>
          <a:bodyPr anchor="ctr">
            <a:normAutofit/>
          </a:bodyPr>
          <a:lstStyle/>
          <a:p>
            <a:pPr>
              <a:lnSpc>
                <a:spcPct val="90000"/>
              </a:lnSpc>
            </a:pPr>
            <a:r>
              <a:rPr lang="en-US" sz="3200" dirty="0">
                <a:solidFill>
                  <a:srgbClr val="FFFFFF"/>
                </a:solidFill>
              </a:rPr>
              <a:t>LOGISTIC REGRESSION simple Example</a:t>
            </a:r>
            <a:endParaRPr lang="en-US" sz="3100" dirty="0">
              <a:solidFill>
                <a:schemeClr val="bg1"/>
              </a:solidFill>
            </a:endParaRPr>
          </a:p>
        </p:txBody>
      </p:sp>
      <p:sp>
        <p:nvSpPr>
          <p:cNvPr id="3" name="Subtitle 2">
            <a:extLst>
              <a:ext uri="{FF2B5EF4-FFF2-40B4-BE49-F238E27FC236}">
                <a16:creationId xmlns:a16="http://schemas.microsoft.com/office/drawing/2014/main" id="{15B4C5D4-1B4C-4922-0A85-0F83F03BBF6C}"/>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2050" name="Picture 2">
            <a:extLst>
              <a:ext uri="{FF2B5EF4-FFF2-40B4-BE49-F238E27FC236}">
                <a16:creationId xmlns:a16="http://schemas.microsoft.com/office/drawing/2014/main" id="{BE74A701-22BF-27AA-915B-6719468860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357" y="1160666"/>
            <a:ext cx="4850063" cy="46984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9C4C77B-0C13-55EF-5F0C-02D278F0CD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997" y="1160666"/>
            <a:ext cx="4850063" cy="4698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24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8E642C-FA35-C1F3-3B36-F799CAC55816}"/>
            </a:ext>
          </a:extLst>
        </p:cNvPr>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D6E46245-A7D4-82DC-297C-4D27179F2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922" r="1856"/>
          <a:stretch>
            <a:fillRect/>
          </a:stretch>
        </p:blipFill>
        <p:spPr bwMode="auto">
          <a:xfrm>
            <a:off x="112111" y="89919"/>
            <a:ext cx="11967777" cy="6731876"/>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6F2FF5-23AF-9817-9748-E1117D416F5E}"/>
              </a:ext>
            </a:extLst>
          </p:cNvPr>
          <p:cNvSpPr>
            <a:spLocks noGrp="1"/>
          </p:cNvSpPr>
          <p:nvPr>
            <p:ph type="ctrTitle"/>
          </p:nvPr>
        </p:nvSpPr>
        <p:spPr>
          <a:xfrm>
            <a:off x="493881" y="716750"/>
            <a:ext cx="5067300" cy="3497042"/>
          </a:xfrm>
        </p:spPr>
        <p:txBody>
          <a:bodyPr anchor="t">
            <a:normAutofit/>
          </a:bodyPr>
          <a:lstStyle/>
          <a:p>
            <a:r>
              <a:rPr lang="en-US" sz="2800" dirty="0">
                <a:solidFill>
                  <a:srgbClr val="FFFFFF"/>
                </a:solidFill>
              </a:rPr>
              <a:t>DECISION TREE simple Example</a:t>
            </a:r>
          </a:p>
        </p:txBody>
      </p:sp>
      <p:cxnSp>
        <p:nvCxnSpPr>
          <p:cNvPr id="1037" name="Straight Connector 103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9791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CC710-9E3F-FC92-3620-17386BEC39C6}"/>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18BB5874-83FC-AF1B-25BE-E39D7CFD39D8}"/>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59E7957E-9B41-3F8C-32FA-1CCC3FEE66B4}"/>
              </a:ext>
            </a:extLst>
          </p:cNvPr>
          <p:cNvSpPr>
            <a:spLocks noGrp="1"/>
          </p:cNvSpPr>
          <p:nvPr>
            <p:ph type="ctrTitle"/>
          </p:nvPr>
        </p:nvSpPr>
        <p:spPr>
          <a:xfrm>
            <a:off x="242112" y="438731"/>
            <a:ext cx="6211240" cy="974347"/>
          </a:xfrm>
          <a:ln>
            <a:noFill/>
          </a:ln>
        </p:spPr>
        <p:txBody>
          <a:bodyPr anchor="ctr">
            <a:normAutofit/>
          </a:bodyPr>
          <a:lstStyle/>
          <a:p>
            <a:pPr>
              <a:lnSpc>
                <a:spcPct val="90000"/>
              </a:lnSpc>
            </a:pPr>
            <a:r>
              <a:rPr lang="en-US" sz="3200" dirty="0">
                <a:solidFill>
                  <a:srgbClr val="FFFFFF"/>
                </a:solidFill>
              </a:rPr>
              <a:t>DECISION TREE simple Example</a:t>
            </a:r>
            <a:endParaRPr lang="en-US" sz="3100" dirty="0">
              <a:solidFill>
                <a:schemeClr val="bg1"/>
              </a:solidFill>
            </a:endParaRPr>
          </a:p>
        </p:txBody>
      </p:sp>
      <p:sp>
        <p:nvSpPr>
          <p:cNvPr id="3" name="Subtitle 2">
            <a:extLst>
              <a:ext uri="{FF2B5EF4-FFF2-40B4-BE49-F238E27FC236}">
                <a16:creationId xmlns:a16="http://schemas.microsoft.com/office/drawing/2014/main" id="{D22E9227-AF66-E16C-7AD7-6B6E1A756257}"/>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5" name="Picture 4">
            <a:extLst>
              <a:ext uri="{FF2B5EF4-FFF2-40B4-BE49-F238E27FC236}">
                <a16:creationId xmlns:a16="http://schemas.microsoft.com/office/drawing/2014/main" id="{B53FE8B0-4529-9789-9C22-4D7384584805}"/>
              </a:ext>
            </a:extLst>
          </p:cNvPr>
          <p:cNvPicPr>
            <a:picLocks noChangeAspect="1"/>
          </p:cNvPicPr>
          <p:nvPr/>
        </p:nvPicPr>
        <p:blipFill>
          <a:blip r:embed="rId4"/>
          <a:stretch>
            <a:fillRect/>
          </a:stretch>
        </p:blipFill>
        <p:spPr>
          <a:xfrm>
            <a:off x="366926" y="1194048"/>
            <a:ext cx="4402782" cy="5515064"/>
          </a:xfrm>
          <a:prstGeom prst="rect">
            <a:avLst/>
          </a:prstGeom>
        </p:spPr>
      </p:pic>
      <p:pic>
        <p:nvPicPr>
          <p:cNvPr id="6" name="Picture 5">
            <a:extLst>
              <a:ext uri="{FF2B5EF4-FFF2-40B4-BE49-F238E27FC236}">
                <a16:creationId xmlns:a16="http://schemas.microsoft.com/office/drawing/2014/main" id="{775F26EE-DB9C-858F-EA27-3BF9B29821EF}"/>
              </a:ext>
            </a:extLst>
          </p:cNvPr>
          <p:cNvPicPr>
            <a:picLocks noChangeAspect="1"/>
          </p:cNvPicPr>
          <p:nvPr/>
        </p:nvPicPr>
        <p:blipFill>
          <a:blip r:embed="rId5"/>
          <a:stretch>
            <a:fillRect/>
          </a:stretch>
        </p:blipFill>
        <p:spPr>
          <a:xfrm>
            <a:off x="5136613" y="1134894"/>
            <a:ext cx="4592738" cy="2583415"/>
          </a:xfrm>
          <a:prstGeom prst="rect">
            <a:avLst/>
          </a:prstGeom>
        </p:spPr>
      </p:pic>
    </p:spTree>
    <p:extLst>
      <p:ext uri="{BB962C8B-B14F-4D97-AF65-F5344CB8AC3E}">
        <p14:creationId xmlns:p14="http://schemas.microsoft.com/office/powerpoint/2010/main" val="158638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2DEF-4FC7-E84C-B42B-3C70AB0F3EBD}"/>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C4B676DD-700D-BCE8-8965-11923234E1B0}"/>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31BC0157-4B86-0AAC-86EE-561587B4092C}"/>
              </a:ext>
            </a:extLst>
          </p:cNvPr>
          <p:cNvSpPr>
            <a:spLocks noGrp="1"/>
          </p:cNvSpPr>
          <p:nvPr>
            <p:ph type="ctrTitle"/>
          </p:nvPr>
        </p:nvSpPr>
        <p:spPr>
          <a:xfrm>
            <a:off x="242111" y="438731"/>
            <a:ext cx="10583543" cy="974347"/>
          </a:xfrm>
          <a:ln>
            <a:noFill/>
          </a:ln>
        </p:spPr>
        <p:txBody>
          <a:bodyPr anchor="ctr">
            <a:normAutofit/>
          </a:bodyPr>
          <a:lstStyle/>
          <a:p>
            <a:pPr>
              <a:lnSpc>
                <a:spcPct val="90000"/>
              </a:lnSpc>
            </a:pPr>
            <a:r>
              <a:rPr lang="en-US" sz="3200" dirty="0">
                <a:solidFill>
                  <a:srgbClr val="FFFFFF"/>
                </a:solidFill>
              </a:rPr>
              <a:t>DECISION TREE simple Example -</a:t>
            </a:r>
            <a:r>
              <a:rPr lang="en-US" sz="3100" dirty="0">
                <a:solidFill>
                  <a:schemeClr val="bg1"/>
                </a:solidFill>
              </a:rPr>
              <a:t> Model Evaluation</a:t>
            </a:r>
          </a:p>
        </p:txBody>
      </p:sp>
      <p:sp>
        <p:nvSpPr>
          <p:cNvPr id="3" name="Subtitle 2">
            <a:extLst>
              <a:ext uri="{FF2B5EF4-FFF2-40B4-BE49-F238E27FC236}">
                <a16:creationId xmlns:a16="http://schemas.microsoft.com/office/drawing/2014/main" id="{D77F41E6-FD86-D52C-B9F8-28E081F65FB6}"/>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3074" name="Picture 2">
            <a:extLst>
              <a:ext uri="{FF2B5EF4-FFF2-40B4-BE49-F238E27FC236}">
                <a16:creationId xmlns:a16="http://schemas.microsoft.com/office/drawing/2014/main" id="{9C681E22-B5F5-E7A6-C1E8-DCF62C4E85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111" y="1198604"/>
            <a:ext cx="5466439" cy="438664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C869EAC-5CF2-D5F0-3DB8-BED6F0D53C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198603"/>
            <a:ext cx="5466439" cy="43866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31CE9E0-8FA8-ADBF-F13C-17EA1F5A1989}"/>
              </a:ext>
            </a:extLst>
          </p:cNvPr>
          <p:cNvSpPr txBox="1"/>
          <p:nvPr/>
        </p:nvSpPr>
        <p:spPr>
          <a:xfrm>
            <a:off x="674226" y="5883459"/>
            <a:ext cx="6186668" cy="923330"/>
          </a:xfrm>
          <a:prstGeom prst="rect">
            <a:avLst/>
          </a:prstGeom>
          <a:noFill/>
        </p:spPr>
        <p:txBody>
          <a:bodyPr wrap="square">
            <a:spAutoFit/>
          </a:bodyPr>
          <a:lstStyle/>
          <a:p>
            <a:r>
              <a:rPr lang="en-US" dirty="0">
                <a:solidFill>
                  <a:schemeClr val="bg1"/>
                </a:solidFill>
                <a:latin typeface="Calibri" panose="020F0502020204030204" pitchFamily="34" charset="0"/>
                <a:cs typeface="Calibri" panose="020F0502020204030204" pitchFamily="34" charset="0"/>
              </a:rPr>
              <a:t>This model can catch some defaulters, but precision is low — meaning many good customers get falsely flagged, which could hurt business.</a:t>
            </a:r>
          </a:p>
        </p:txBody>
      </p:sp>
    </p:spTree>
    <p:extLst>
      <p:ext uri="{BB962C8B-B14F-4D97-AF65-F5344CB8AC3E}">
        <p14:creationId xmlns:p14="http://schemas.microsoft.com/office/powerpoint/2010/main" val="1286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05ED-9A91-0080-88AA-BE14A9DC2747}"/>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C84534DF-4A2B-967F-5A4E-C7F66DC1EF76}"/>
              </a:ext>
            </a:extLst>
          </p:cNvPr>
          <p:cNvPicPr>
            <a:picLocks noChangeAspect="1"/>
          </p:cNvPicPr>
          <p:nvPr/>
        </p:nvPicPr>
        <p:blipFill>
          <a:blip r:embed="rId3"/>
          <a:srcRect l="9091" t="23391"/>
          <a:stretch>
            <a:fillRect/>
          </a:stretch>
        </p:blipFill>
        <p:spPr>
          <a:xfrm>
            <a:off x="21" y="368827"/>
            <a:ext cx="12191979" cy="6857990"/>
          </a:xfrm>
          <a:prstGeom prst="rect">
            <a:avLst/>
          </a:prstGeom>
        </p:spPr>
      </p:pic>
      <p:sp>
        <p:nvSpPr>
          <p:cNvPr id="2" name="Title 1">
            <a:extLst>
              <a:ext uri="{FF2B5EF4-FFF2-40B4-BE49-F238E27FC236}">
                <a16:creationId xmlns:a16="http://schemas.microsoft.com/office/drawing/2014/main" id="{8406FD65-3C9C-7239-41EE-A50C58682962}"/>
              </a:ext>
            </a:extLst>
          </p:cNvPr>
          <p:cNvSpPr>
            <a:spLocks noGrp="1"/>
          </p:cNvSpPr>
          <p:nvPr>
            <p:ph type="ctrTitle"/>
          </p:nvPr>
        </p:nvSpPr>
        <p:spPr>
          <a:xfrm>
            <a:off x="242112" y="438731"/>
            <a:ext cx="6241340" cy="974347"/>
          </a:xfrm>
          <a:ln>
            <a:noFill/>
          </a:ln>
        </p:spPr>
        <p:txBody>
          <a:bodyPr anchor="ctr">
            <a:normAutofit/>
          </a:bodyPr>
          <a:lstStyle/>
          <a:p>
            <a:pPr>
              <a:lnSpc>
                <a:spcPct val="90000"/>
              </a:lnSpc>
            </a:pPr>
            <a:r>
              <a:rPr lang="en-US" sz="3100" dirty="0">
                <a:solidFill>
                  <a:schemeClr val="bg1"/>
                </a:solidFill>
              </a:rPr>
              <a:t>Best Models Evaluation</a:t>
            </a:r>
          </a:p>
        </p:txBody>
      </p:sp>
      <p:sp>
        <p:nvSpPr>
          <p:cNvPr id="3" name="Subtitle 2">
            <a:extLst>
              <a:ext uri="{FF2B5EF4-FFF2-40B4-BE49-F238E27FC236}">
                <a16:creationId xmlns:a16="http://schemas.microsoft.com/office/drawing/2014/main" id="{E3E104F0-C4CB-69E5-4E7D-CEA8F9F25DBA}"/>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sp>
        <p:nvSpPr>
          <p:cNvPr id="7" name="TextBox 6">
            <a:extLst>
              <a:ext uri="{FF2B5EF4-FFF2-40B4-BE49-F238E27FC236}">
                <a16:creationId xmlns:a16="http://schemas.microsoft.com/office/drawing/2014/main" id="{721549C8-1EAA-32CA-4E61-52004CDE9D9C}"/>
              </a:ext>
            </a:extLst>
          </p:cNvPr>
          <p:cNvSpPr txBox="1"/>
          <p:nvPr/>
        </p:nvSpPr>
        <p:spPr>
          <a:xfrm>
            <a:off x="698758" y="4516147"/>
            <a:ext cx="6676075" cy="2862322"/>
          </a:xfrm>
          <a:prstGeom prst="rect">
            <a:avLst/>
          </a:prstGeom>
          <a:noFill/>
        </p:spPr>
        <p:txBody>
          <a:bodyPr wrap="square" rtlCol="0">
            <a:spAutoFit/>
          </a:bodyPr>
          <a:lstStyle/>
          <a:p>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Detected defaults (True Positives):</a:t>
            </a:r>
            <a:r>
              <a:rPr lang="en-US" sz="2000" dirty="0">
                <a:solidFill>
                  <a:schemeClr val="bg1"/>
                </a:solidFill>
                <a:latin typeface="Calibri" panose="020F0502020204030204" pitchFamily="34" charset="0"/>
                <a:cs typeface="Calibri" panose="020F0502020204030204" pitchFamily="34" charset="0"/>
              </a:rPr>
              <a:t> 77 out of 259 ≈ </a:t>
            </a:r>
            <a:r>
              <a:rPr lang="en-US" sz="2000" b="1" dirty="0">
                <a:solidFill>
                  <a:schemeClr val="bg1"/>
                </a:solidFill>
                <a:latin typeface="Calibri" panose="020F0502020204030204" pitchFamily="34" charset="0"/>
                <a:cs typeface="Calibri" panose="020F0502020204030204" pitchFamily="34" charset="0"/>
              </a:rPr>
              <a:t>30% recall</a:t>
            </a:r>
            <a:endParaRPr lang="en-US" sz="2000" dirty="0">
              <a:solidFill>
                <a:schemeClr val="bg1"/>
              </a:solidFill>
              <a:latin typeface="Calibri" panose="020F0502020204030204" pitchFamily="34" charset="0"/>
              <a:cs typeface="Calibri" panose="020F0502020204030204" pitchFamily="34" charset="0"/>
            </a:endParaRPr>
          </a:p>
          <a:p>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Missed defaults (False Negatives = bad loans approved):</a:t>
            </a:r>
            <a:r>
              <a:rPr lang="en-US" sz="2000" dirty="0">
                <a:solidFill>
                  <a:schemeClr val="bg1"/>
                </a:solidFill>
                <a:latin typeface="Calibri" panose="020F0502020204030204" pitchFamily="34" charset="0"/>
                <a:cs typeface="Calibri" panose="020F0502020204030204" pitchFamily="34" charset="0"/>
              </a:rPr>
              <a:t> 182 ≈ </a:t>
            </a:r>
            <a:r>
              <a:rPr lang="en-US" sz="2000" b="1" dirty="0">
                <a:solidFill>
                  <a:schemeClr val="bg1"/>
                </a:solidFill>
                <a:latin typeface="Calibri" panose="020F0502020204030204" pitchFamily="34" charset="0"/>
                <a:cs typeface="Calibri" panose="020F0502020204030204" pitchFamily="34" charset="0"/>
              </a:rPr>
              <a:t>70% of actual defaults</a:t>
            </a:r>
            <a:endParaRPr lang="en-US" sz="2000" dirty="0">
              <a:solidFill>
                <a:schemeClr val="bg1"/>
              </a:solidFill>
              <a:latin typeface="Calibri" panose="020F0502020204030204" pitchFamily="34" charset="0"/>
              <a:cs typeface="Calibri" panose="020F0502020204030204" pitchFamily="34" charset="0"/>
            </a:endParaRPr>
          </a:p>
          <a:p>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Safe customers falsely flagged as risky (False Positives):</a:t>
            </a:r>
            <a:r>
              <a:rPr lang="en-US" sz="2000" dirty="0">
                <a:solidFill>
                  <a:schemeClr val="bg1"/>
                </a:solidFill>
                <a:latin typeface="Calibri" panose="020F0502020204030204" pitchFamily="34" charset="0"/>
                <a:cs typeface="Calibri" panose="020F0502020204030204" pitchFamily="34" charset="0"/>
              </a:rPr>
              <a:t> 218 ≈ </a:t>
            </a:r>
            <a:r>
              <a:rPr lang="en-US" sz="2000" b="1" dirty="0">
                <a:solidFill>
                  <a:schemeClr val="bg1"/>
                </a:solidFill>
                <a:latin typeface="Calibri" panose="020F0502020204030204" pitchFamily="34" charset="0"/>
                <a:cs typeface="Calibri" panose="020F0502020204030204" pitchFamily="34" charset="0"/>
              </a:rPr>
              <a:t>13% of safe customers</a:t>
            </a:r>
            <a:endParaRPr lang="en-US" sz="2000" dirty="0">
              <a:solidFill>
                <a:schemeClr val="bg1"/>
              </a:solidFill>
              <a:latin typeface="Calibri" panose="020F0502020204030204" pitchFamily="34" charset="0"/>
              <a:cs typeface="Calibri" panose="020F0502020204030204" pitchFamily="34" charset="0"/>
            </a:endParaRPr>
          </a:p>
          <a:p>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Correctly approved safe loans (True Negatives):</a:t>
            </a:r>
            <a:r>
              <a:rPr lang="en-US" sz="2000" dirty="0">
                <a:solidFill>
                  <a:schemeClr val="bg1"/>
                </a:solidFill>
                <a:latin typeface="Calibri" panose="020F0502020204030204" pitchFamily="34" charset="0"/>
                <a:cs typeface="Calibri" panose="020F0502020204030204" pitchFamily="34" charset="0"/>
              </a:rPr>
              <a:t> 1,523 out of 1,741 ≈ </a:t>
            </a:r>
            <a:r>
              <a:rPr lang="en-US" sz="2000" b="1" dirty="0">
                <a:solidFill>
                  <a:schemeClr val="bg1"/>
                </a:solidFill>
                <a:latin typeface="Calibri" panose="020F0502020204030204" pitchFamily="34" charset="0"/>
                <a:cs typeface="Calibri" panose="020F0502020204030204" pitchFamily="34" charset="0"/>
              </a:rPr>
              <a:t>87% specificity</a:t>
            </a:r>
            <a:endParaRPr lang="en-US" sz="2000"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2000" b="1" dirty="0">
              <a:solidFill>
                <a:schemeClr val="bg1"/>
              </a:solidFill>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B3B6B09B-91C9-773F-743F-C139D6B61E5B}"/>
              </a:ext>
            </a:extLst>
          </p:cNvPr>
          <p:cNvPicPr>
            <a:picLocks noChangeAspect="1"/>
          </p:cNvPicPr>
          <p:nvPr/>
        </p:nvPicPr>
        <p:blipFill>
          <a:blip r:embed="rId4"/>
          <a:stretch>
            <a:fillRect/>
          </a:stretch>
        </p:blipFill>
        <p:spPr>
          <a:xfrm>
            <a:off x="318328" y="1203366"/>
            <a:ext cx="4303368" cy="3312781"/>
          </a:xfrm>
          <a:prstGeom prst="rect">
            <a:avLst/>
          </a:prstGeom>
        </p:spPr>
      </p:pic>
      <p:pic>
        <p:nvPicPr>
          <p:cNvPr id="12" name="Picture 11">
            <a:extLst>
              <a:ext uri="{FF2B5EF4-FFF2-40B4-BE49-F238E27FC236}">
                <a16:creationId xmlns:a16="http://schemas.microsoft.com/office/drawing/2014/main" id="{84AA17EE-4ABF-AF05-B029-115B661562E1}"/>
              </a:ext>
            </a:extLst>
          </p:cNvPr>
          <p:cNvPicPr>
            <a:picLocks noChangeAspect="1"/>
          </p:cNvPicPr>
          <p:nvPr/>
        </p:nvPicPr>
        <p:blipFill>
          <a:blip r:embed="rId5"/>
          <a:stretch>
            <a:fillRect/>
          </a:stretch>
        </p:blipFill>
        <p:spPr>
          <a:xfrm>
            <a:off x="8884663" y="497062"/>
            <a:ext cx="2825477" cy="5992111"/>
          </a:xfrm>
          <a:prstGeom prst="rect">
            <a:avLst/>
          </a:prstGeom>
        </p:spPr>
      </p:pic>
    </p:spTree>
    <p:extLst>
      <p:ext uri="{BB962C8B-B14F-4D97-AF65-F5344CB8AC3E}">
        <p14:creationId xmlns:p14="http://schemas.microsoft.com/office/powerpoint/2010/main" val="215622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873FA-C879-02AF-5625-8282319161BE}"/>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CCFABE4F-FADE-33DC-4581-C7CBF2FCC37C}"/>
              </a:ext>
            </a:extLst>
          </p:cNvPr>
          <p:cNvPicPr>
            <a:picLocks noChangeAspect="1"/>
          </p:cNvPicPr>
          <p:nvPr/>
        </p:nvPicPr>
        <p:blipFill>
          <a:blip r:embed="rId3"/>
          <a:srcRect l="9091" t="23391"/>
          <a:stretch>
            <a:fillRect/>
          </a:stretch>
        </p:blipFill>
        <p:spPr>
          <a:xfrm>
            <a:off x="21" y="313377"/>
            <a:ext cx="12191979" cy="6857990"/>
          </a:xfrm>
          <a:prstGeom prst="rect">
            <a:avLst/>
          </a:prstGeom>
        </p:spPr>
      </p:pic>
      <p:sp>
        <p:nvSpPr>
          <p:cNvPr id="2" name="Title 1">
            <a:extLst>
              <a:ext uri="{FF2B5EF4-FFF2-40B4-BE49-F238E27FC236}">
                <a16:creationId xmlns:a16="http://schemas.microsoft.com/office/drawing/2014/main" id="{872B2284-A7AF-0729-2691-838DCA3FB988}"/>
              </a:ext>
            </a:extLst>
          </p:cNvPr>
          <p:cNvSpPr>
            <a:spLocks noGrp="1"/>
          </p:cNvSpPr>
          <p:nvPr>
            <p:ph type="ctrTitle"/>
          </p:nvPr>
        </p:nvSpPr>
        <p:spPr>
          <a:xfrm>
            <a:off x="242112" y="438731"/>
            <a:ext cx="10174634" cy="974347"/>
          </a:xfrm>
          <a:ln>
            <a:noFill/>
          </a:ln>
        </p:spPr>
        <p:txBody>
          <a:bodyPr anchor="ctr">
            <a:normAutofit/>
          </a:bodyPr>
          <a:lstStyle/>
          <a:p>
            <a:pPr>
              <a:lnSpc>
                <a:spcPct val="90000"/>
              </a:lnSpc>
            </a:pPr>
            <a:r>
              <a:rPr lang="en-US" sz="3100" dirty="0">
                <a:solidFill>
                  <a:schemeClr val="bg1"/>
                </a:solidFill>
              </a:rPr>
              <a:t>Best Models Evaluation – BEST DECISION  TREE</a:t>
            </a:r>
          </a:p>
        </p:txBody>
      </p:sp>
      <p:sp>
        <p:nvSpPr>
          <p:cNvPr id="3" name="Subtitle 2">
            <a:extLst>
              <a:ext uri="{FF2B5EF4-FFF2-40B4-BE49-F238E27FC236}">
                <a16:creationId xmlns:a16="http://schemas.microsoft.com/office/drawing/2014/main" id="{3F12AD3B-7A88-AB85-5EFF-64E0AD9C5026}"/>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pic>
        <p:nvPicPr>
          <p:cNvPr id="7170" name="Picture 2">
            <a:extLst>
              <a:ext uri="{FF2B5EF4-FFF2-40B4-BE49-F238E27FC236}">
                <a16:creationId xmlns:a16="http://schemas.microsoft.com/office/drawing/2014/main" id="{864164AC-76EA-A5CB-A20D-B172D8BBD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811" y="1295623"/>
            <a:ext cx="4670495" cy="45245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E8E4DE1-D6AF-C333-C592-A3D3189A97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5354" y="1281029"/>
            <a:ext cx="4670495" cy="4524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34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83AFC8-04C0-DED3-4A16-7C6CFA87F3EF}"/>
            </a:ext>
          </a:extLst>
        </p:cNvPr>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95C1AB-19EC-F1D1-7DCD-1E8A8230CC81}"/>
              </a:ext>
            </a:extLst>
          </p:cNvPr>
          <p:cNvSpPr>
            <a:spLocks noGrp="1"/>
          </p:cNvSpPr>
          <p:nvPr>
            <p:ph type="ctrTitle"/>
          </p:nvPr>
        </p:nvSpPr>
        <p:spPr>
          <a:xfrm>
            <a:off x="703400" y="908651"/>
            <a:ext cx="4937004" cy="4058682"/>
          </a:xfrm>
        </p:spPr>
        <p:txBody>
          <a:bodyPr anchor="t">
            <a:normAutofit/>
          </a:bodyPr>
          <a:lstStyle/>
          <a:p>
            <a:pPr>
              <a:lnSpc>
                <a:spcPct val="90000"/>
              </a:lnSpc>
            </a:pPr>
            <a:r>
              <a:rPr lang="en-US" sz="5500" dirty="0"/>
              <a:t>Choosing Threshold– BEST DECISION TREE</a:t>
            </a:r>
          </a:p>
        </p:txBody>
      </p:sp>
      <p:sp>
        <p:nvSpPr>
          <p:cNvPr id="3" name="Subtitle 2">
            <a:extLst>
              <a:ext uri="{FF2B5EF4-FFF2-40B4-BE49-F238E27FC236}">
                <a16:creationId xmlns:a16="http://schemas.microsoft.com/office/drawing/2014/main" id="{2154F0D4-6A7B-D8D4-DE7C-8B5A95311E5E}"/>
              </a:ext>
            </a:extLst>
          </p:cNvPr>
          <p:cNvSpPr>
            <a:spLocks noGrp="1"/>
          </p:cNvSpPr>
          <p:nvPr>
            <p:ph type="subTitle" idx="1"/>
          </p:nvPr>
        </p:nvSpPr>
        <p:spPr>
          <a:xfrm>
            <a:off x="703400" y="5103862"/>
            <a:ext cx="4172757" cy="845487"/>
          </a:xfrm>
        </p:spPr>
        <p:txBody>
          <a:bodyPr anchor="b">
            <a:normAutofit/>
          </a:bodyPr>
          <a:lstStyle/>
          <a:p>
            <a:endParaRPr lang="en-US"/>
          </a:p>
        </p:txBody>
      </p:sp>
      <p:cxnSp>
        <p:nvCxnSpPr>
          <p:cNvPr id="9227" name="Straight Connector 922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9220" name="Picture 4">
            <a:extLst>
              <a:ext uri="{FF2B5EF4-FFF2-40B4-BE49-F238E27FC236}">
                <a16:creationId xmlns:a16="http://schemas.microsoft.com/office/drawing/2014/main" id="{990FE971-E1D7-7C44-C62F-1667FD55B4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879" r="8445" b="-1"/>
          <a:stretch>
            <a:fillRect/>
          </a:stretch>
        </p:blipFill>
        <p:spPr bwMode="auto">
          <a:xfrm>
            <a:off x="6096000" y="10"/>
            <a:ext cx="6095999"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20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2A82-664F-62C4-0BC1-9F19D779284C}"/>
            </a:ext>
          </a:extLst>
        </p:cNvPr>
        <p:cNvGrpSpPr/>
        <p:nvPr/>
      </p:nvGrpSpPr>
      <p:grpSpPr>
        <a:xfrm>
          <a:off x="0" y="0"/>
          <a:ext cx="0" cy="0"/>
          <a:chOff x="0" y="0"/>
          <a:chExt cx="0" cy="0"/>
        </a:xfrm>
      </p:grpSpPr>
      <p:pic>
        <p:nvPicPr>
          <p:cNvPr id="4" name="Picture 3" descr="display stock information on LED screen">
            <a:extLst>
              <a:ext uri="{FF2B5EF4-FFF2-40B4-BE49-F238E27FC236}">
                <a16:creationId xmlns:a16="http://schemas.microsoft.com/office/drawing/2014/main" id="{5938ED81-8D2A-14DF-DB5A-7067E10E9765}"/>
              </a:ext>
            </a:extLst>
          </p:cNvPr>
          <p:cNvPicPr>
            <a:picLocks noChangeAspect="1"/>
          </p:cNvPicPr>
          <p:nvPr/>
        </p:nvPicPr>
        <p:blipFill>
          <a:blip r:embed="rId3"/>
          <a:srcRect l="9091" t="23391"/>
          <a:stretch>
            <a:fillRect/>
          </a:stretch>
        </p:blipFill>
        <p:spPr>
          <a:xfrm>
            <a:off x="21" y="289314"/>
            <a:ext cx="12191979" cy="6857990"/>
          </a:xfrm>
          <a:prstGeom prst="rect">
            <a:avLst/>
          </a:prstGeom>
        </p:spPr>
      </p:pic>
      <p:sp>
        <p:nvSpPr>
          <p:cNvPr id="2" name="Title 1">
            <a:extLst>
              <a:ext uri="{FF2B5EF4-FFF2-40B4-BE49-F238E27FC236}">
                <a16:creationId xmlns:a16="http://schemas.microsoft.com/office/drawing/2014/main" id="{13E48664-246F-37F2-9A14-6311E20CA6CB}"/>
              </a:ext>
            </a:extLst>
          </p:cNvPr>
          <p:cNvSpPr>
            <a:spLocks noGrp="1"/>
          </p:cNvSpPr>
          <p:nvPr>
            <p:ph type="ctrTitle"/>
          </p:nvPr>
        </p:nvSpPr>
        <p:spPr>
          <a:xfrm>
            <a:off x="242112" y="438731"/>
            <a:ext cx="9816288" cy="974347"/>
          </a:xfrm>
          <a:ln>
            <a:noFill/>
          </a:ln>
        </p:spPr>
        <p:txBody>
          <a:bodyPr anchor="ctr">
            <a:normAutofit/>
          </a:bodyPr>
          <a:lstStyle/>
          <a:p>
            <a:pPr>
              <a:lnSpc>
                <a:spcPct val="90000"/>
              </a:lnSpc>
            </a:pPr>
            <a:r>
              <a:rPr lang="en-US" sz="3100" dirty="0">
                <a:solidFill>
                  <a:schemeClr val="bg1"/>
                </a:solidFill>
              </a:rPr>
              <a:t>Best Models Evaluation – RANDOM FORREST</a:t>
            </a:r>
          </a:p>
        </p:txBody>
      </p:sp>
      <p:sp>
        <p:nvSpPr>
          <p:cNvPr id="3" name="Subtitle 2">
            <a:extLst>
              <a:ext uri="{FF2B5EF4-FFF2-40B4-BE49-F238E27FC236}">
                <a16:creationId xmlns:a16="http://schemas.microsoft.com/office/drawing/2014/main" id="{3BBF2178-4DA4-6098-7FCC-554734DD80BC}"/>
              </a:ext>
            </a:extLst>
          </p:cNvPr>
          <p:cNvSpPr>
            <a:spLocks noGrp="1"/>
          </p:cNvSpPr>
          <p:nvPr>
            <p:ph type="subTitle" idx="1"/>
          </p:nvPr>
        </p:nvSpPr>
        <p:spPr>
          <a:xfrm>
            <a:off x="8303108" y="5702710"/>
            <a:ext cx="3633535" cy="974347"/>
          </a:xfrm>
        </p:spPr>
        <p:txBody>
          <a:bodyPr anchor="ctr">
            <a:normAutofit/>
          </a:bodyPr>
          <a:lstStyle/>
          <a:p>
            <a:pPr algn="r"/>
            <a:endParaRPr lang="en-US" sz="1800" dirty="0"/>
          </a:p>
        </p:txBody>
      </p:sp>
      <p:sp>
        <p:nvSpPr>
          <p:cNvPr id="7" name="TextBox 6">
            <a:extLst>
              <a:ext uri="{FF2B5EF4-FFF2-40B4-BE49-F238E27FC236}">
                <a16:creationId xmlns:a16="http://schemas.microsoft.com/office/drawing/2014/main" id="{FBD2FD09-2AFD-7A62-5A25-0992AE2D91D4}"/>
              </a:ext>
            </a:extLst>
          </p:cNvPr>
          <p:cNvSpPr txBox="1"/>
          <p:nvPr/>
        </p:nvSpPr>
        <p:spPr>
          <a:xfrm>
            <a:off x="559102" y="4572208"/>
            <a:ext cx="7054271" cy="2554545"/>
          </a:xfrm>
          <a:prstGeom prst="rect">
            <a:avLst/>
          </a:prstGeom>
          <a:noFill/>
        </p:spPr>
        <p:txBody>
          <a:bodyPr wrap="square" rtlCol="0">
            <a:spAutoFit/>
          </a:bodyPr>
          <a:lstStyle/>
          <a:p>
            <a:pP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Detected defaults (True Positives):</a:t>
            </a:r>
            <a:r>
              <a:rPr lang="en-US" sz="2000" dirty="0">
                <a:solidFill>
                  <a:schemeClr val="bg1"/>
                </a:solidFill>
                <a:latin typeface="Calibri" panose="020F0502020204030204" pitchFamily="34" charset="0"/>
                <a:cs typeface="Calibri" panose="020F0502020204030204" pitchFamily="34" charset="0"/>
              </a:rPr>
              <a:t> 44 out of 259 ≈ </a:t>
            </a:r>
            <a:r>
              <a:rPr lang="en-US" sz="2000" b="1" dirty="0">
                <a:solidFill>
                  <a:schemeClr val="bg1"/>
                </a:solidFill>
                <a:latin typeface="Calibri" panose="020F0502020204030204" pitchFamily="34" charset="0"/>
                <a:cs typeface="Calibri" panose="020F0502020204030204" pitchFamily="34" charset="0"/>
              </a:rPr>
              <a:t>17% recall</a:t>
            </a:r>
            <a:endParaRPr lang="en-US" sz="2000" dirty="0">
              <a:solidFill>
                <a:schemeClr val="bg1"/>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Missed defaults (False Negatives = bad loans approved):</a:t>
            </a:r>
            <a:r>
              <a:rPr lang="en-US" sz="2000" dirty="0">
                <a:solidFill>
                  <a:schemeClr val="bg1"/>
                </a:solidFill>
                <a:latin typeface="Calibri" panose="020F0502020204030204" pitchFamily="34" charset="0"/>
                <a:cs typeface="Calibri" panose="020F0502020204030204" pitchFamily="34" charset="0"/>
              </a:rPr>
              <a:t> 215 ≈ </a:t>
            </a:r>
            <a:r>
              <a:rPr lang="en-US" sz="2000" b="1" dirty="0">
                <a:solidFill>
                  <a:schemeClr val="bg1"/>
                </a:solidFill>
                <a:latin typeface="Calibri" panose="020F0502020204030204" pitchFamily="34" charset="0"/>
                <a:cs typeface="Calibri" panose="020F0502020204030204" pitchFamily="34" charset="0"/>
              </a:rPr>
              <a:t>83% of actual defaults</a:t>
            </a:r>
            <a:endParaRPr lang="en-US" sz="2000" dirty="0">
              <a:solidFill>
                <a:schemeClr val="bg1"/>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Safe customers falsely flagged as risky (False Positives):</a:t>
            </a:r>
            <a:r>
              <a:rPr lang="en-US" sz="2000" dirty="0">
                <a:solidFill>
                  <a:schemeClr val="bg1"/>
                </a:solidFill>
                <a:latin typeface="Calibri" panose="020F0502020204030204" pitchFamily="34" charset="0"/>
                <a:cs typeface="Calibri" panose="020F0502020204030204" pitchFamily="34" charset="0"/>
              </a:rPr>
              <a:t> 13 ≈ </a:t>
            </a:r>
            <a:r>
              <a:rPr lang="en-US" sz="2000" b="1" dirty="0">
                <a:solidFill>
                  <a:schemeClr val="bg1"/>
                </a:solidFill>
                <a:latin typeface="Calibri" panose="020F0502020204030204" pitchFamily="34" charset="0"/>
                <a:cs typeface="Calibri" panose="020F0502020204030204" pitchFamily="34" charset="0"/>
              </a:rPr>
              <a:t>1% of safe loans</a:t>
            </a:r>
            <a:endParaRPr lang="en-US" sz="2000" dirty="0">
              <a:solidFill>
                <a:schemeClr val="bg1"/>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Correctly approved safe loans (True Negatives):</a:t>
            </a:r>
            <a:r>
              <a:rPr lang="en-US" sz="2000" dirty="0">
                <a:solidFill>
                  <a:schemeClr val="bg1"/>
                </a:solidFill>
                <a:latin typeface="Calibri" panose="020F0502020204030204" pitchFamily="34" charset="0"/>
                <a:cs typeface="Calibri" panose="020F0502020204030204" pitchFamily="34" charset="0"/>
              </a:rPr>
              <a:t> 1,728 out of 1,741 ≈ </a:t>
            </a:r>
            <a:r>
              <a:rPr lang="en-US" sz="2000" b="1" dirty="0">
                <a:solidFill>
                  <a:schemeClr val="bg1"/>
                </a:solidFill>
                <a:latin typeface="Calibri" panose="020F0502020204030204" pitchFamily="34" charset="0"/>
                <a:cs typeface="Calibri" panose="020F0502020204030204" pitchFamily="34" charset="0"/>
              </a:rPr>
              <a:t>99% specificity</a:t>
            </a:r>
            <a:endParaRPr lang="en-US" sz="2000" dirty="0">
              <a:solidFill>
                <a:schemeClr val="bg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b="1" dirty="0">
              <a:solidFill>
                <a:schemeClr val="bg1"/>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5F6BF43-7F74-50C4-5BF6-FB986B15A2D0}"/>
              </a:ext>
            </a:extLst>
          </p:cNvPr>
          <p:cNvPicPr>
            <a:picLocks noChangeAspect="1"/>
          </p:cNvPicPr>
          <p:nvPr/>
        </p:nvPicPr>
        <p:blipFill>
          <a:blip r:embed="rId4"/>
          <a:stretch>
            <a:fillRect/>
          </a:stretch>
        </p:blipFill>
        <p:spPr>
          <a:xfrm>
            <a:off x="257584" y="1203365"/>
            <a:ext cx="4993105" cy="3273366"/>
          </a:xfrm>
          <a:prstGeom prst="rect">
            <a:avLst/>
          </a:prstGeom>
        </p:spPr>
      </p:pic>
      <p:pic>
        <p:nvPicPr>
          <p:cNvPr id="6" name="Picture 5">
            <a:extLst>
              <a:ext uri="{FF2B5EF4-FFF2-40B4-BE49-F238E27FC236}">
                <a16:creationId xmlns:a16="http://schemas.microsoft.com/office/drawing/2014/main" id="{ECA72ACB-8661-A61A-126A-12AA96E1FDA4}"/>
              </a:ext>
            </a:extLst>
          </p:cNvPr>
          <p:cNvPicPr>
            <a:picLocks noChangeAspect="1"/>
          </p:cNvPicPr>
          <p:nvPr/>
        </p:nvPicPr>
        <p:blipFill>
          <a:blip r:embed="rId5"/>
          <a:stretch>
            <a:fillRect/>
          </a:stretch>
        </p:blipFill>
        <p:spPr>
          <a:xfrm>
            <a:off x="9007306" y="556222"/>
            <a:ext cx="2794621" cy="6301778"/>
          </a:xfrm>
          <a:prstGeom prst="rect">
            <a:avLst/>
          </a:prstGeom>
        </p:spPr>
      </p:pic>
      <p:pic>
        <p:nvPicPr>
          <p:cNvPr id="11" name="Picture 10">
            <a:extLst>
              <a:ext uri="{FF2B5EF4-FFF2-40B4-BE49-F238E27FC236}">
                <a16:creationId xmlns:a16="http://schemas.microsoft.com/office/drawing/2014/main" id="{273CE88B-D368-55C2-2BB8-10D0FB5CF498}"/>
              </a:ext>
            </a:extLst>
          </p:cNvPr>
          <p:cNvPicPr>
            <a:picLocks noChangeAspect="1"/>
          </p:cNvPicPr>
          <p:nvPr/>
        </p:nvPicPr>
        <p:blipFill>
          <a:blip r:embed="rId6"/>
          <a:stretch>
            <a:fillRect/>
          </a:stretch>
        </p:blipFill>
        <p:spPr>
          <a:xfrm>
            <a:off x="5884526" y="1326942"/>
            <a:ext cx="2654300" cy="1917700"/>
          </a:xfrm>
          <a:prstGeom prst="rect">
            <a:avLst/>
          </a:prstGeom>
        </p:spPr>
      </p:pic>
    </p:spTree>
    <p:extLst>
      <p:ext uri="{BB962C8B-B14F-4D97-AF65-F5344CB8AC3E}">
        <p14:creationId xmlns:p14="http://schemas.microsoft.com/office/powerpoint/2010/main" val="371457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14B8B-E3CF-D9B4-D4E4-FF9A3FC24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39094-AF7F-9088-5F51-40CFECBD25CB}"/>
              </a:ext>
            </a:extLst>
          </p:cNvPr>
          <p:cNvSpPr>
            <a:spLocks noGrp="1"/>
          </p:cNvSpPr>
          <p:nvPr>
            <p:ph type="ctrTitle"/>
          </p:nvPr>
        </p:nvSpPr>
        <p:spPr>
          <a:xfrm>
            <a:off x="703400" y="908651"/>
            <a:ext cx="4937004" cy="4058682"/>
          </a:xfrm>
        </p:spPr>
        <p:txBody>
          <a:bodyPr anchor="t">
            <a:normAutofit/>
          </a:bodyPr>
          <a:lstStyle/>
          <a:p>
            <a:pPr>
              <a:lnSpc>
                <a:spcPct val="90000"/>
              </a:lnSpc>
            </a:pPr>
            <a:r>
              <a:rPr lang="en-US" sz="5500" dirty="0"/>
              <a:t>Choosing Threshold– RANDOM FOREST</a:t>
            </a:r>
          </a:p>
        </p:txBody>
      </p:sp>
      <p:sp>
        <p:nvSpPr>
          <p:cNvPr id="3" name="Subtitle 2">
            <a:extLst>
              <a:ext uri="{FF2B5EF4-FFF2-40B4-BE49-F238E27FC236}">
                <a16:creationId xmlns:a16="http://schemas.microsoft.com/office/drawing/2014/main" id="{0C818983-A935-A3CB-DE6B-3CBE48E4C74D}"/>
              </a:ext>
            </a:extLst>
          </p:cNvPr>
          <p:cNvSpPr>
            <a:spLocks noGrp="1"/>
          </p:cNvSpPr>
          <p:nvPr>
            <p:ph type="subTitle" idx="1"/>
          </p:nvPr>
        </p:nvSpPr>
        <p:spPr>
          <a:xfrm>
            <a:off x="703400" y="5103862"/>
            <a:ext cx="4172757" cy="845487"/>
          </a:xfrm>
        </p:spPr>
        <p:txBody>
          <a:bodyPr anchor="b">
            <a:normAutofit/>
          </a:bodyPr>
          <a:lstStyle/>
          <a:p>
            <a:endParaRPr lang="en-US"/>
          </a:p>
        </p:txBody>
      </p:sp>
      <p:pic>
        <p:nvPicPr>
          <p:cNvPr id="10242" name="Picture 2">
            <a:extLst>
              <a:ext uri="{FF2B5EF4-FFF2-40B4-BE49-F238E27FC236}">
                <a16:creationId xmlns:a16="http://schemas.microsoft.com/office/drawing/2014/main" id="{DF19C8A5-51F1-3626-C653-37A202D8D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211" y="0"/>
            <a:ext cx="6681003" cy="6653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42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47115-C434-1AA9-29A4-D12C0FA24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6D99-B6CC-955E-FAB0-7CC2C19ABE83}"/>
              </a:ext>
            </a:extLst>
          </p:cNvPr>
          <p:cNvSpPr>
            <a:spLocks noGrp="1"/>
          </p:cNvSpPr>
          <p:nvPr>
            <p:ph type="ctrTitle"/>
          </p:nvPr>
        </p:nvSpPr>
        <p:spPr>
          <a:xfrm>
            <a:off x="6284749" y="909638"/>
            <a:ext cx="5201121" cy="1318062"/>
          </a:xfrm>
        </p:spPr>
        <p:txBody>
          <a:bodyPr vert="horz" lIns="91440" tIns="45720" rIns="91440" bIns="45720" rtlCol="0" anchor="t">
            <a:normAutofit/>
          </a:bodyPr>
          <a:lstStyle/>
          <a:p>
            <a:r>
              <a:rPr lang="en-US" sz="4000" dirty="0"/>
              <a:t>PROFITABILITY</a:t>
            </a:r>
          </a:p>
        </p:txBody>
      </p:sp>
      <p:pic>
        <p:nvPicPr>
          <p:cNvPr id="4" name="Picture 3" descr="display stock information on LED screen">
            <a:extLst>
              <a:ext uri="{FF2B5EF4-FFF2-40B4-BE49-F238E27FC236}">
                <a16:creationId xmlns:a16="http://schemas.microsoft.com/office/drawing/2014/main" id="{2FB137D6-5B66-1583-BE81-C8C871A636A4}"/>
              </a:ext>
            </a:extLst>
          </p:cNvPr>
          <p:cNvPicPr>
            <a:picLocks noChangeAspect="1"/>
          </p:cNvPicPr>
          <p:nvPr/>
        </p:nvPicPr>
        <p:blipFill>
          <a:blip r:embed="rId3"/>
          <a:srcRect l="44651" r="-1" b="-1"/>
          <a:stretch>
            <a:fillRect/>
          </a:stretch>
        </p:blipFill>
        <p:spPr>
          <a:xfrm>
            <a:off x="0" y="10"/>
            <a:ext cx="5686740" cy="6857990"/>
          </a:xfrm>
          <a:prstGeom prst="rect">
            <a:avLst/>
          </a:prstGeom>
        </p:spPr>
      </p:pic>
      <p:sp>
        <p:nvSpPr>
          <p:cNvPr id="6" name="TextBox 5">
            <a:extLst>
              <a:ext uri="{FF2B5EF4-FFF2-40B4-BE49-F238E27FC236}">
                <a16:creationId xmlns:a16="http://schemas.microsoft.com/office/drawing/2014/main" id="{2327DF03-A387-ECD8-2D17-672B484CF6E0}"/>
              </a:ext>
            </a:extLst>
          </p:cNvPr>
          <p:cNvSpPr txBox="1"/>
          <p:nvPr/>
        </p:nvSpPr>
        <p:spPr>
          <a:xfrm>
            <a:off x="6284748" y="1879492"/>
            <a:ext cx="5201121" cy="3931920"/>
          </a:xfrm>
          <a:prstGeom prst="rect">
            <a:avLst/>
          </a:prstGeom>
        </p:spPr>
        <p:txBody>
          <a:bodyPr vert="horz" lIns="91440" tIns="45720" rIns="91440" bIns="45720" rtlCol="0">
            <a:normAutofit/>
          </a:bodyPr>
          <a:lstStyle/>
          <a:p>
            <a:pPr marL="342900" indent="-342900">
              <a:lnSpc>
                <a:spcPct val="90000"/>
              </a:lnSpc>
              <a:buFont typeface="Arial" panose="020B0604020202020204" pitchFamily="34" charset="0"/>
              <a:buChar char="•"/>
            </a:pPr>
            <a:endParaRPr lang="en-US" sz="1600" b="0" i="0" u="none" strike="noStrike" dirty="0">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662AA47-284B-5CF8-070D-6A2F0013AC5A}"/>
              </a:ext>
            </a:extLst>
          </p:cNvPr>
          <p:cNvSpPr txBox="1"/>
          <p:nvPr/>
        </p:nvSpPr>
        <p:spPr>
          <a:xfrm>
            <a:off x="5907252" y="1646293"/>
            <a:ext cx="6098058" cy="4524315"/>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The Basic Profitability Threshold</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Assumptions:</a:t>
            </a:r>
          </a:p>
          <a:p>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Average loan size (exposure): </a:t>
            </a:r>
            <a:r>
              <a:rPr lang="en-US" b="1" dirty="0">
                <a:latin typeface="Calibri" panose="020F0502020204030204" pitchFamily="34" charset="0"/>
                <a:cs typeface="Calibri" panose="020F0502020204030204" pitchFamily="34" charset="0"/>
              </a:rPr>
              <a:t>$16k</a:t>
            </a: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Average profit if repaid (net interest &amp; fees): </a:t>
            </a:r>
            <a:r>
              <a:rPr lang="en-US" b="1" dirty="0">
                <a:latin typeface="Calibri" panose="020F0502020204030204" pitchFamily="34" charset="0"/>
                <a:cs typeface="Calibri" panose="020F0502020204030204" pitchFamily="34" charset="0"/>
              </a:rPr>
              <a:t>$2k</a:t>
            </a: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Average loss if default (net of recoveries): </a:t>
            </a:r>
            <a:r>
              <a:rPr lang="en-US" b="1" dirty="0">
                <a:latin typeface="Calibri" panose="020F0502020204030204" pitchFamily="34" charset="0"/>
                <a:cs typeface="Calibri" panose="020F0502020204030204" pitchFamily="34" charset="0"/>
              </a:rPr>
              <a:t>$16k</a:t>
            </a: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Break-even math:</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Profitability requires:</a:t>
            </a: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As long as fewer than </a:t>
            </a:r>
            <a:r>
              <a:rPr lang="en-US" b="1" dirty="0">
                <a:latin typeface="Calibri" panose="020F0502020204030204" pitchFamily="34" charset="0"/>
                <a:cs typeface="Calibri" panose="020F0502020204030204" pitchFamily="34" charset="0"/>
              </a:rPr>
              <a:t>1 in 8 approved borrowers default</a:t>
            </a:r>
            <a:r>
              <a:rPr lang="en-US" dirty="0">
                <a:latin typeface="Calibri" panose="020F0502020204030204" pitchFamily="34" charset="0"/>
                <a:cs typeface="Calibri" panose="020F0502020204030204" pitchFamily="34" charset="0"/>
              </a:rPr>
              <a:t>, the portfolio makes money.</a:t>
            </a:r>
          </a:p>
        </p:txBody>
      </p:sp>
      <p:pic>
        <p:nvPicPr>
          <p:cNvPr id="8344" name="Picture 8343">
            <a:extLst>
              <a:ext uri="{FF2B5EF4-FFF2-40B4-BE49-F238E27FC236}">
                <a16:creationId xmlns:a16="http://schemas.microsoft.com/office/drawing/2014/main" id="{3F1A4AA6-7725-902A-AD21-12A2C021825A}"/>
              </a:ext>
            </a:extLst>
          </p:cNvPr>
          <p:cNvPicPr>
            <a:picLocks noChangeAspect="1"/>
          </p:cNvPicPr>
          <p:nvPr/>
        </p:nvPicPr>
        <p:blipFill>
          <a:blip r:embed="rId4"/>
          <a:stretch>
            <a:fillRect/>
          </a:stretch>
        </p:blipFill>
        <p:spPr>
          <a:xfrm>
            <a:off x="6284747" y="4795907"/>
            <a:ext cx="4738280" cy="564081"/>
          </a:xfrm>
          <a:prstGeom prst="rect">
            <a:avLst/>
          </a:prstGeom>
        </p:spPr>
      </p:pic>
    </p:spTree>
    <p:extLst>
      <p:ext uri="{BB962C8B-B14F-4D97-AF65-F5344CB8AC3E}">
        <p14:creationId xmlns:p14="http://schemas.microsoft.com/office/powerpoint/2010/main" val="147302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7AE50B-7BAD-558C-0E4E-7D7D7A292A70}"/>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DE8AC-D9C7-BD34-2A31-8E1E4587F1CA}"/>
              </a:ext>
            </a:extLst>
          </p:cNvPr>
          <p:cNvSpPr>
            <a:spLocks noGrp="1"/>
          </p:cNvSpPr>
          <p:nvPr>
            <p:ph type="ctrTitle"/>
          </p:nvPr>
        </p:nvSpPr>
        <p:spPr>
          <a:xfrm>
            <a:off x="590906" y="211328"/>
            <a:ext cx="6786078" cy="1473200"/>
          </a:xfrm>
        </p:spPr>
        <p:txBody>
          <a:bodyPr vert="horz" lIns="91440" tIns="45720" rIns="91440" bIns="45720" rtlCol="0" anchor="t">
            <a:normAutofit/>
          </a:bodyPr>
          <a:lstStyle/>
          <a:p>
            <a:r>
              <a:rPr lang="en-US" sz="3300" dirty="0"/>
              <a:t>PROFIT Optimization STRATEGY</a:t>
            </a:r>
          </a:p>
        </p:txBody>
      </p:sp>
      <p:cxnSp>
        <p:nvCxnSpPr>
          <p:cNvPr id="17" name="Straight Connector 16">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F731A7-D662-FADB-2DBC-5780CEC91FEB}"/>
              </a:ext>
            </a:extLst>
          </p:cNvPr>
          <p:cNvSpPr txBox="1"/>
          <p:nvPr/>
        </p:nvSpPr>
        <p:spPr>
          <a:xfrm>
            <a:off x="704088" y="2387600"/>
            <a:ext cx="3799763" cy="3767328"/>
          </a:xfrm>
          <a:prstGeom prst="rect">
            <a:avLst/>
          </a:prstGeom>
        </p:spPr>
        <p:txBody>
          <a:bodyPr vert="horz" lIns="91440" tIns="45720" rIns="91440" bIns="45720" rtlCol="0">
            <a:normAutofit/>
          </a:bodyPr>
          <a:lstStyle/>
          <a:p>
            <a:pPr lvl="1" indent="-228600">
              <a:lnSpc>
                <a:spcPct val="110000"/>
              </a:lnSpc>
              <a:spcAft>
                <a:spcPts val="600"/>
              </a:spcAft>
              <a:buFont typeface="Arial" panose="020B0604020202020204" pitchFamily="34" charset="0"/>
              <a:buChar char="•"/>
            </a:pPr>
            <a:endParaRPr lang="en-US" b="0" i="0" u="none" strike="noStrike" dirty="0">
              <a:effectLst/>
            </a:endParaRPr>
          </a:p>
        </p:txBody>
      </p:sp>
      <p:pic>
        <p:nvPicPr>
          <p:cNvPr id="4" name="Picture 3" descr="display stock information on LED screen">
            <a:extLst>
              <a:ext uri="{FF2B5EF4-FFF2-40B4-BE49-F238E27FC236}">
                <a16:creationId xmlns:a16="http://schemas.microsoft.com/office/drawing/2014/main" id="{CCEB850D-72B9-259A-6B05-1484BC315A29}"/>
              </a:ext>
            </a:extLst>
          </p:cNvPr>
          <p:cNvPicPr>
            <a:picLocks noChangeAspect="1"/>
          </p:cNvPicPr>
          <p:nvPr/>
        </p:nvPicPr>
        <p:blipFill>
          <a:blip r:embed="rId3"/>
          <a:srcRect l="20005" r="-1" b="-1"/>
          <a:stretch>
            <a:fillRect/>
          </a:stretch>
        </p:blipFill>
        <p:spPr>
          <a:xfrm>
            <a:off x="8050366" y="230866"/>
            <a:ext cx="3799763" cy="5924062"/>
          </a:xfrm>
          <a:prstGeom prst="rect">
            <a:avLst/>
          </a:prstGeom>
        </p:spPr>
      </p:pic>
      <p:sp>
        <p:nvSpPr>
          <p:cNvPr id="5" name="TextBox 4">
            <a:extLst>
              <a:ext uri="{FF2B5EF4-FFF2-40B4-BE49-F238E27FC236}">
                <a16:creationId xmlns:a16="http://schemas.microsoft.com/office/drawing/2014/main" id="{C76F3016-0BE8-736F-8403-B519C992F435}"/>
              </a:ext>
            </a:extLst>
          </p:cNvPr>
          <p:cNvSpPr txBox="1"/>
          <p:nvPr/>
        </p:nvSpPr>
        <p:spPr>
          <a:xfrm>
            <a:off x="800100" y="842369"/>
            <a:ext cx="5981541" cy="5909310"/>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Binary approval (simple version)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Approve only customers with predicted default probability &lt; 12.5%.</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Decline everyone above → business guarantees profit on average.</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Tiered pricing</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For </a:t>
            </a:r>
            <a:r>
              <a:rPr lang="en-US" i="1" dirty="0">
                <a:latin typeface="Calibri" panose="020F0502020204030204" pitchFamily="34" charset="0"/>
                <a:cs typeface="Calibri" panose="020F0502020204030204" pitchFamily="34" charset="0"/>
              </a:rPr>
              <a:t>moderate risk</a:t>
            </a:r>
            <a:r>
              <a:rPr lang="en-US" dirty="0">
                <a:latin typeface="Calibri" panose="020F0502020204030204" pitchFamily="34" charset="0"/>
                <a:cs typeface="Calibri" panose="020F0502020204030204" pitchFamily="34" charset="0"/>
              </a:rPr>
              <a:t> customers (say, 12–20% default risk), don’t reject them outright.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Instead, increase APR (Annual Percentage Rate), shorten loan term, or reduce principal to adjust expected profit.</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Formula with pricing lever:</a:t>
            </a:r>
          </a:p>
          <a:p>
            <a:endParaRPr lang="en-US" b="1" dirty="0"/>
          </a:p>
          <a:p>
            <a:endParaRPr lang="en-US" b="1" dirty="0"/>
          </a:p>
          <a:p>
            <a:endParaRPr lang="en-US" b="1" dirty="0"/>
          </a:p>
          <a:p>
            <a:endParaRPr lang="en-US" b="1" dirty="0"/>
          </a:p>
          <a:p>
            <a:endParaRPr lang="en-US" b="1" dirty="0"/>
          </a:p>
          <a:p>
            <a:endParaRPr lang="en-US" b="1" dirty="0"/>
          </a:p>
          <a:p>
            <a:endParaRPr lang="en-US" dirty="0"/>
          </a:p>
          <a:p>
            <a:r>
              <a:rPr lang="en-US" dirty="0">
                <a:latin typeface="Calibri" panose="020F0502020204030204" pitchFamily="34" charset="0"/>
                <a:cs typeface="Calibri" panose="020F0502020204030204" pitchFamily="34" charset="0"/>
              </a:rPr>
              <a:t>By adjusting </a:t>
            </a:r>
            <a:r>
              <a:rPr lang="en-US" b="1" dirty="0">
                <a:latin typeface="Calibri" panose="020F0502020204030204" pitchFamily="34" charset="0"/>
                <a:cs typeface="Calibri" panose="020F0502020204030204" pitchFamily="34" charset="0"/>
              </a:rPr>
              <a:t>M</a:t>
            </a:r>
            <a:r>
              <a:rPr lang="en-US" dirty="0">
                <a:latin typeface="Calibri" panose="020F0502020204030204" pitchFamily="34" charset="0"/>
                <a:cs typeface="Calibri" panose="020F0502020204030204" pitchFamily="34" charset="0"/>
              </a:rPr>
              <a:t> and </a:t>
            </a:r>
            <a:r>
              <a:rPr lang="en-US" b="1" dirty="0">
                <a:latin typeface="Calibri" panose="020F0502020204030204" pitchFamily="34" charset="0"/>
                <a:cs typeface="Calibri" panose="020F0502020204030204" pitchFamily="34" charset="0"/>
              </a:rPr>
              <a:t>A</a:t>
            </a:r>
            <a:r>
              <a:rPr lang="en-US" dirty="0">
                <a:latin typeface="Calibri" panose="020F0502020204030204" pitchFamily="34" charset="0"/>
                <a:cs typeface="Calibri" panose="020F0502020204030204" pitchFamily="34" charset="0"/>
              </a:rPr>
              <a:t>, even some higher-risk borrowers can become profitable.</a:t>
            </a:r>
          </a:p>
        </p:txBody>
      </p:sp>
      <p:pic>
        <p:nvPicPr>
          <p:cNvPr id="7" name="Picture 6">
            <a:extLst>
              <a:ext uri="{FF2B5EF4-FFF2-40B4-BE49-F238E27FC236}">
                <a16:creationId xmlns:a16="http://schemas.microsoft.com/office/drawing/2014/main" id="{817C6F3A-6B21-821E-1666-31EF3BFA4140}"/>
              </a:ext>
            </a:extLst>
          </p:cNvPr>
          <p:cNvPicPr>
            <a:picLocks noChangeAspect="1"/>
          </p:cNvPicPr>
          <p:nvPr/>
        </p:nvPicPr>
        <p:blipFill>
          <a:blip r:embed="rId4"/>
          <a:stretch>
            <a:fillRect/>
          </a:stretch>
        </p:blipFill>
        <p:spPr>
          <a:xfrm>
            <a:off x="964017" y="3939790"/>
            <a:ext cx="6080364" cy="1819671"/>
          </a:xfrm>
          <a:prstGeom prst="rect">
            <a:avLst/>
          </a:prstGeom>
        </p:spPr>
      </p:pic>
    </p:spTree>
    <p:extLst>
      <p:ext uri="{BB962C8B-B14F-4D97-AF65-F5344CB8AC3E}">
        <p14:creationId xmlns:p14="http://schemas.microsoft.com/office/powerpoint/2010/main" val="326566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CDD3-38FA-5368-8612-BDF7146E4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5B111-126C-7543-80A5-88DF41DBC0C2}"/>
              </a:ext>
            </a:extLst>
          </p:cNvPr>
          <p:cNvSpPr>
            <a:spLocks noGrp="1"/>
          </p:cNvSpPr>
          <p:nvPr>
            <p:ph type="ctrTitle"/>
          </p:nvPr>
        </p:nvSpPr>
        <p:spPr>
          <a:xfrm>
            <a:off x="4866967" y="86497"/>
            <a:ext cx="6627924" cy="1307592"/>
          </a:xfrm>
        </p:spPr>
        <p:txBody>
          <a:bodyPr vert="horz" lIns="91440" tIns="45720" rIns="91440" bIns="45720" rtlCol="0" anchor="t">
            <a:normAutofit/>
          </a:bodyPr>
          <a:lstStyle/>
          <a:p>
            <a:r>
              <a:rPr lang="en-US" sz="4000" dirty="0"/>
              <a:t>CONCLUSIONS</a:t>
            </a:r>
          </a:p>
        </p:txBody>
      </p:sp>
      <p:pic>
        <p:nvPicPr>
          <p:cNvPr id="4" name="Picture 3" descr="display stock information on LED screen">
            <a:extLst>
              <a:ext uri="{FF2B5EF4-FFF2-40B4-BE49-F238E27FC236}">
                <a16:creationId xmlns:a16="http://schemas.microsoft.com/office/drawing/2014/main" id="{89E232D4-8840-A921-09C2-6B703D3C3271}"/>
              </a:ext>
            </a:extLst>
          </p:cNvPr>
          <p:cNvPicPr>
            <a:picLocks noChangeAspect="1"/>
          </p:cNvPicPr>
          <p:nvPr/>
        </p:nvPicPr>
        <p:blipFill>
          <a:blip r:embed="rId3"/>
          <a:srcRect l="54599" r="4569" b="2"/>
          <a:stretch>
            <a:fillRect/>
          </a:stretch>
        </p:blipFill>
        <p:spPr>
          <a:xfrm>
            <a:off x="20" y="-17929"/>
            <a:ext cx="4206220" cy="6875929"/>
          </a:xfrm>
          <a:prstGeom prst="rect">
            <a:avLst/>
          </a:prstGeom>
        </p:spPr>
      </p:pic>
      <p:sp>
        <p:nvSpPr>
          <p:cNvPr id="3" name="Subtitle 2">
            <a:extLst>
              <a:ext uri="{FF2B5EF4-FFF2-40B4-BE49-F238E27FC236}">
                <a16:creationId xmlns:a16="http://schemas.microsoft.com/office/drawing/2014/main" id="{BE3BAA30-C21C-EADD-0760-0D4DB33B34AA}"/>
              </a:ext>
            </a:extLst>
          </p:cNvPr>
          <p:cNvSpPr>
            <a:spLocks noGrp="1"/>
          </p:cNvSpPr>
          <p:nvPr>
            <p:ph type="subTitle" idx="1"/>
          </p:nvPr>
        </p:nvSpPr>
        <p:spPr>
          <a:xfrm>
            <a:off x="4402302" y="766119"/>
            <a:ext cx="7620822" cy="5572897"/>
          </a:xfrm>
        </p:spPr>
        <p:txBody>
          <a:bodyPr vert="horz" lIns="91440" tIns="45720" rIns="91440" bIns="45720" rtlCol="0">
            <a:normAutofit fontScale="55000" lnSpcReduction="20000"/>
          </a:bodyPr>
          <a:lstStyle/>
          <a:p>
            <a:pPr marL="342900" indent="-342900">
              <a:buFont typeface="Arial" panose="020B0604020202020204" pitchFamily="34" charset="0"/>
              <a:buChar char="•"/>
            </a:pPr>
            <a:r>
              <a:rPr lang="en-US" sz="2500" b="1" dirty="0">
                <a:latin typeface="Calibri" panose="020F0502020204030204" pitchFamily="34" charset="0"/>
                <a:cs typeface="Calibri" panose="020F0502020204030204" pitchFamily="34" charset="0"/>
              </a:rPr>
              <a:t>Business Value</a:t>
            </a:r>
            <a:endParaRPr lang="en-US" sz="2500" dirty="0">
              <a:latin typeface="Calibri" panose="020F0502020204030204" pitchFamily="34" charset="0"/>
              <a:cs typeface="Calibri" panose="020F0502020204030204" pitchFamily="34" charset="0"/>
            </a:endParaRPr>
          </a:p>
          <a:p>
            <a:r>
              <a:rPr lang="en-US" sz="2500" dirty="0">
                <a:latin typeface="Calibri" panose="020F0502020204030204" pitchFamily="34" charset="0"/>
                <a:cs typeface="Calibri" panose="020F0502020204030204" pitchFamily="34" charset="0"/>
              </a:rPr>
              <a:t>            Predictive modeling enables us to distinguish between profitable and high-risk customers.</a:t>
            </a:r>
          </a:p>
          <a:p>
            <a:pPr lvl="1" algn="l"/>
            <a:r>
              <a:rPr lang="en-US" sz="2500" dirty="0">
                <a:latin typeface="Calibri" panose="020F0502020204030204" pitchFamily="34" charset="0"/>
                <a:cs typeface="Calibri" panose="020F0502020204030204" pitchFamily="34" charset="0"/>
              </a:rPr>
              <a:t>Avoiding bad loans reduces losses; targeting safe customers maximizes revenue.</a:t>
            </a:r>
          </a:p>
          <a:p>
            <a:pPr marL="342900" indent="-342900">
              <a:buFont typeface="Arial" panose="020B0604020202020204" pitchFamily="34" charset="0"/>
              <a:buChar char="•"/>
            </a:pPr>
            <a:r>
              <a:rPr lang="en-US" sz="2500" b="1" dirty="0">
                <a:latin typeface="Calibri" panose="020F0502020204030204" pitchFamily="34" charset="0"/>
                <a:cs typeface="Calibri" panose="020F0502020204030204" pitchFamily="34" charset="0"/>
              </a:rPr>
              <a:t>Best Model Findings</a:t>
            </a:r>
            <a:endParaRPr lang="en-US" sz="2500" dirty="0">
              <a:latin typeface="Calibri" panose="020F0502020204030204" pitchFamily="34" charset="0"/>
              <a:cs typeface="Calibri" panose="020F0502020204030204" pitchFamily="34" charset="0"/>
            </a:endParaRPr>
          </a:p>
          <a:p>
            <a:r>
              <a:rPr lang="en-US" sz="2500" b="1" dirty="0">
                <a:latin typeface="Calibri" panose="020F0502020204030204" pitchFamily="34" charset="0"/>
                <a:cs typeface="Calibri" panose="020F0502020204030204" pitchFamily="34" charset="0"/>
              </a:rPr>
              <a:t>         Random Forest</a:t>
            </a:r>
            <a:r>
              <a:rPr lang="en-US" sz="2500" dirty="0">
                <a:latin typeface="Calibri" panose="020F0502020204030204" pitchFamily="34" charset="0"/>
                <a:cs typeface="Calibri" panose="020F0502020204030204" pitchFamily="34" charset="0"/>
              </a:rPr>
              <a:t> delivered the best balance:</a:t>
            </a:r>
          </a:p>
          <a:p>
            <a:pPr lvl="1" algn="l"/>
            <a:r>
              <a:rPr lang="en-US" sz="2500" dirty="0">
                <a:latin typeface="Calibri" panose="020F0502020204030204" pitchFamily="34" charset="0"/>
                <a:cs typeface="Calibri" panose="020F0502020204030204" pitchFamily="34" charset="0"/>
              </a:rPr>
              <a:t>Detected ~86% of defaults.</a:t>
            </a:r>
          </a:p>
          <a:p>
            <a:pPr lvl="1" algn="l"/>
            <a:r>
              <a:rPr lang="en-US" sz="2500" dirty="0">
                <a:latin typeface="Calibri" panose="020F0502020204030204" pitchFamily="34" charset="0"/>
                <a:cs typeface="Calibri" panose="020F0502020204030204" pitchFamily="34" charset="0"/>
              </a:rPr>
              <a:t>Kept false alarms extremely low (≈0.3%).</a:t>
            </a:r>
          </a:p>
          <a:p>
            <a:r>
              <a:rPr lang="en-US" sz="2500" dirty="0">
                <a:latin typeface="Calibri" panose="020F0502020204030204" pitchFamily="34" charset="0"/>
                <a:cs typeface="Calibri" panose="020F0502020204030204" pitchFamily="34" charset="0"/>
              </a:rPr>
              <a:t>Strong technical metrics (AUC = 0.97, Precision-Recall AP = 0.97) confirm reliability.</a:t>
            </a:r>
          </a:p>
          <a:p>
            <a:pPr marL="342900" indent="-342900">
              <a:buFont typeface="Arial" panose="020B0604020202020204" pitchFamily="34" charset="0"/>
              <a:buChar char="•"/>
            </a:pPr>
            <a:r>
              <a:rPr lang="en-US" sz="2500" b="1" dirty="0">
                <a:latin typeface="Calibri" panose="020F0502020204030204" pitchFamily="34" charset="0"/>
                <a:cs typeface="Calibri" panose="020F0502020204030204" pitchFamily="34" charset="0"/>
              </a:rPr>
              <a:t>Profitability Insights</a:t>
            </a:r>
            <a:endParaRPr lang="en-US" sz="2500" dirty="0">
              <a:latin typeface="Calibri" panose="020F0502020204030204" pitchFamily="34" charset="0"/>
              <a:cs typeface="Calibri" panose="020F0502020204030204" pitchFamily="34" charset="0"/>
            </a:endParaRPr>
          </a:p>
          <a:p>
            <a:r>
              <a:rPr lang="en-US" sz="2500" dirty="0">
                <a:latin typeface="Calibri" panose="020F0502020204030204" pitchFamily="34" charset="0"/>
                <a:cs typeface="Calibri" panose="020F0502020204030204" pitchFamily="34" charset="0"/>
              </a:rPr>
              <a:t>        Break-even threshold = </a:t>
            </a:r>
            <a:r>
              <a:rPr lang="en-US" sz="2500" b="1" dirty="0">
                <a:latin typeface="Calibri" panose="020F0502020204030204" pitchFamily="34" charset="0"/>
                <a:cs typeface="Calibri" panose="020F0502020204030204" pitchFamily="34" charset="0"/>
              </a:rPr>
              <a:t>12.5% default rate</a:t>
            </a:r>
            <a:r>
              <a:rPr lang="en-US" sz="2500" dirty="0">
                <a:latin typeface="Calibri" panose="020F0502020204030204" pitchFamily="34" charset="0"/>
                <a:cs typeface="Calibri" panose="020F0502020204030204" pitchFamily="34" charset="0"/>
              </a:rPr>
              <a:t> (based on $16k exposure vs $2k profit).</a:t>
            </a:r>
          </a:p>
          <a:p>
            <a:r>
              <a:rPr lang="en-US" sz="2500" dirty="0">
                <a:latin typeface="Calibri" panose="020F0502020204030204" pitchFamily="34" charset="0"/>
                <a:cs typeface="Calibri" panose="020F0502020204030204" pitchFamily="34" charset="0"/>
              </a:rPr>
              <a:t>        By applying the model, we keep default rates below this cutoff → portfolio remains profitable.</a:t>
            </a:r>
          </a:p>
          <a:p>
            <a:r>
              <a:rPr lang="en-US" sz="2500" dirty="0">
                <a:latin typeface="Calibri" panose="020F0502020204030204" pitchFamily="34" charset="0"/>
                <a:cs typeface="Calibri" panose="020F0502020204030204" pitchFamily="34" charset="0"/>
              </a:rPr>
              <a:t>         Risk-based pricing (APR/loan size adjustments) allows us to profitably serve even some moderate-risk customers.</a:t>
            </a:r>
          </a:p>
          <a:p>
            <a:pPr marL="342900" indent="-342900">
              <a:buFont typeface="Arial" panose="020B0604020202020204" pitchFamily="34" charset="0"/>
              <a:buChar char="•"/>
            </a:pPr>
            <a:r>
              <a:rPr lang="en-US" sz="2500" b="1" dirty="0">
                <a:latin typeface="Calibri" panose="020F0502020204030204" pitchFamily="34" charset="0"/>
                <a:cs typeface="Calibri" panose="020F0502020204030204" pitchFamily="34" charset="0"/>
              </a:rPr>
              <a:t>Next Steps</a:t>
            </a:r>
            <a:endParaRPr lang="en-US" sz="2500" dirty="0">
              <a:latin typeface="Calibri" panose="020F0502020204030204" pitchFamily="34" charset="0"/>
              <a:cs typeface="Calibri" panose="020F0502020204030204" pitchFamily="34" charset="0"/>
            </a:endParaRPr>
          </a:p>
          <a:p>
            <a:r>
              <a:rPr lang="en-US" sz="2500" dirty="0">
                <a:latin typeface="Calibri" panose="020F0502020204030204" pitchFamily="34" charset="0"/>
                <a:cs typeface="Calibri" panose="020F0502020204030204" pitchFamily="34" charset="0"/>
              </a:rPr>
              <a:t>        Deploy model into credit decision process (approve/decline + pricing guidance).</a:t>
            </a:r>
          </a:p>
          <a:p>
            <a:r>
              <a:rPr lang="en-US" sz="2500" dirty="0">
                <a:latin typeface="Calibri" panose="020F0502020204030204" pitchFamily="34" charset="0"/>
                <a:cs typeface="Calibri" panose="020F0502020204030204" pitchFamily="34" charset="0"/>
              </a:rPr>
              <a:t>         Pilot with different thresholds and pricing strategies.</a:t>
            </a:r>
          </a:p>
          <a:p>
            <a:r>
              <a:rPr lang="en-US" sz="2500" dirty="0">
                <a:latin typeface="Calibri" panose="020F0502020204030204" pitchFamily="34" charset="0"/>
                <a:cs typeface="Calibri" panose="020F0502020204030204" pitchFamily="34" charset="0"/>
              </a:rPr>
              <a:t>         Monitor defaults, profit margins, and recalibrate regularly.</a:t>
            </a: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125637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par>
                                <p:cTn id="16" presetID="10" presetClass="entr" presetSubtype="0" fill="hold" grpId="0" nodeType="withEffect">
                                  <p:stCondLst>
                                    <p:cond delay="2000"/>
                                  </p:stCondLst>
                                  <p:iterate type="lt">
                                    <p:tmPct val="10000"/>
                                  </p:iterate>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4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2000"/>
                                  </p:stCondLst>
                                  <p:iterate type="lt">
                                    <p:tmPct val="10000"/>
                                  </p:iterate>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400"/>
                                        <p:tgtEl>
                                          <p:spTgt spid="3">
                                            <p:txEl>
                                              <p:pRg st="3" end="3"/>
                                            </p:txEl>
                                          </p:spTgt>
                                        </p:tgtEl>
                                      </p:cBhvr>
                                    </p:animEffect>
                                  </p:childTnLst>
                                </p:cTn>
                              </p:par>
                              <p:par>
                                <p:cTn id="24" presetID="10" presetClass="entr" presetSubtype="0" fill="hold" grpId="0" nodeType="withEffect">
                                  <p:stCondLst>
                                    <p:cond delay="2000"/>
                                  </p:stCondLst>
                                  <p:iterate type="lt">
                                    <p:tmPct val="10000"/>
                                  </p:iterate>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400"/>
                                        <p:tgtEl>
                                          <p:spTgt spid="3">
                                            <p:txEl>
                                              <p:pRg st="4" end="4"/>
                                            </p:txEl>
                                          </p:spTgt>
                                        </p:tgtEl>
                                      </p:cBhvr>
                                    </p:animEffect>
                                  </p:childTnLst>
                                </p:cTn>
                              </p:par>
                              <p:par>
                                <p:cTn id="27" presetID="10" presetClass="entr" presetSubtype="0" fill="hold" grpId="0" nodeType="withEffect">
                                  <p:stCondLst>
                                    <p:cond delay="2000"/>
                                  </p:stCondLst>
                                  <p:iterate type="lt">
                                    <p:tmPct val="10000"/>
                                  </p:iterate>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400"/>
                                        <p:tgtEl>
                                          <p:spTgt spid="3">
                                            <p:txEl>
                                              <p:pRg st="5" end="5"/>
                                            </p:txEl>
                                          </p:spTgt>
                                        </p:tgtEl>
                                      </p:cBhvr>
                                    </p:animEffect>
                                  </p:childTnLst>
                                </p:cTn>
                              </p:par>
                              <p:par>
                                <p:cTn id="30" presetID="10" presetClass="entr" presetSubtype="0" fill="hold" grpId="0" nodeType="withEffect">
                                  <p:stCondLst>
                                    <p:cond delay="2000"/>
                                  </p:stCondLst>
                                  <p:iterate type="lt">
                                    <p:tmPct val="10000"/>
                                  </p:iterate>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4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2000"/>
                                  </p:stCondLst>
                                  <p:iterate type="lt">
                                    <p:tmPct val="10000"/>
                                  </p:iterate>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4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2000"/>
                                  </p:stCondLst>
                                  <p:iterate type="lt">
                                    <p:tmPct val="10000"/>
                                  </p:iterate>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4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2000"/>
                                  </p:stCondLst>
                                  <p:iterate type="lt">
                                    <p:tmPct val="10000"/>
                                  </p:iterate>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4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2000"/>
                                  </p:stCondLst>
                                  <p:iterate type="lt">
                                    <p:tmPct val="10000"/>
                                  </p:iterate>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4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2000"/>
                                  </p:stCondLst>
                                  <p:iterate type="lt">
                                    <p:tmPct val="10000"/>
                                  </p:iterate>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4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2000"/>
                                  </p:stCondLst>
                                  <p:iterate type="lt">
                                    <p:tmPct val="10000"/>
                                  </p:iterate>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4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2000"/>
                                  </p:stCondLst>
                                  <p:iterate type="lt">
                                    <p:tmPct val="10000"/>
                                  </p:iterate>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4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2000"/>
                                  </p:stCondLst>
                                  <p:iterate type="lt">
                                    <p:tmPct val="10000"/>
                                  </p:iterate>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4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2000"/>
                                  </p:stCondLst>
                                  <p:iterate type="lt">
                                    <p:tmPct val="10000"/>
                                  </p:iterate>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fade">
                                      <p:cBhvr>
                                        <p:cTn id="77" dur="400"/>
                                        <p:tgtEl>
                                          <p:spTgt spid="3">
                                            <p:txEl>
                                              <p:pRg st="15" end="15"/>
                                            </p:txEl>
                                          </p:spTgt>
                                        </p:tgtEl>
                                      </p:cBhvr>
                                    </p:animEffect>
                                  </p:childTnLst>
                                </p:cTn>
                              </p:par>
                              <p:par>
                                <p:cTn id="78" presetID="42" presetClass="entr" presetSubtype="0" fill="hold" grpId="1" nodeType="withEffect">
                                  <p:stCondLst>
                                    <p:cond delay="250"/>
                                  </p:stCondLst>
                                  <p:iterate type="lt">
                                    <p:tmPct val="10000"/>
                                  </p:iterate>
                                  <p:childTnLst>
                                    <p:set>
                                      <p:cBhvr>
                                        <p:cTn id="79" dur="1" fill="hold">
                                          <p:stCondLst>
                                            <p:cond delay="0"/>
                                          </p:stCondLst>
                                        </p:cTn>
                                        <p:tgtEl>
                                          <p:spTgt spid="3"/>
                                        </p:tgtEl>
                                        <p:attrNameLst>
                                          <p:attrName>style.visibility</p:attrName>
                                        </p:attrNameLst>
                                      </p:cBhvr>
                                      <p:to>
                                        <p:strVal val="visible"/>
                                      </p:to>
                                    </p:set>
                                    <p:animEffect transition="in" filter="fade">
                                      <p:cBhvr>
                                        <p:cTn id="80" dur="250"/>
                                        <p:tgtEl>
                                          <p:spTgt spid="3"/>
                                        </p:tgtEl>
                                      </p:cBhvr>
                                    </p:animEffect>
                                    <p:anim calcmode="lin" valueType="num">
                                      <p:cBhvr>
                                        <p:cTn id="81" dur="250" fill="hold"/>
                                        <p:tgtEl>
                                          <p:spTgt spid="3"/>
                                        </p:tgtEl>
                                        <p:attrNameLst>
                                          <p:attrName>ppt_x</p:attrName>
                                        </p:attrNameLst>
                                      </p:cBhvr>
                                      <p:tavLst>
                                        <p:tav tm="0">
                                          <p:val>
                                            <p:strVal val="#ppt_x"/>
                                          </p:val>
                                        </p:tav>
                                        <p:tav tm="100000">
                                          <p:val>
                                            <p:strVal val="#ppt_x"/>
                                          </p:val>
                                        </p:tav>
                                      </p:tavLst>
                                    </p:anim>
                                    <p:anim calcmode="lin" valueType="num">
                                      <p:cBhvr>
                                        <p:cTn id="8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4428</Words>
  <Application>Microsoft Macintosh PowerPoint</Application>
  <PresentationFormat>Widescreen</PresentationFormat>
  <Paragraphs>312</Paragraphs>
  <Slides>40</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Calisto MT</vt:lpstr>
      <vt:lpstr>Univers Condensed</vt:lpstr>
      <vt:lpstr>ChronicleVTI</vt:lpstr>
      <vt:lpstr>Maximizing Lending Profit with Risk-Aware Targeting (Lending Club data)</vt:lpstr>
      <vt:lpstr>Table Of Contents</vt:lpstr>
      <vt:lpstr>Introduction</vt:lpstr>
      <vt:lpstr>OVERVIEW</vt:lpstr>
      <vt:lpstr>PROCESS</vt:lpstr>
      <vt:lpstr>DATA</vt:lpstr>
      <vt:lpstr>DATA</vt:lpstr>
      <vt:lpstr>Missing data</vt:lpstr>
      <vt:lpstr>Data descriptive statistics</vt:lpstr>
      <vt:lpstr>Data – features</vt:lpstr>
      <vt:lpstr>Exploratory Data Analysis (EDA)</vt:lpstr>
      <vt:lpstr>Data - Correlations</vt:lpstr>
      <vt:lpstr>Data - Correlations</vt:lpstr>
      <vt:lpstr>Data - Correlations</vt:lpstr>
      <vt:lpstr>FEATURES -  CORRELATION MATRIX </vt:lpstr>
      <vt:lpstr>FEARURES – SMALL_BUSINESS</vt:lpstr>
      <vt:lpstr>FEARURES – purpose_CAT_NEW</vt:lpstr>
      <vt:lpstr>FEARURES – purpose_CAT_NEW</vt:lpstr>
      <vt:lpstr>FEARURES – emp_length_num</vt:lpstr>
      <vt:lpstr>FEARURES – annual_INC</vt:lpstr>
      <vt:lpstr>FEARURES – debt_TO_INCOME</vt:lpstr>
      <vt:lpstr>METHODOLOGY</vt:lpstr>
      <vt:lpstr>MODELS</vt:lpstr>
      <vt:lpstr>models</vt:lpstr>
      <vt:lpstr>Best Models</vt:lpstr>
      <vt:lpstr>Best Models – SELECTED FEATURES</vt:lpstr>
      <vt:lpstr>LOGISTIC REGRESSION = simple Example</vt:lpstr>
      <vt:lpstr>LOGISTIC REGRESSION = simple Example</vt:lpstr>
      <vt:lpstr>LOGISTIC REGRESSION simple Example</vt:lpstr>
      <vt:lpstr>DECISION TREE simple Example</vt:lpstr>
      <vt:lpstr>DECISION TREE simple Example</vt:lpstr>
      <vt:lpstr>DECISION TREE simple Example - Model Evaluation</vt:lpstr>
      <vt:lpstr>Best Models Evaluation</vt:lpstr>
      <vt:lpstr>Best Models Evaluation – BEST DECISION  TREE</vt:lpstr>
      <vt:lpstr>Choosing Threshold– BEST DECISION TREE</vt:lpstr>
      <vt:lpstr>Best Models Evaluation – RANDOM FORREST</vt:lpstr>
      <vt:lpstr>Choosing Threshold– RANDOM FOREST</vt:lpstr>
      <vt:lpstr>PROFITABILITY</vt:lpstr>
      <vt:lpstr>PROFIT Optimization STRATEGY</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Marta Wheeler</cp:lastModifiedBy>
  <cp:revision>39</cp:revision>
  <dcterms:modified xsi:type="dcterms:W3CDTF">2025-09-30T16:48:24Z</dcterms:modified>
</cp:coreProperties>
</file>